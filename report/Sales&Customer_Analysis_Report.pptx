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Sorts Mill Goudy" charset="-122" pitchFamily="34"/>
      <p:regular r:id="rId21"/>
    </p:embeddedFon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210d4340f0bebd561b0ab4633879d82b1958d13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4" b="778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2D3748">
                  <a:alpha val="90000"/>
                </a:srgbClr>
              </a:gs>
              <a:gs pos="100000">
                <a:srgbClr val="1A202C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1340168"/>
            <a:ext cx="3110865" cy="358140"/>
          </a:xfrm>
          <a:custGeom>
            <a:avLst/>
            <a:gdLst/>
            <a:ahLst/>
            <a:cxnLst/>
            <a:rect l="l" t="t" r="r" b="b"/>
            <a:pathLst>
              <a:path w="3110865" h="358140">
                <a:moveTo>
                  <a:pt x="38099" y="0"/>
                </a:moveTo>
                <a:lnTo>
                  <a:pt x="3072766" y="0"/>
                </a:lnTo>
                <a:cubicBezTo>
                  <a:pt x="3093808" y="0"/>
                  <a:pt x="3110865" y="17057"/>
                  <a:pt x="3110865" y="38099"/>
                </a:cubicBezTo>
                <a:lnTo>
                  <a:pt x="3110865" y="320041"/>
                </a:lnTo>
                <a:cubicBezTo>
                  <a:pt x="3110865" y="341083"/>
                  <a:pt x="3093808" y="358140"/>
                  <a:pt x="3072766" y="358140"/>
                </a:cubicBezTo>
                <a:lnTo>
                  <a:pt x="38099" y="358140"/>
                </a:lnTo>
                <a:cubicBezTo>
                  <a:pt x="17072" y="358140"/>
                  <a:pt x="0" y="341068"/>
                  <a:pt x="0" y="320041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20320">
            <a:solidFill>
              <a:srgbClr val="38B2A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6740" y="1423988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34528"/>
            <a:ext cx="11858625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Retail Sales &amp;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Analytics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68103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06253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Data-Driven Insights for Strategic Growth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2778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258753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Tableau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76594" y="5277803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2" name="Shape 9"/>
          <p:cNvSpPr/>
          <p:nvPr/>
        </p:nvSpPr>
        <p:spPr>
          <a:xfrm>
            <a:off x="2786182" y="527780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0"/>
          <p:cNvSpPr/>
          <p:nvPr/>
        </p:nvSpPr>
        <p:spPr>
          <a:xfrm>
            <a:off x="3143369" y="5258753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 Haathim Manaf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749416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spc="154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7708550" cy="1398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4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Executive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404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844" y="2218422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391486" y="2553982"/>
            <a:ext cx="3597945" cy="1193101"/>
          </a:xfrm>
          <a:custGeom>
            <a:avLst/>
            <a:gdLst/>
            <a:ahLst/>
            <a:cxnLst/>
            <a:rect l="l" t="t" r="r" b="b"/>
            <a:pathLst>
              <a:path w="3597945" h="1193101">
                <a:moveTo>
                  <a:pt x="37284" y="0"/>
                </a:moveTo>
                <a:lnTo>
                  <a:pt x="3523376" y="0"/>
                </a:lnTo>
                <a:cubicBezTo>
                  <a:pt x="3564559" y="0"/>
                  <a:pt x="3597945" y="33386"/>
                  <a:pt x="3597945" y="74569"/>
                </a:cubicBezTo>
                <a:lnTo>
                  <a:pt x="3597945" y="1118532"/>
                </a:lnTo>
                <a:cubicBezTo>
                  <a:pt x="3597945" y="1159715"/>
                  <a:pt x="3564559" y="1193101"/>
                  <a:pt x="3523376" y="1193101"/>
                </a:cubicBezTo>
                <a:lnTo>
                  <a:pt x="37284" y="1193101"/>
                </a:lnTo>
                <a:cubicBezTo>
                  <a:pt x="16693" y="1193101"/>
                  <a:pt x="0" y="1176408"/>
                  <a:pt x="0" y="115581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" name="Shape 4"/>
          <p:cNvSpPr/>
          <p:nvPr/>
        </p:nvSpPr>
        <p:spPr>
          <a:xfrm>
            <a:off x="391486" y="2553982"/>
            <a:ext cx="37284" cy="1193101"/>
          </a:xfrm>
          <a:custGeom>
            <a:avLst/>
            <a:gdLst/>
            <a:ahLst/>
            <a:cxnLst/>
            <a:rect l="l" t="t" r="r" b="b"/>
            <a:pathLst>
              <a:path w="37284" h="1193101">
                <a:moveTo>
                  <a:pt x="37284" y="0"/>
                </a:moveTo>
                <a:lnTo>
                  <a:pt x="37284" y="0"/>
                </a:lnTo>
                <a:lnTo>
                  <a:pt x="37284" y="1193101"/>
                </a:lnTo>
                <a:lnTo>
                  <a:pt x="37284" y="1193101"/>
                </a:lnTo>
                <a:cubicBezTo>
                  <a:pt x="16693" y="1193101"/>
                  <a:pt x="0" y="1176408"/>
                  <a:pt x="0" y="115581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5"/>
          <p:cNvSpPr/>
          <p:nvPr/>
        </p:nvSpPr>
        <p:spPr>
          <a:xfrm>
            <a:off x="573248" y="2777688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95743" y="111853"/>
                </a:moveTo>
                <a:cubicBezTo>
                  <a:pt x="195743" y="65553"/>
                  <a:pt x="158153" y="27963"/>
                  <a:pt x="111853" y="27963"/>
                </a:cubicBezTo>
                <a:cubicBezTo>
                  <a:pt x="65553" y="27963"/>
                  <a:pt x="27963" y="65553"/>
                  <a:pt x="27963" y="111853"/>
                </a:cubicBezTo>
                <a:cubicBezTo>
                  <a:pt x="27963" y="158153"/>
                  <a:pt x="65553" y="195743"/>
                  <a:pt x="111853" y="195743"/>
                </a:cubicBezTo>
                <a:cubicBezTo>
                  <a:pt x="158153" y="195743"/>
                  <a:pt x="195743" y="158153"/>
                  <a:pt x="195743" y="111853"/>
                </a:cubicBezTo>
                <a:close/>
                <a:moveTo>
                  <a:pt x="0" y="111853"/>
                </a:moveTo>
                <a:cubicBezTo>
                  <a:pt x="0" y="50120"/>
                  <a:pt x="50120" y="0"/>
                  <a:pt x="111853" y="0"/>
                </a:cubicBezTo>
                <a:cubicBezTo>
                  <a:pt x="173587" y="0"/>
                  <a:pt x="223706" y="50120"/>
                  <a:pt x="223706" y="111853"/>
                </a:cubicBezTo>
                <a:cubicBezTo>
                  <a:pt x="223706" y="173587"/>
                  <a:pt x="173587" y="223706"/>
                  <a:pt x="111853" y="223706"/>
                </a:cubicBezTo>
                <a:cubicBezTo>
                  <a:pt x="50120" y="223706"/>
                  <a:pt x="0" y="173587"/>
                  <a:pt x="0" y="111853"/>
                </a:cubicBezTo>
                <a:close/>
                <a:moveTo>
                  <a:pt x="111853" y="146807"/>
                </a:moveTo>
                <a:cubicBezTo>
                  <a:pt x="131145" y="146807"/>
                  <a:pt x="146807" y="131145"/>
                  <a:pt x="146807" y="111853"/>
                </a:cubicBezTo>
                <a:cubicBezTo>
                  <a:pt x="146807" y="92562"/>
                  <a:pt x="131145" y="76899"/>
                  <a:pt x="111853" y="76899"/>
                </a:cubicBezTo>
                <a:cubicBezTo>
                  <a:pt x="92562" y="76899"/>
                  <a:pt x="76899" y="92562"/>
                  <a:pt x="76899" y="111853"/>
                </a:cubicBezTo>
                <a:cubicBezTo>
                  <a:pt x="76899" y="131145"/>
                  <a:pt x="92562" y="146807"/>
                  <a:pt x="111853" y="146807"/>
                </a:cubicBezTo>
                <a:close/>
                <a:moveTo>
                  <a:pt x="111853" y="48936"/>
                </a:moveTo>
                <a:cubicBezTo>
                  <a:pt x="146578" y="48936"/>
                  <a:pt x="174771" y="77128"/>
                  <a:pt x="174771" y="111853"/>
                </a:cubicBezTo>
                <a:cubicBezTo>
                  <a:pt x="174771" y="146578"/>
                  <a:pt x="146578" y="174771"/>
                  <a:pt x="111853" y="174771"/>
                </a:cubicBezTo>
                <a:cubicBezTo>
                  <a:pt x="77128" y="174771"/>
                  <a:pt x="48936" y="146578"/>
                  <a:pt x="48936" y="111853"/>
                </a:cubicBezTo>
                <a:cubicBezTo>
                  <a:pt x="48936" y="77128"/>
                  <a:pt x="77128" y="48936"/>
                  <a:pt x="111853" y="48936"/>
                </a:cubicBezTo>
                <a:close/>
                <a:moveTo>
                  <a:pt x="97872" y="111853"/>
                </a:moveTo>
                <a:cubicBezTo>
                  <a:pt x="97872" y="104137"/>
                  <a:pt x="104137" y="97872"/>
                  <a:pt x="111853" y="97872"/>
                </a:cubicBezTo>
                <a:cubicBezTo>
                  <a:pt x="119570" y="97872"/>
                  <a:pt x="125835" y="104137"/>
                  <a:pt x="125835" y="111853"/>
                </a:cubicBezTo>
                <a:cubicBezTo>
                  <a:pt x="125835" y="119570"/>
                  <a:pt x="119570" y="125835"/>
                  <a:pt x="111853" y="125835"/>
                </a:cubicBezTo>
                <a:cubicBezTo>
                  <a:pt x="104137" y="125835"/>
                  <a:pt x="97872" y="119570"/>
                  <a:pt x="97872" y="11185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888534" y="2740404"/>
            <a:ext cx="3010716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8534" y="3075963"/>
            <a:ext cx="2992073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retail sales performance and customer behavior using Tableau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97991" y="2553982"/>
            <a:ext cx="3597945" cy="1193101"/>
          </a:xfrm>
          <a:custGeom>
            <a:avLst/>
            <a:gdLst/>
            <a:ahLst/>
            <a:cxnLst/>
            <a:rect l="l" t="t" r="r" b="b"/>
            <a:pathLst>
              <a:path w="3597945" h="1193101">
                <a:moveTo>
                  <a:pt x="37284" y="0"/>
                </a:moveTo>
                <a:lnTo>
                  <a:pt x="3523376" y="0"/>
                </a:lnTo>
                <a:cubicBezTo>
                  <a:pt x="3564559" y="0"/>
                  <a:pt x="3597945" y="33386"/>
                  <a:pt x="3597945" y="74569"/>
                </a:cubicBezTo>
                <a:lnTo>
                  <a:pt x="3597945" y="1118532"/>
                </a:lnTo>
                <a:cubicBezTo>
                  <a:pt x="3597945" y="1159715"/>
                  <a:pt x="3564559" y="1193101"/>
                  <a:pt x="3523376" y="1193101"/>
                </a:cubicBezTo>
                <a:lnTo>
                  <a:pt x="37284" y="1193101"/>
                </a:lnTo>
                <a:cubicBezTo>
                  <a:pt x="16693" y="1193101"/>
                  <a:pt x="0" y="1176408"/>
                  <a:pt x="0" y="115581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1" name="Shape 9"/>
          <p:cNvSpPr/>
          <p:nvPr/>
        </p:nvSpPr>
        <p:spPr>
          <a:xfrm>
            <a:off x="4197991" y="2553982"/>
            <a:ext cx="37284" cy="1193101"/>
          </a:xfrm>
          <a:custGeom>
            <a:avLst/>
            <a:gdLst/>
            <a:ahLst/>
            <a:cxnLst/>
            <a:rect l="l" t="t" r="r" b="b"/>
            <a:pathLst>
              <a:path w="37284" h="1193101">
                <a:moveTo>
                  <a:pt x="37284" y="0"/>
                </a:moveTo>
                <a:lnTo>
                  <a:pt x="37284" y="0"/>
                </a:lnTo>
                <a:lnTo>
                  <a:pt x="37284" y="1193101"/>
                </a:lnTo>
                <a:lnTo>
                  <a:pt x="37284" y="1193101"/>
                </a:lnTo>
                <a:cubicBezTo>
                  <a:pt x="16693" y="1193101"/>
                  <a:pt x="0" y="1176408"/>
                  <a:pt x="0" y="115581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9752" y="2777688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0" y="111853"/>
                </a:moveTo>
                <a:cubicBezTo>
                  <a:pt x="0" y="50120"/>
                  <a:pt x="50120" y="0"/>
                  <a:pt x="111853" y="0"/>
                </a:cubicBezTo>
                <a:cubicBezTo>
                  <a:pt x="173587" y="0"/>
                  <a:pt x="223706" y="50120"/>
                  <a:pt x="223706" y="111853"/>
                </a:cubicBezTo>
                <a:cubicBezTo>
                  <a:pt x="223706" y="173587"/>
                  <a:pt x="173587" y="223706"/>
                  <a:pt x="111853" y="223706"/>
                </a:cubicBezTo>
                <a:cubicBezTo>
                  <a:pt x="50120" y="223706"/>
                  <a:pt x="0" y="173587"/>
                  <a:pt x="0" y="111853"/>
                </a:cubicBezTo>
                <a:close/>
                <a:moveTo>
                  <a:pt x="125835" y="41945"/>
                </a:moveTo>
                <a:cubicBezTo>
                  <a:pt x="125835" y="34228"/>
                  <a:pt x="119570" y="27963"/>
                  <a:pt x="111853" y="27963"/>
                </a:cubicBezTo>
                <a:cubicBezTo>
                  <a:pt x="104137" y="27963"/>
                  <a:pt x="97872" y="34228"/>
                  <a:pt x="97872" y="41945"/>
                </a:cubicBezTo>
                <a:cubicBezTo>
                  <a:pt x="97872" y="49662"/>
                  <a:pt x="104137" y="55927"/>
                  <a:pt x="111853" y="55927"/>
                </a:cubicBezTo>
                <a:cubicBezTo>
                  <a:pt x="119570" y="55927"/>
                  <a:pt x="125835" y="49662"/>
                  <a:pt x="125835" y="41945"/>
                </a:cubicBezTo>
                <a:close/>
                <a:moveTo>
                  <a:pt x="111853" y="181761"/>
                </a:moveTo>
                <a:cubicBezTo>
                  <a:pt x="127277" y="181761"/>
                  <a:pt x="139817" y="169222"/>
                  <a:pt x="139817" y="153798"/>
                </a:cubicBezTo>
                <a:cubicBezTo>
                  <a:pt x="139817" y="146720"/>
                  <a:pt x="137195" y="140210"/>
                  <a:pt x="132826" y="135316"/>
                </a:cubicBezTo>
                <a:lnTo>
                  <a:pt x="163192" y="74627"/>
                </a:lnTo>
                <a:cubicBezTo>
                  <a:pt x="165770" y="69428"/>
                  <a:pt x="163673" y="63136"/>
                  <a:pt x="158517" y="60558"/>
                </a:cubicBezTo>
                <a:cubicBezTo>
                  <a:pt x="153361" y="57980"/>
                  <a:pt x="147026" y="60077"/>
                  <a:pt x="144448" y="65233"/>
                </a:cubicBezTo>
                <a:lnTo>
                  <a:pt x="114082" y="125922"/>
                </a:lnTo>
                <a:cubicBezTo>
                  <a:pt x="113339" y="125879"/>
                  <a:pt x="112596" y="125835"/>
                  <a:pt x="111853" y="125835"/>
                </a:cubicBezTo>
                <a:cubicBezTo>
                  <a:pt x="96430" y="125835"/>
                  <a:pt x="83890" y="138375"/>
                  <a:pt x="83890" y="153798"/>
                </a:cubicBezTo>
                <a:cubicBezTo>
                  <a:pt x="83890" y="169222"/>
                  <a:pt x="96430" y="181761"/>
                  <a:pt x="111853" y="181761"/>
                </a:cubicBezTo>
                <a:close/>
                <a:moveTo>
                  <a:pt x="76899" y="62917"/>
                </a:moveTo>
                <a:cubicBezTo>
                  <a:pt x="76899" y="55201"/>
                  <a:pt x="70634" y="48936"/>
                  <a:pt x="62917" y="48936"/>
                </a:cubicBezTo>
                <a:cubicBezTo>
                  <a:pt x="55201" y="48936"/>
                  <a:pt x="48936" y="55201"/>
                  <a:pt x="48936" y="62917"/>
                </a:cubicBezTo>
                <a:cubicBezTo>
                  <a:pt x="48936" y="70634"/>
                  <a:pt x="55201" y="76899"/>
                  <a:pt x="62917" y="76899"/>
                </a:cubicBezTo>
                <a:cubicBezTo>
                  <a:pt x="70634" y="76899"/>
                  <a:pt x="76899" y="70634"/>
                  <a:pt x="76899" y="62917"/>
                </a:cubicBezTo>
                <a:close/>
                <a:moveTo>
                  <a:pt x="41945" y="125835"/>
                </a:moveTo>
                <a:cubicBezTo>
                  <a:pt x="49662" y="125835"/>
                  <a:pt x="55927" y="119570"/>
                  <a:pt x="55927" y="111853"/>
                </a:cubicBezTo>
                <a:cubicBezTo>
                  <a:pt x="55927" y="104137"/>
                  <a:pt x="49662" y="97872"/>
                  <a:pt x="41945" y="97872"/>
                </a:cubicBezTo>
                <a:cubicBezTo>
                  <a:pt x="34228" y="97872"/>
                  <a:pt x="27963" y="104137"/>
                  <a:pt x="27963" y="111853"/>
                </a:cubicBezTo>
                <a:cubicBezTo>
                  <a:pt x="27963" y="119570"/>
                  <a:pt x="34228" y="125835"/>
                  <a:pt x="41945" y="125835"/>
                </a:cubicBezTo>
                <a:close/>
                <a:moveTo>
                  <a:pt x="195743" y="111853"/>
                </a:moveTo>
                <a:cubicBezTo>
                  <a:pt x="195743" y="104137"/>
                  <a:pt x="189478" y="97872"/>
                  <a:pt x="181761" y="97872"/>
                </a:cubicBezTo>
                <a:cubicBezTo>
                  <a:pt x="174045" y="97872"/>
                  <a:pt x="167780" y="104137"/>
                  <a:pt x="167780" y="111853"/>
                </a:cubicBezTo>
                <a:cubicBezTo>
                  <a:pt x="167780" y="119570"/>
                  <a:pt x="174045" y="125835"/>
                  <a:pt x="181761" y="125835"/>
                </a:cubicBezTo>
                <a:cubicBezTo>
                  <a:pt x="189478" y="125835"/>
                  <a:pt x="195743" y="119570"/>
                  <a:pt x="195743" y="11185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4688980" y="2740404"/>
            <a:ext cx="302003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8980" y="3075963"/>
            <a:ext cx="3001394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interactive dashboards developed for comprehensive business monitoring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2844" y="4045358"/>
            <a:ext cx="7428917" cy="1342239"/>
          </a:xfrm>
          <a:custGeom>
            <a:avLst/>
            <a:gdLst/>
            <a:ahLst/>
            <a:cxnLst/>
            <a:rect l="l" t="t" r="r" b="b"/>
            <a:pathLst>
              <a:path w="7428917" h="1342239">
                <a:moveTo>
                  <a:pt x="74575" y="0"/>
                </a:moveTo>
                <a:lnTo>
                  <a:pt x="7354343" y="0"/>
                </a:lnTo>
                <a:cubicBezTo>
                  <a:pt x="7395529" y="0"/>
                  <a:pt x="7428917" y="33388"/>
                  <a:pt x="7428917" y="74575"/>
                </a:cubicBezTo>
                <a:lnTo>
                  <a:pt x="7428917" y="1267664"/>
                </a:lnTo>
                <a:cubicBezTo>
                  <a:pt x="7428917" y="1308850"/>
                  <a:pt x="7395529" y="1342239"/>
                  <a:pt x="7354343" y="1342239"/>
                </a:cubicBezTo>
                <a:lnTo>
                  <a:pt x="74575" y="1342239"/>
                </a:lnTo>
                <a:cubicBezTo>
                  <a:pt x="33388" y="1342239"/>
                  <a:pt x="0" y="1308850"/>
                  <a:pt x="0" y="1267664"/>
                </a:cubicBezTo>
                <a:lnTo>
                  <a:pt x="0" y="74575"/>
                </a:lnTo>
                <a:cubicBezTo>
                  <a:pt x="0" y="33388"/>
                  <a:pt x="33388" y="0"/>
                  <a:pt x="74575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96550" y="4269064"/>
            <a:ext cx="7093358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853" y="4846856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11651" y="11651"/>
                </a:moveTo>
                <a:cubicBezTo>
                  <a:pt x="18096" y="11651"/>
                  <a:pt x="23303" y="16858"/>
                  <a:pt x="23303" y="23303"/>
                </a:cubicBezTo>
                <a:lnTo>
                  <a:pt x="23303" y="145642"/>
                </a:lnTo>
                <a:cubicBezTo>
                  <a:pt x="23303" y="148846"/>
                  <a:pt x="25924" y="151468"/>
                  <a:pt x="29128" y="151468"/>
                </a:cubicBezTo>
                <a:lnTo>
                  <a:pt x="174771" y="151468"/>
                </a:lnTo>
                <a:cubicBezTo>
                  <a:pt x="181215" y="151468"/>
                  <a:pt x="186422" y="156675"/>
                  <a:pt x="186422" y="163119"/>
                </a:cubicBezTo>
                <a:cubicBezTo>
                  <a:pt x="186422" y="169564"/>
                  <a:pt x="181215" y="174771"/>
                  <a:pt x="174771" y="174771"/>
                </a:cubicBezTo>
                <a:lnTo>
                  <a:pt x="29128" y="174771"/>
                </a:lnTo>
                <a:cubicBezTo>
                  <a:pt x="13035" y="174771"/>
                  <a:pt x="0" y="161736"/>
                  <a:pt x="0" y="145642"/>
                </a:cubicBezTo>
                <a:lnTo>
                  <a:pt x="0" y="23303"/>
                </a:lnTo>
                <a:cubicBezTo>
                  <a:pt x="0" y="16858"/>
                  <a:pt x="5207" y="11651"/>
                  <a:pt x="11651" y="11651"/>
                </a:cubicBezTo>
                <a:close/>
                <a:moveTo>
                  <a:pt x="46606" y="34954"/>
                </a:moveTo>
                <a:cubicBezTo>
                  <a:pt x="46606" y="28509"/>
                  <a:pt x="51812" y="23303"/>
                  <a:pt x="58257" y="23303"/>
                </a:cubicBezTo>
                <a:lnTo>
                  <a:pt x="128165" y="23303"/>
                </a:lnTo>
                <a:cubicBezTo>
                  <a:pt x="134610" y="23303"/>
                  <a:pt x="139817" y="28509"/>
                  <a:pt x="139817" y="34954"/>
                </a:cubicBezTo>
                <a:cubicBezTo>
                  <a:pt x="139817" y="41399"/>
                  <a:pt x="134610" y="46606"/>
                  <a:pt x="128165" y="46606"/>
                </a:cubicBezTo>
                <a:lnTo>
                  <a:pt x="58257" y="46606"/>
                </a:lnTo>
                <a:cubicBezTo>
                  <a:pt x="51812" y="46606"/>
                  <a:pt x="46606" y="41399"/>
                  <a:pt x="46606" y="34954"/>
                </a:cubicBezTo>
                <a:close/>
                <a:moveTo>
                  <a:pt x="58257" y="64083"/>
                </a:moveTo>
                <a:lnTo>
                  <a:pt x="104862" y="64083"/>
                </a:lnTo>
                <a:cubicBezTo>
                  <a:pt x="111307" y="64083"/>
                  <a:pt x="116514" y="69289"/>
                  <a:pt x="116514" y="75734"/>
                </a:cubicBezTo>
                <a:cubicBezTo>
                  <a:pt x="116514" y="82179"/>
                  <a:pt x="111307" y="87385"/>
                  <a:pt x="104862" y="87385"/>
                </a:cubicBezTo>
                <a:lnTo>
                  <a:pt x="58257" y="87385"/>
                </a:lnTo>
                <a:cubicBezTo>
                  <a:pt x="51812" y="87385"/>
                  <a:pt x="46606" y="82179"/>
                  <a:pt x="46606" y="75734"/>
                </a:cubicBezTo>
                <a:cubicBezTo>
                  <a:pt x="46606" y="69289"/>
                  <a:pt x="51812" y="64083"/>
                  <a:pt x="58257" y="64083"/>
                </a:cubicBezTo>
                <a:close/>
                <a:moveTo>
                  <a:pt x="58257" y="104862"/>
                </a:moveTo>
                <a:lnTo>
                  <a:pt x="151468" y="104862"/>
                </a:lnTo>
                <a:cubicBezTo>
                  <a:pt x="157913" y="104862"/>
                  <a:pt x="163119" y="110069"/>
                  <a:pt x="163119" y="116514"/>
                </a:cubicBezTo>
                <a:cubicBezTo>
                  <a:pt x="163119" y="122958"/>
                  <a:pt x="157913" y="128165"/>
                  <a:pt x="151468" y="128165"/>
                </a:cubicBezTo>
                <a:lnTo>
                  <a:pt x="58257" y="128165"/>
                </a:lnTo>
                <a:cubicBezTo>
                  <a:pt x="51812" y="128165"/>
                  <a:pt x="46606" y="122958"/>
                  <a:pt x="46606" y="116514"/>
                </a:cubicBezTo>
                <a:cubicBezTo>
                  <a:pt x="46606" y="110069"/>
                  <a:pt x="51812" y="104862"/>
                  <a:pt x="58257" y="10486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941431" y="4828214"/>
            <a:ext cx="1482055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business KPIs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95918" y="4846856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46606" y="34954"/>
                </a:moveTo>
                <a:lnTo>
                  <a:pt x="46606" y="29128"/>
                </a:lnTo>
                <a:cubicBezTo>
                  <a:pt x="46606" y="13035"/>
                  <a:pt x="77919" y="0"/>
                  <a:pt x="116514" y="0"/>
                </a:cubicBezTo>
                <a:cubicBezTo>
                  <a:pt x="155109" y="0"/>
                  <a:pt x="186422" y="13035"/>
                  <a:pt x="186422" y="29128"/>
                </a:cubicBezTo>
                <a:lnTo>
                  <a:pt x="186422" y="34954"/>
                </a:lnTo>
                <a:cubicBezTo>
                  <a:pt x="186422" y="46096"/>
                  <a:pt x="171384" y="55781"/>
                  <a:pt x="149283" y="60696"/>
                </a:cubicBezTo>
                <a:cubicBezTo>
                  <a:pt x="148409" y="59677"/>
                  <a:pt x="147499" y="58694"/>
                  <a:pt x="146589" y="57784"/>
                </a:cubicBezTo>
                <a:cubicBezTo>
                  <a:pt x="140945" y="52213"/>
                  <a:pt x="133663" y="47989"/>
                  <a:pt x="126053" y="44858"/>
                </a:cubicBezTo>
                <a:cubicBezTo>
                  <a:pt x="110797" y="38486"/>
                  <a:pt x="90917" y="34991"/>
                  <a:pt x="69908" y="34991"/>
                </a:cubicBezTo>
                <a:cubicBezTo>
                  <a:pt x="61934" y="34991"/>
                  <a:pt x="54142" y="35500"/>
                  <a:pt x="46678" y="36483"/>
                </a:cubicBezTo>
                <a:cubicBezTo>
                  <a:pt x="46606" y="36010"/>
                  <a:pt x="46606" y="35500"/>
                  <a:pt x="46606" y="34991"/>
                </a:cubicBezTo>
                <a:close/>
                <a:moveTo>
                  <a:pt x="157294" y="128529"/>
                </a:moveTo>
                <a:lnTo>
                  <a:pt x="157294" y="111708"/>
                </a:lnTo>
                <a:cubicBezTo>
                  <a:pt x="162792" y="110288"/>
                  <a:pt x="167962" y="108613"/>
                  <a:pt x="172659" y="106647"/>
                </a:cubicBezTo>
                <a:cubicBezTo>
                  <a:pt x="177465" y="104644"/>
                  <a:pt x="182162" y="102204"/>
                  <a:pt x="186422" y="99255"/>
                </a:cubicBezTo>
                <a:lnTo>
                  <a:pt x="186422" y="104862"/>
                </a:lnTo>
                <a:cubicBezTo>
                  <a:pt x="186422" y="114620"/>
                  <a:pt x="174953" y="123250"/>
                  <a:pt x="157294" y="128529"/>
                </a:cubicBezTo>
                <a:close/>
                <a:moveTo>
                  <a:pt x="157294" y="93575"/>
                </a:moveTo>
                <a:lnTo>
                  <a:pt x="157294" y="81560"/>
                </a:lnTo>
                <a:cubicBezTo>
                  <a:pt x="157294" y="79921"/>
                  <a:pt x="157148" y="78356"/>
                  <a:pt x="156929" y="76826"/>
                </a:cubicBezTo>
                <a:cubicBezTo>
                  <a:pt x="162573" y="75406"/>
                  <a:pt x="167853" y="73695"/>
                  <a:pt x="172659" y="71656"/>
                </a:cubicBezTo>
                <a:cubicBezTo>
                  <a:pt x="177465" y="69617"/>
                  <a:pt x="182162" y="67214"/>
                  <a:pt x="186422" y="64265"/>
                </a:cubicBezTo>
                <a:lnTo>
                  <a:pt x="186422" y="69872"/>
                </a:lnTo>
                <a:cubicBezTo>
                  <a:pt x="186422" y="79630"/>
                  <a:pt x="174953" y="88259"/>
                  <a:pt x="157294" y="93539"/>
                </a:cubicBezTo>
                <a:close/>
                <a:moveTo>
                  <a:pt x="0" y="87385"/>
                </a:moveTo>
                <a:lnTo>
                  <a:pt x="0" y="81560"/>
                </a:lnTo>
                <a:cubicBezTo>
                  <a:pt x="0" y="65466"/>
                  <a:pt x="31313" y="52431"/>
                  <a:pt x="69908" y="52431"/>
                </a:cubicBezTo>
                <a:cubicBezTo>
                  <a:pt x="108503" y="52431"/>
                  <a:pt x="139817" y="65466"/>
                  <a:pt x="139817" y="81560"/>
                </a:cubicBezTo>
                <a:lnTo>
                  <a:pt x="139817" y="87385"/>
                </a:lnTo>
                <a:cubicBezTo>
                  <a:pt x="139817" y="103479"/>
                  <a:pt x="108503" y="116514"/>
                  <a:pt x="69908" y="116514"/>
                </a:cubicBezTo>
                <a:cubicBezTo>
                  <a:pt x="31313" y="116514"/>
                  <a:pt x="0" y="103479"/>
                  <a:pt x="0" y="87385"/>
                </a:cubicBezTo>
                <a:close/>
                <a:moveTo>
                  <a:pt x="139817" y="122339"/>
                </a:moveTo>
                <a:cubicBezTo>
                  <a:pt x="139817" y="138433"/>
                  <a:pt x="108503" y="151468"/>
                  <a:pt x="69908" y="151468"/>
                </a:cubicBezTo>
                <a:cubicBezTo>
                  <a:pt x="31313" y="151468"/>
                  <a:pt x="0" y="138433"/>
                  <a:pt x="0" y="122339"/>
                </a:cubicBezTo>
                <a:lnTo>
                  <a:pt x="0" y="116732"/>
                </a:lnTo>
                <a:cubicBezTo>
                  <a:pt x="4224" y="119681"/>
                  <a:pt x="8921" y="122085"/>
                  <a:pt x="13763" y="124124"/>
                </a:cubicBezTo>
                <a:cubicBezTo>
                  <a:pt x="29019" y="130495"/>
                  <a:pt x="48899" y="133991"/>
                  <a:pt x="69908" y="133991"/>
                </a:cubicBezTo>
                <a:cubicBezTo>
                  <a:pt x="90917" y="133991"/>
                  <a:pt x="110797" y="130459"/>
                  <a:pt x="126053" y="124124"/>
                </a:cubicBezTo>
                <a:cubicBezTo>
                  <a:pt x="130860" y="122121"/>
                  <a:pt x="135556" y="119681"/>
                  <a:pt x="139817" y="116732"/>
                </a:cubicBezTo>
                <a:lnTo>
                  <a:pt x="139817" y="122339"/>
                </a:lnTo>
                <a:close/>
                <a:moveTo>
                  <a:pt x="139817" y="151686"/>
                </a:moveTo>
                <a:lnTo>
                  <a:pt x="139817" y="157294"/>
                </a:lnTo>
                <a:cubicBezTo>
                  <a:pt x="139817" y="173387"/>
                  <a:pt x="108503" y="186422"/>
                  <a:pt x="69908" y="186422"/>
                </a:cubicBezTo>
                <a:cubicBezTo>
                  <a:pt x="31313" y="186422"/>
                  <a:pt x="0" y="173387"/>
                  <a:pt x="0" y="157294"/>
                </a:cubicBezTo>
                <a:lnTo>
                  <a:pt x="0" y="151686"/>
                </a:lnTo>
                <a:cubicBezTo>
                  <a:pt x="4224" y="154636"/>
                  <a:pt x="8921" y="157039"/>
                  <a:pt x="13763" y="159078"/>
                </a:cubicBezTo>
                <a:cubicBezTo>
                  <a:pt x="29019" y="165450"/>
                  <a:pt x="48899" y="168945"/>
                  <a:pt x="69908" y="168945"/>
                </a:cubicBezTo>
                <a:cubicBezTo>
                  <a:pt x="90917" y="168945"/>
                  <a:pt x="110797" y="165413"/>
                  <a:pt x="126053" y="159078"/>
                </a:cubicBezTo>
                <a:cubicBezTo>
                  <a:pt x="130860" y="157075"/>
                  <a:pt x="135556" y="154636"/>
                  <a:pt x="139817" y="15168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3317496" y="4828214"/>
            <a:ext cx="1938789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product profitability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44137" y="4846856"/>
            <a:ext cx="233028" cy="186422"/>
          </a:xfrm>
          <a:custGeom>
            <a:avLst/>
            <a:gdLst/>
            <a:ahLst/>
            <a:cxnLst/>
            <a:rect l="l" t="t" r="r" b="b"/>
            <a:pathLst>
              <a:path w="233028" h="186422">
                <a:moveTo>
                  <a:pt x="116514" y="5826"/>
                </a:moveTo>
                <a:cubicBezTo>
                  <a:pt x="137413" y="5826"/>
                  <a:pt x="154381" y="22793"/>
                  <a:pt x="154381" y="43693"/>
                </a:cubicBezTo>
                <a:cubicBezTo>
                  <a:pt x="154381" y="64592"/>
                  <a:pt x="137413" y="81560"/>
                  <a:pt x="116514" y="81560"/>
                </a:cubicBezTo>
                <a:cubicBezTo>
                  <a:pt x="95614" y="81560"/>
                  <a:pt x="78647" y="64592"/>
                  <a:pt x="78647" y="43693"/>
                </a:cubicBezTo>
                <a:cubicBezTo>
                  <a:pt x="78647" y="22793"/>
                  <a:pt x="95614" y="5826"/>
                  <a:pt x="116514" y="5826"/>
                </a:cubicBezTo>
                <a:close/>
                <a:moveTo>
                  <a:pt x="34954" y="32041"/>
                </a:moveTo>
                <a:cubicBezTo>
                  <a:pt x="49423" y="32041"/>
                  <a:pt x="61170" y="43788"/>
                  <a:pt x="61170" y="58257"/>
                </a:cubicBezTo>
                <a:cubicBezTo>
                  <a:pt x="61170" y="72726"/>
                  <a:pt x="49423" y="84472"/>
                  <a:pt x="34954" y="84472"/>
                </a:cubicBezTo>
                <a:cubicBezTo>
                  <a:pt x="20485" y="84472"/>
                  <a:pt x="8739" y="72726"/>
                  <a:pt x="8739" y="58257"/>
                </a:cubicBezTo>
                <a:cubicBezTo>
                  <a:pt x="8739" y="43788"/>
                  <a:pt x="20485" y="32041"/>
                  <a:pt x="34954" y="32041"/>
                </a:cubicBezTo>
                <a:close/>
                <a:moveTo>
                  <a:pt x="0" y="151468"/>
                </a:moveTo>
                <a:cubicBezTo>
                  <a:pt x="0" y="125726"/>
                  <a:pt x="20863" y="104862"/>
                  <a:pt x="46606" y="104862"/>
                </a:cubicBezTo>
                <a:cubicBezTo>
                  <a:pt x="51266" y="104862"/>
                  <a:pt x="55781" y="105554"/>
                  <a:pt x="60041" y="106829"/>
                </a:cubicBezTo>
                <a:cubicBezTo>
                  <a:pt x="48062" y="120228"/>
                  <a:pt x="40780" y="137923"/>
                  <a:pt x="40780" y="157294"/>
                </a:cubicBezTo>
                <a:lnTo>
                  <a:pt x="40780" y="163119"/>
                </a:lnTo>
                <a:cubicBezTo>
                  <a:pt x="40780" y="167270"/>
                  <a:pt x="41654" y="171202"/>
                  <a:pt x="43219" y="174771"/>
                </a:cubicBezTo>
                <a:lnTo>
                  <a:pt x="11651" y="174771"/>
                </a:lnTo>
                <a:cubicBezTo>
                  <a:pt x="5207" y="174771"/>
                  <a:pt x="0" y="169564"/>
                  <a:pt x="0" y="163119"/>
                </a:cubicBezTo>
                <a:lnTo>
                  <a:pt x="0" y="151468"/>
                </a:lnTo>
                <a:close/>
                <a:moveTo>
                  <a:pt x="189808" y="174771"/>
                </a:moveTo>
                <a:cubicBezTo>
                  <a:pt x="191374" y="171202"/>
                  <a:pt x="192248" y="167270"/>
                  <a:pt x="192248" y="163119"/>
                </a:cubicBezTo>
                <a:lnTo>
                  <a:pt x="192248" y="157294"/>
                </a:lnTo>
                <a:cubicBezTo>
                  <a:pt x="192248" y="137923"/>
                  <a:pt x="184966" y="120228"/>
                  <a:pt x="172987" y="106829"/>
                </a:cubicBezTo>
                <a:cubicBezTo>
                  <a:pt x="177247" y="105554"/>
                  <a:pt x="181761" y="104862"/>
                  <a:pt x="186422" y="104862"/>
                </a:cubicBezTo>
                <a:cubicBezTo>
                  <a:pt x="212164" y="104862"/>
                  <a:pt x="233028" y="125726"/>
                  <a:pt x="233028" y="151468"/>
                </a:cubicBezTo>
                <a:lnTo>
                  <a:pt x="233028" y="163119"/>
                </a:lnTo>
                <a:cubicBezTo>
                  <a:pt x="233028" y="169564"/>
                  <a:pt x="227821" y="174771"/>
                  <a:pt x="221376" y="174771"/>
                </a:cubicBezTo>
                <a:lnTo>
                  <a:pt x="189808" y="174771"/>
                </a:lnTo>
                <a:close/>
                <a:moveTo>
                  <a:pt x="171858" y="58257"/>
                </a:moveTo>
                <a:cubicBezTo>
                  <a:pt x="171858" y="43788"/>
                  <a:pt x="183605" y="32041"/>
                  <a:pt x="198073" y="32041"/>
                </a:cubicBezTo>
                <a:cubicBezTo>
                  <a:pt x="212542" y="32041"/>
                  <a:pt x="224289" y="43788"/>
                  <a:pt x="224289" y="58257"/>
                </a:cubicBezTo>
                <a:cubicBezTo>
                  <a:pt x="224289" y="72726"/>
                  <a:pt x="212542" y="84472"/>
                  <a:pt x="198073" y="84472"/>
                </a:cubicBezTo>
                <a:cubicBezTo>
                  <a:pt x="183605" y="84472"/>
                  <a:pt x="171858" y="72726"/>
                  <a:pt x="171858" y="58257"/>
                </a:cubicBezTo>
                <a:close/>
                <a:moveTo>
                  <a:pt x="58257" y="157294"/>
                </a:moveTo>
                <a:cubicBezTo>
                  <a:pt x="58257" y="125107"/>
                  <a:pt x="84327" y="99037"/>
                  <a:pt x="116514" y="99037"/>
                </a:cubicBezTo>
                <a:cubicBezTo>
                  <a:pt x="148701" y="99037"/>
                  <a:pt x="174771" y="125107"/>
                  <a:pt x="174771" y="157294"/>
                </a:cubicBezTo>
                <a:lnTo>
                  <a:pt x="174771" y="163119"/>
                </a:lnTo>
                <a:cubicBezTo>
                  <a:pt x="174771" y="169564"/>
                  <a:pt x="169564" y="174771"/>
                  <a:pt x="163119" y="174771"/>
                </a:cubicBezTo>
                <a:lnTo>
                  <a:pt x="69908" y="174771"/>
                </a:lnTo>
                <a:cubicBezTo>
                  <a:pt x="63464" y="174771"/>
                  <a:pt x="58257" y="169564"/>
                  <a:pt x="58257" y="163119"/>
                </a:cubicBezTo>
                <a:lnTo>
                  <a:pt x="58257" y="15729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5684590" y="4716361"/>
            <a:ext cx="196675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customer patterns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1486" y="5611187"/>
            <a:ext cx="7410275" cy="1258349"/>
          </a:xfrm>
          <a:custGeom>
            <a:avLst/>
            <a:gdLst/>
            <a:ahLst/>
            <a:cxnLst/>
            <a:rect l="l" t="t" r="r" b="b"/>
            <a:pathLst>
              <a:path w="7410275" h="1258349">
                <a:moveTo>
                  <a:pt x="37284" y="0"/>
                </a:moveTo>
                <a:lnTo>
                  <a:pt x="7335705" y="0"/>
                </a:lnTo>
                <a:cubicBezTo>
                  <a:pt x="7376889" y="0"/>
                  <a:pt x="7410275" y="33386"/>
                  <a:pt x="7410275" y="74570"/>
                </a:cubicBezTo>
                <a:lnTo>
                  <a:pt x="7410275" y="1183779"/>
                </a:lnTo>
                <a:cubicBezTo>
                  <a:pt x="7410275" y="1224963"/>
                  <a:pt x="7376889" y="1258349"/>
                  <a:pt x="7335705" y="1258349"/>
                </a:cubicBezTo>
                <a:lnTo>
                  <a:pt x="37284" y="1258349"/>
                </a:lnTo>
                <a:cubicBezTo>
                  <a:pt x="16693" y="1258349"/>
                  <a:pt x="0" y="1241656"/>
                  <a:pt x="0" y="122106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91486" y="5611187"/>
            <a:ext cx="37284" cy="1258349"/>
          </a:xfrm>
          <a:custGeom>
            <a:avLst/>
            <a:gdLst/>
            <a:ahLst/>
            <a:cxnLst/>
            <a:rect l="l" t="t" r="r" b="b"/>
            <a:pathLst>
              <a:path w="37284" h="1258349">
                <a:moveTo>
                  <a:pt x="37284" y="0"/>
                </a:moveTo>
                <a:lnTo>
                  <a:pt x="37284" y="0"/>
                </a:lnTo>
                <a:lnTo>
                  <a:pt x="37284" y="1258349"/>
                </a:lnTo>
                <a:lnTo>
                  <a:pt x="37284" y="1258349"/>
                </a:lnTo>
                <a:cubicBezTo>
                  <a:pt x="16693" y="1258349"/>
                  <a:pt x="0" y="1241656"/>
                  <a:pt x="0" y="122106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486" y="5834893"/>
            <a:ext cx="209725" cy="279633"/>
          </a:xfrm>
          <a:custGeom>
            <a:avLst/>
            <a:gdLst/>
            <a:ahLst/>
            <a:cxnLst/>
            <a:rect l="l" t="t" r="r" b="b"/>
            <a:pathLst>
              <a:path w="209725" h="279633">
                <a:moveTo>
                  <a:pt x="159970" y="209725"/>
                </a:moveTo>
                <a:cubicBezTo>
                  <a:pt x="163957" y="197545"/>
                  <a:pt x="171931" y="186513"/>
                  <a:pt x="180942" y="177010"/>
                </a:cubicBezTo>
                <a:cubicBezTo>
                  <a:pt x="198802" y="158222"/>
                  <a:pt x="209725" y="132826"/>
                  <a:pt x="209725" y="104862"/>
                </a:cubicBezTo>
                <a:cubicBezTo>
                  <a:pt x="209725" y="46970"/>
                  <a:pt x="162755" y="0"/>
                  <a:pt x="104862" y="0"/>
                </a:cubicBezTo>
                <a:cubicBezTo>
                  <a:pt x="46970" y="0"/>
                  <a:pt x="0" y="46970"/>
                  <a:pt x="0" y="104862"/>
                </a:cubicBezTo>
                <a:cubicBezTo>
                  <a:pt x="0" y="132826"/>
                  <a:pt x="10923" y="158222"/>
                  <a:pt x="28783" y="177010"/>
                </a:cubicBezTo>
                <a:cubicBezTo>
                  <a:pt x="37794" y="186513"/>
                  <a:pt x="45823" y="197545"/>
                  <a:pt x="49755" y="209725"/>
                </a:cubicBezTo>
                <a:lnTo>
                  <a:pt x="159915" y="209725"/>
                </a:lnTo>
                <a:close/>
                <a:moveTo>
                  <a:pt x="157294" y="235940"/>
                </a:moveTo>
                <a:lnTo>
                  <a:pt x="52431" y="235940"/>
                </a:lnTo>
                <a:lnTo>
                  <a:pt x="52431" y="244679"/>
                </a:lnTo>
                <a:cubicBezTo>
                  <a:pt x="52431" y="268819"/>
                  <a:pt x="71984" y="288372"/>
                  <a:pt x="96124" y="288372"/>
                </a:cubicBezTo>
                <a:lnTo>
                  <a:pt x="113601" y="288372"/>
                </a:lnTo>
                <a:cubicBezTo>
                  <a:pt x="137741" y="288372"/>
                  <a:pt x="157294" y="268819"/>
                  <a:pt x="157294" y="244679"/>
                </a:cubicBezTo>
                <a:lnTo>
                  <a:pt x="157294" y="235940"/>
                </a:lnTo>
                <a:close/>
                <a:moveTo>
                  <a:pt x="100493" y="61170"/>
                </a:moveTo>
                <a:cubicBezTo>
                  <a:pt x="78756" y="61170"/>
                  <a:pt x="61170" y="78756"/>
                  <a:pt x="61170" y="100493"/>
                </a:cubicBezTo>
                <a:cubicBezTo>
                  <a:pt x="61170" y="107757"/>
                  <a:pt x="55326" y="113601"/>
                  <a:pt x="48062" y="113601"/>
                </a:cubicBezTo>
                <a:cubicBezTo>
                  <a:pt x="40798" y="113601"/>
                  <a:pt x="34954" y="107757"/>
                  <a:pt x="34954" y="100493"/>
                </a:cubicBezTo>
                <a:cubicBezTo>
                  <a:pt x="34954" y="64283"/>
                  <a:pt x="64283" y="34954"/>
                  <a:pt x="100493" y="34954"/>
                </a:cubicBezTo>
                <a:cubicBezTo>
                  <a:pt x="107757" y="34954"/>
                  <a:pt x="113601" y="40798"/>
                  <a:pt x="113601" y="48062"/>
                </a:cubicBezTo>
                <a:cubicBezTo>
                  <a:pt x="113601" y="55326"/>
                  <a:pt x="107757" y="61170"/>
                  <a:pt x="100493" y="6117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Text 24"/>
          <p:cNvSpPr/>
          <p:nvPr/>
        </p:nvSpPr>
        <p:spPr>
          <a:xfrm>
            <a:off x="1057479" y="5797609"/>
            <a:ext cx="6645945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7479" y="6133168"/>
            <a:ext cx="6636624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actionable insights for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growth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optimization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retention strategies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97823" y="372844"/>
            <a:ext cx="3728440" cy="4511413"/>
          </a:xfrm>
          <a:custGeom>
            <a:avLst/>
            <a:gdLst/>
            <a:ahLst/>
            <a:cxnLst/>
            <a:rect l="l" t="t" r="r" b="b"/>
            <a:pathLst>
              <a:path w="3728440" h="4511413">
                <a:moveTo>
                  <a:pt x="74569" y="0"/>
                </a:moveTo>
                <a:lnTo>
                  <a:pt x="3653872" y="0"/>
                </a:lnTo>
                <a:cubicBezTo>
                  <a:pt x="3695055" y="0"/>
                  <a:pt x="3728440" y="33386"/>
                  <a:pt x="3728440" y="74569"/>
                </a:cubicBezTo>
                <a:lnTo>
                  <a:pt x="3728440" y="4436844"/>
                </a:lnTo>
                <a:cubicBezTo>
                  <a:pt x="3728440" y="4478027"/>
                  <a:pt x="3695055" y="4511413"/>
                  <a:pt x="3653872" y="4511413"/>
                </a:cubicBezTo>
                <a:lnTo>
                  <a:pt x="74569" y="4511413"/>
                </a:lnTo>
                <a:cubicBezTo>
                  <a:pt x="33386" y="4511413"/>
                  <a:pt x="0" y="4478027"/>
                  <a:pt x="0" y="4436844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9" name="Text 27"/>
          <p:cNvSpPr/>
          <p:nvPr/>
        </p:nvSpPr>
        <p:spPr>
          <a:xfrm>
            <a:off x="8274924" y="596550"/>
            <a:ext cx="337423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8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21529" y="1081248"/>
            <a:ext cx="3281028" cy="1043963"/>
          </a:xfrm>
          <a:custGeom>
            <a:avLst/>
            <a:gdLst/>
            <a:ahLst/>
            <a:cxnLst/>
            <a:rect l="l" t="t" r="r" b="b"/>
            <a:pathLst>
              <a:path w="3281028" h="1043963">
                <a:moveTo>
                  <a:pt x="74570" y="0"/>
                </a:moveTo>
                <a:lnTo>
                  <a:pt x="3206457" y="0"/>
                </a:lnTo>
                <a:cubicBezTo>
                  <a:pt x="3247641" y="0"/>
                  <a:pt x="3281028" y="33386"/>
                  <a:pt x="3281028" y="74570"/>
                </a:cubicBezTo>
                <a:lnTo>
                  <a:pt x="3281028" y="969393"/>
                </a:lnTo>
                <a:cubicBezTo>
                  <a:pt x="3281028" y="1010577"/>
                  <a:pt x="3247641" y="1043963"/>
                  <a:pt x="3206457" y="1043963"/>
                </a:cubicBezTo>
                <a:lnTo>
                  <a:pt x="74570" y="1043963"/>
                </a:lnTo>
                <a:cubicBezTo>
                  <a:pt x="33386" y="1043963"/>
                  <a:pt x="0" y="1010577"/>
                  <a:pt x="0" y="96939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1" name="Text 29"/>
          <p:cNvSpPr/>
          <p:nvPr/>
        </p:nvSpPr>
        <p:spPr>
          <a:xfrm>
            <a:off x="8358814" y="1230385"/>
            <a:ext cx="320645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33383" y="1752367"/>
            <a:ext cx="305732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21529" y="2348917"/>
            <a:ext cx="3281028" cy="1043963"/>
          </a:xfrm>
          <a:custGeom>
            <a:avLst/>
            <a:gdLst/>
            <a:ahLst/>
            <a:cxnLst/>
            <a:rect l="l" t="t" r="r" b="b"/>
            <a:pathLst>
              <a:path w="3281028" h="1043963">
                <a:moveTo>
                  <a:pt x="74570" y="0"/>
                </a:moveTo>
                <a:lnTo>
                  <a:pt x="3206457" y="0"/>
                </a:lnTo>
                <a:cubicBezTo>
                  <a:pt x="3247641" y="0"/>
                  <a:pt x="3281028" y="33386"/>
                  <a:pt x="3281028" y="74570"/>
                </a:cubicBezTo>
                <a:lnTo>
                  <a:pt x="3281028" y="969393"/>
                </a:lnTo>
                <a:cubicBezTo>
                  <a:pt x="3281028" y="1010577"/>
                  <a:pt x="3247641" y="1043963"/>
                  <a:pt x="3206457" y="1043963"/>
                </a:cubicBezTo>
                <a:lnTo>
                  <a:pt x="74570" y="1043963"/>
                </a:lnTo>
                <a:cubicBezTo>
                  <a:pt x="33386" y="1043963"/>
                  <a:pt x="0" y="1010577"/>
                  <a:pt x="0" y="96939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4" name="Text 32"/>
          <p:cNvSpPr/>
          <p:nvPr/>
        </p:nvSpPr>
        <p:spPr>
          <a:xfrm>
            <a:off x="8358814" y="2498055"/>
            <a:ext cx="320645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33383" y="3020037"/>
            <a:ext cx="305732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KPIs Tracked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21529" y="3616587"/>
            <a:ext cx="3281028" cy="1043963"/>
          </a:xfrm>
          <a:custGeom>
            <a:avLst/>
            <a:gdLst/>
            <a:ahLst/>
            <a:cxnLst/>
            <a:rect l="l" t="t" r="r" b="b"/>
            <a:pathLst>
              <a:path w="3281028" h="1043963">
                <a:moveTo>
                  <a:pt x="74570" y="0"/>
                </a:moveTo>
                <a:lnTo>
                  <a:pt x="3206457" y="0"/>
                </a:lnTo>
                <a:cubicBezTo>
                  <a:pt x="3247641" y="0"/>
                  <a:pt x="3281028" y="33386"/>
                  <a:pt x="3281028" y="74570"/>
                </a:cubicBezTo>
                <a:lnTo>
                  <a:pt x="3281028" y="969393"/>
                </a:lnTo>
                <a:cubicBezTo>
                  <a:pt x="3281028" y="1010577"/>
                  <a:pt x="3247641" y="1043963"/>
                  <a:pt x="3206457" y="1043963"/>
                </a:cubicBezTo>
                <a:lnTo>
                  <a:pt x="74570" y="1043963"/>
                </a:lnTo>
                <a:cubicBezTo>
                  <a:pt x="33386" y="1043963"/>
                  <a:pt x="0" y="1010577"/>
                  <a:pt x="0" y="96939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7" name="Text 35"/>
          <p:cNvSpPr/>
          <p:nvPr/>
        </p:nvSpPr>
        <p:spPr>
          <a:xfrm>
            <a:off x="8358814" y="3765725"/>
            <a:ext cx="320645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33383" y="4287706"/>
            <a:ext cx="305732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Areas Covered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58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Goals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Business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51447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analysis was conducted to achieve six primary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9335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2219325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33541"/>
                </a:lnTo>
                <a:cubicBezTo>
                  <a:pt x="3705225" y="1775630"/>
                  <a:pt x="3671105" y="1809750"/>
                  <a:pt x="362901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221932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2428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523875" y="24288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1575" y="2543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3000375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Sales Trends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3343275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total sales, profit, and quantity trends over time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1721" y="2219325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33541"/>
                </a:lnTo>
                <a:cubicBezTo>
                  <a:pt x="3705225" y="1775630"/>
                  <a:pt x="3671105" y="1809750"/>
                  <a:pt x="362901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4" name="Shape 12"/>
          <p:cNvSpPr/>
          <p:nvPr/>
        </p:nvSpPr>
        <p:spPr>
          <a:xfrm>
            <a:off x="4241721" y="221932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2221" y="2428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4384596" y="24288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32296" y="2543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lnTo>
                  <a:pt x="100013" y="28575"/>
                </a:lnTo>
                <a:cubicBezTo>
                  <a:pt x="100013" y="32504"/>
                  <a:pt x="103227" y="35719"/>
                  <a:pt x="107156" y="35719"/>
                </a:cubicBezTo>
                <a:lnTo>
                  <a:pt x="121444" y="35719"/>
                </a:lnTo>
                <a:cubicBezTo>
                  <a:pt x="125373" y="35719"/>
                  <a:pt x="128588" y="32504"/>
                  <a:pt x="128588" y="28575"/>
                </a:cubicBezTo>
                <a:lnTo>
                  <a:pt x="128588" y="0"/>
                </a:lnTo>
                <a:lnTo>
                  <a:pt x="142875" y="0"/>
                </a:lnTo>
                <a:cubicBezTo>
                  <a:pt x="158636" y="0"/>
                  <a:pt x="171450" y="12814"/>
                  <a:pt x="171450" y="28575"/>
                </a:cubicBezTo>
                <a:lnTo>
                  <a:pt x="171450" y="85725"/>
                </a:lnTo>
                <a:cubicBezTo>
                  <a:pt x="171450" y="88181"/>
                  <a:pt x="171137" y="90592"/>
                  <a:pt x="170557" y="92869"/>
                </a:cubicBezTo>
                <a:lnTo>
                  <a:pt x="58043" y="92869"/>
                </a:lnTo>
                <a:cubicBezTo>
                  <a:pt x="57463" y="90592"/>
                  <a:pt x="57150" y="88181"/>
                  <a:pt x="57150" y="85725"/>
                </a:cubicBezTo>
                <a:lnTo>
                  <a:pt x="57150" y="28575"/>
                </a:lnTo>
                <a:cubicBezTo>
                  <a:pt x="57150" y="12814"/>
                  <a:pt x="69964" y="0"/>
                  <a:pt x="85725" y="0"/>
                </a:cubicBezTo>
                <a:lnTo>
                  <a:pt x="100013" y="0"/>
                </a:lnTo>
                <a:close/>
                <a:moveTo>
                  <a:pt x="142875" y="228600"/>
                </a:moveTo>
                <a:cubicBezTo>
                  <a:pt x="137874" y="228600"/>
                  <a:pt x="133142" y="227305"/>
                  <a:pt x="129034" y="225028"/>
                </a:cubicBezTo>
                <a:cubicBezTo>
                  <a:pt x="133276" y="217661"/>
                  <a:pt x="135731" y="209133"/>
                  <a:pt x="135731" y="200025"/>
                </a:cubicBezTo>
                <a:lnTo>
                  <a:pt x="135731" y="142875"/>
                </a:lnTo>
                <a:cubicBezTo>
                  <a:pt x="135731" y="133767"/>
                  <a:pt x="133276" y="125239"/>
                  <a:pt x="129034" y="117872"/>
                </a:cubicBezTo>
                <a:cubicBezTo>
                  <a:pt x="133142" y="115595"/>
                  <a:pt x="137830" y="114300"/>
                  <a:pt x="142875" y="114300"/>
                </a:cubicBezTo>
                <a:lnTo>
                  <a:pt x="157163" y="114300"/>
                </a:lnTo>
                <a:lnTo>
                  <a:pt x="157163" y="142875"/>
                </a:lnTo>
                <a:cubicBezTo>
                  <a:pt x="157163" y="146804"/>
                  <a:pt x="160377" y="150019"/>
                  <a:pt x="164306" y="150019"/>
                </a:cubicBezTo>
                <a:lnTo>
                  <a:pt x="178594" y="150019"/>
                </a:lnTo>
                <a:cubicBezTo>
                  <a:pt x="182523" y="150019"/>
                  <a:pt x="185738" y="146804"/>
                  <a:pt x="185738" y="142875"/>
                </a:cubicBezTo>
                <a:lnTo>
                  <a:pt x="185738" y="114300"/>
                </a:lnTo>
                <a:lnTo>
                  <a:pt x="200025" y="114300"/>
                </a:lnTo>
                <a:cubicBezTo>
                  <a:pt x="215786" y="114300"/>
                  <a:pt x="228600" y="127114"/>
                  <a:pt x="228600" y="142875"/>
                </a:cubicBezTo>
                <a:lnTo>
                  <a:pt x="228600" y="200025"/>
                </a:lnTo>
                <a:cubicBezTo>
                  <a:pt x="228600" y="215786"/>
                  <a:pt x="215786" y="228600"/>
                  <a:pt x="200025" y="228600"/>
                </a:cubicBezTo>
                <a:lnTo>
                  <a:pt x="142875" y="228600"/>
                </a:lnTo>
                <a:close/>
                <a:moveTo>
                  <a:pt x="0" y="142875"/>
                </a:moveTo>
                <a:cubicBezTo>
                  <a:pt x="0" y="127114"/>
                  <a:pt x="12814" y="114300"/>
                  <a:pt x="28575" y="114300"/>
                </a:cubicBezTo>
                <a:lnTo>
                  <a:pt x="42863" y="114300"/>
                </a:lnTo>
                <a:lnTo>
                  <a:pt x="42863" y="142875"/>
                </a:lnTo>
                <a:cubicBezTo>
                  <a:pt x="42863" y="146804"/>
                  <a:pt x="46077" y="150019"/>
                  <a:pt x="50006" y="150019"/>
                </a:cubicBezTo>
                <a:lnTo>
                  <a:pt x="64294" y="150019"/>
                </a:lnTo>
                <a:cubicBezTo>
                  <a:pt x="68223" y="150019"/>
                  <a:pt x="71438" y="146804"/>
                  <a:pt x="71438" y="142875"/>
                </a:cubicBezTo>
                <a:lnTo>
                  <a:pt x="71438" y="114300"/>
                </a:lnTo>
                <a:lnTo>
                  <a:pt x="85725" y="114300"/>
                </a:lnTo>
                <a:cubicBezTo>
                  <a:pt x="101486" y="114300"/>
                  <a:pt x="114300" y="127114"/>
                  <a:pt x="114300" y="142875"/>
                </a:cubicBezTo>
                <a:lnTo>
                  <a:pt x="114300" y="200025"/>
                </a:lnTo>
                <a:cubicBezTo>
                  <a:pt x="114300" y="215786"/>
                  <a:pt x="101486" y="228600"/>
                  <a:pt x="8572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428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4432221" y="3000375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2221" y="3343275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profitable and loss-making product subcategories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2561" y="2219325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33541"/>
                </a:lnTo>
                <a:cubicBezTo>
                  <a:pt x="3705225" y="1775630"/>
                  <a:pt x="3671105" y="1809750"/>
                  <a:pt x="362901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2561" y="221932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3061" y="2428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8245436" y="24288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07423" y="25431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57150" y="114300"/>
                </a:moveTo>
                <a:cubicBezTo>
                  <a:pt x="49247" y="114300"/>
                  <a:pt x="42863" y="120685"/>
                  <a:pt x="42863" y="128588"/>
                </a:cubicBezTo>
                <a:lnTo>
                  <a:pt x="42863" y="157163"/>
                </a:lnTo>
                <a:cubicBezTo>
                  <a:pt x="42863" y="165065"/>
                  <a:pt x="49247" y="171450"/>
                  <a:pt x="57150" y="171450"/>
                </a:cubicBezTo>
                <a:lnTo>
                  <a:pt x="142875" y="171450"/>
                </a:lnTo>
                <a:cubicBezTo>
                  <a:pt x="150778" y="171450"/>
                  <a:pt x="157163" y="165065"/>
                  <a:pt x="157163" y="157163"/>
                </a:cubicBezTo>
                <a:lnTo>
                  <a:pt x="157163" y="128588"/>
                </a:lnTo>
                <a:cubicBezTo>
                  <a:pt x="157163" y="120685"/>
                  <a:pt x="150778" y="114300"/>
                  <a:pt x="142875" y="114300"/>
                </a:cubicBezTo>
                <a:lnTo>
                  <a:pt x="57150" y="11430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061" y="3000375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Fluctuations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3061" y="3343275"/>
            <a:ext cx="3400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weekly sales and profit fluctuations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4200525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33541"/>
                </a:lnTo>
                <a:cubicBezTo>
                  <a:pt x="3705225" y="1775630"/>
                  <a:pt x="3671105" y="1809750"/>
                  <a:pt x="362901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" y="420052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" y="4410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Text 28"/>
          <p:cNvSpPr/>
          <p:nvPr/>
        </p:nvSpPr>
        <p:spPr>
          <a:xfrm>
            <a:off x="523875" y="4410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43000" y="452437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" y="4981576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Behavior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5324476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customer order behavior and distribution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41721" y="4200525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33541"/>
                </a:lnTo>
                <a:cubicBezTo>
                  <a:pt x="3705225" y="1775630"/>
                  <a:pt x="3671105" y="1809750"/>
                  <a:pt x="362901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35" name="Shape 33"/>
          <p:cNvSpPr/>
          <p:nvPr/>
        </p:nvSpPr>
        <p:spPr>
          <a:xfrm>
            <a:off x="4241721" y="420052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Shape 34"/>
          <p:cNvSpPr/>
          <p:nvPr/>
        </p:nvSpPr>
        <p:spPr>
          <a:xfrm>
            <a:off x="4432221" y="4410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Text 35"/>
          <p:cNvSpPr/>
          <p:nvPr/>
        </p:nvSpPr>
        <p:spPr>
          <a:xfrm>
            <a:off x="4384596" y="4410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18008" y="452437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4432221" y="4981576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Customers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32221" y="5324476"/>
            <a:ext cx="3400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top customers contributing to revenue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2561" y="4200525"/>
            <a:ext cx="3705225" cy="1809750"/>
          </a:xfrm>
          <a:custGeom>
            <a:avLst/>
            <a:gdLst/>
            <a:ahLst/>
            <a:cxnLst/>
            <a:rect l="l" t="t" r="r" b="b"/>
            <a:pathLst>
              <a:path w="3705225" h="1809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33541"/>
                </a:lnTo>
                <a:cubicBezTo>
                  <a:pt x="3705225" y="1775630"/>
                  <a:pt x="3671105" y="1809750"/>
                  <a:pt x="362901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42" name="Shape 40"/>
          <p:cNvSpPr/>
          <p:nvPr/>
        </p:nvSpPr>
        <p:spPr>
          <a:xfrm>
            <a:off x="8102561" y="420052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3" name="Shape 41"/>
          <p:cNvSpPr/>
          <p:nvPr/>
        </p:nvSpPr>
        <p:spPr>
          <a:xfrm>
            <a:off x="8293061" y="4410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4" name="Text 42"/>
          <p:cNvSpPr/>
          <p:nvPr/>
        </p:nvSpPr>
        <p:spPr>
          <a:xfrm>
            <a:off x="8245436" y="4410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893136" y="452437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6" name="Text 44"/>
          <p:cNvSpPr/>
          <p:nvPr/>
        </p:nvSpPr>
        <p:spPr>
          <a:xfrm>
            <a:off x="8293061" y="4981576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Decisions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93061" y="5324476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data-driven marketing and inventory decisions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9" y="367229"/>
            <a:ext cx="1152180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spc="152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Infrastructure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229" y="661012"/>
            <a:ext cx="11732964" cy="68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337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Model &amp;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229" y="1459735"/>
            <a:ext cx="11540169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dimensional data model was implemented for scalable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229" y="1863687"/>
            <a:ext cx="881349" cy="36723"/>
          </a:xfrm>
          <a:custGeom>
            <a:avLst/>
            <a:gdLst/>
            <a:ahLst/>
            <a:cxnLst/>
            <a:rect l="l" t="t" r="r" b="b"/>
            <a:pathLst>
              <a:path w="881349" h="36723">
                <a:moveTo>
                  <a:pt x="0" y="0"/>
                </a:moveTo>
                <a:lnTo>
                  <a:pt x="881349" y="0"/>
                </a:lnTo>
                <a:lnTo>
                  <a:pt x="881349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385590" y="2120747"/>
            <a:ext cx="6784554" cy="4370024"/>
          </a:xfrm>
          <a:custGeom>
            <a:avLst/>
            <a:gdLst/>
            <a:ahLst/>
            <a:cxnLst/>
            <a:rect l="l" t="t" r="r" b="b"/>
            <a:pathLst>
              <a:path w="6784554" h="4370024">
                <a:moveTo>
                  <a:pt x="36723" y="0"/>
                </a:moveTo>
                <a:lnTo>
                  <a:pt x="6711094" y="0"/>
                </a:lnTo>
                <a:cubicBezTo>
                  <a:pt x="6751665" y="0"/>
                  <a:pt x="6784554" y="32889"/>
                  <a:pt x="6784554" y="73460"/>
                </a:cubicBezTo>
                <a:lnTo>
                  <a:pt x="6784554" y="4296564"/>
                </a:lnTo>
                <a:cubicBezTo>
                  <a:pt x="6784554" y="4337135"/>
                  <a:pt x="6751665" y="4370024"/>
                  <a:pt x="6711094" y="4370024"/>
                </a:cubicBezTo>
                <a:lnTo>
                  <a:pt x="36723" y="4370024"/>
                </a:lnTo>
                <a:cubicBezTo>
                  <a:pt x="16441" y="4370024"/>
                  <a:pt x="0" y="4353583"/>
                  <a:pt x="0" y="4333301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385590" y="2120747"/>
            <a:ext cx="36723" cy="4370024"/>
          </a:xfrm>
          <a:custGeom>
            <a:avLst/>
            <a:gdLst/>
            <a:ahLst/>
            <a:cxnLst/>
            <a:rect l="l" t="t" r="r" b="b"/>
            <a:pathLst>
              <a:path w="36723" h="4370024">
                <a:moveTo>
                  <a:pt x="36723" y="0"/>
                </a:moveTo>
                <a:lnTo>
                  <a:pt x="36723" y="0"/>
                </a:lnTo>
                <a:lnTo>
                  <a:pt x="36723" y="4370024"/>
                </a:lnTo>
                <a:lnTo>
                  <a:pt x="36723" y="4370024"/>
                </a:lnTo>
                <a:cubicBezTo>
                  <a:pt x="16441" y="4370024"/>
                  <a:pt x="0" y="4353583"/>
                  <a:pt x="0" y="4333301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Shape 6"/>
          <p:cNvSpPr/>
          <p:nvPr/>
        </p:nvSpPr>
        <p:spPr>
          <a:xfrm>
            <a:off x="659864" y="2809301"/>
            <a:ext cx="240994" cy="275422"/>
          </a:xfrm>
          <a:custGeom>
            <a:avLst/>
            <a:gdLst/>
            <a:ahLst/>
            <a:cxnLst/>
            <a:rect l="l" t="t" r="r" b="b"/>
            <a:pathLst>
              <a:path w="240994" h="275422">
                <a:moveTo>
                  <a:pt x="240994" y="110707"/>
                </a:moveTo>
                <a:cubicBezTo>
                  <a:pt x="233033" y="115978"/>
                  <a:pt x="223888" y="120228"/>
                  <a:pt x="214366" y="123617"/>
                </a:cubicBezTo>
                <a:cubicBezTo>
                  <a:pt x="189083" y="132654"/>
                  <a:pt x="155893" y="137711"/>
                  <a:pt x="120497" y="137711"/>
                </a:cubicBezTo>
                <a:cubicBezTo>
                  <a:pt x="85101" y="137711"/>
                  <a:pt x="51857" y="132600"/>
                  <a:pt x="26628" y="123617"/>
                </a:cubicBezTo>
                <a:cubicBezTo>
                  <a:pt x="17160" y="120228"/>
                  <a:pt x="7961" y="115978"/>
                  <a:pt x="0" y="110707"/>
                </a:cubicBezTo>
                <a:lnTo>
                  <a:pt x="0" y="154925"/>
                </a:lnTo>
                <a:cubicBezTo>
                  <a:pt x="0" y="178701"/>
                  <a:pt x="53955" y="197959"/>
                  <a:pt x="120497" y="197959"/>
                </a:cubicBezTo>
                <a:cubicBezTo>
                  <a:pt x="187039" y="197959"/>
                  <a:pt x="240994" y="178701"/>
                  <a:pt x="240994" y="154925"/>
                </a:cubicBezTo>
                <a:lnTo>
                  <a:pt x="240994" y="110707"/>
                </a:lnTo>
                <a:close/>
                <a:moveTo>
                  <a:pt x="240994" y="68855"/>
                </a:moveTo>
                <a:lnTo>
                  <a:pt x="240994" y="43035"/>
                </a:lnTo>
                <a:cubicBezTo>
                  <a:pt x="240994" y="19258"/>
                  <a:pt x="187039" y="0"/>
                  <a:pt x="120497" y="0"/>
                </a:cubicBezTo>
                <a:cubicBezTo>
                  <a:pt x="53955" y="0"/>
                  <a:pt x="0" y="19258"/>
                  <a:pt x="0" y="43035"/>
                </a:cubicBezTo>
                <a:lnTo>
                  <a:pt x="0" y="68855"/>
                </a:lnTo>
                <a:cubicBezTo>
                  <a:pt x="0" y="92632"/>
                  <a:pt x="53955" y="111890"/>
                  <a:pt x="120497" y="111890"/>
                </a:cubicBezTo>
                <a:cubicBezTo>
                  <a:pt x="187039" y="111890"/>
                  <a:pt x="240994" y="92632"/>
                  <a:pt x="240994" y="68855"/>
                </a:cubicBezTo>
                <a:close/>
                <a:moveTo>
                  <a:pt x="214366" y="209686"/>
                </a:moveTo>
                <a:cubicBezTo>
                  <a:pt x="189137" y="218670"/>
                  <a:pt x="155947" y="223780"/>
                  <a:pt x="120497" y="223780"/>
                </a:cubicBezTo>
                <a:cubicBezTo>
                  <a:pt x="85047" y="223780"/>
                  <a:pt x="51857" y="218670"/>
                  <a:pt x="26628" y="209686"/>
                </a:cubicBezTo>
                <a:cubicBezTo>
                  <a:pt x="17160" y="206297"/>
                  <a:pt x="7961" y="202048"/>
                  <a:pt x="0" y="196776"/>
                </a:cubicBezTo>
                <a:lnTo>
                  <a:pt x="0" y="232387"/>
                </a:lnTo>
                <a:cubicBezTo>
                  <a:pt x="0" y="256164"/>
                  <a:pt x="53955" y="275422"/>
                  <a:pt x="120497" y="275422"/>
                </a:cubicBezTo>
                <a:cubicBezTo>
                  <a:pt x="187039" y="275422"/>
                  <a:pt x="240994" y="256164"/>
                  <a:pt x="240994" y="232387"/>
                </a:cubicBezTo>
                <a:lnTo>
                  <a:pt x="240994" y="196776"/>
                </a:lnTo>
                <a:cubicBezTo>
                  <a:pt x="233033" y="202048"/>
                  <a:pt x="223888" y="206297"/>
                  <a:pt x="214366" y="20968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1082522" y="2772578"/>
            <a:ext cx="5976651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2522" y="3139693"/>
            <a:ext cx="5958289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fact_orders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82522" y="3506922"/>
            <a:ext cx="5939928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Order-level transactional data including sales, profit, quantity, order date, customer ID, and product ID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289" y="4994199"/>
            <a:ext cx="2038120" cy="367229"/>
          </a:xfrm>
          <a:custGeom>
            <a:avLst/>
            <a:gdLst/>
            <a:ahLst/>
            <a:cxnLst/>
            <a:rect l="l" t="t" r="r" b="b"/>
            <a:pathLst>
              <a:path w="2038120" h="367229">
                <a:moveTo>
                  <a:pt x="36723" y="0"/>
                </a:moveTo>
                <a:lnTo>
                  <a:pt x="2001398" y="0"/>
                </a:lnTo>
                <a:cubicBezTo>
                  <a:pt x="2021679" y="0"/>
                  <a:pt x="2038120" y="16441"/>
                  <a:pt x="2038120" y="36723"/>
                </a:cubicBezTo>
                <a:lnTo>
                  <a:pt x="2038120" y="330506"/>
                </a:lnTo>
                <a:cubicBezTo>
                  <a:pt x="2038120" y="350788"/>
                  <a:pt x="2021679" y="367229"/>
                  <a:pt x="2001398" y="367229"/>
                </a:cubicBezTo>
                <a:lnTo>
                  <a:pt x="36723" y="367229"/>
                </a:lnTo>
                <a:cubicBezTo>
                  <a:pt x="16441" y="367229"/>
                  <a:pt x="0" y="350788"/>
                  <a:pt x="0" y="330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3" name="Text 11"/>
          <p:cNvSpPr/>
          <p:nvPr/>
        </p:nvSpPr>
        <p:spPr>
          <a:xfrm>
            <a:off x="697735" y="5067645"/>
            <a:ext cx="189122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68906" y="4994199"/>
            <a:ext cx="2038120" cy="367229"/>
          </a:xfrm>
          <a:custGeom>
            <a:avLst/>
            <a:gdLst/>
            <a:ahLst/>
            <a:cxnLst/>
            <a:rect l="l" t="t" r="r" b="b"/>
            <a:pathLst>
              <a:path w="2038120" h="367229">
                <a:moveTo>
                  <a:pt x="36723" y="0"/>
                </a:moveTo>
                <a:lnTo>
                  <a:pt x="2001398" y="0"/>
                </a:lnTo>
                <a:cubicBezTo>
                  <a:pt x="2021679" y="0"/>
                  <a:pt x="2038120" y="16441"/>
                  <a:pt x="2038120" y="36723"/>
                </a:cubicBezTo>
                <a:lnTo>
                  <a:pt x="2038120" y="330506"/>
                </a:lnTo>
                <a:cubicBezTo>
                  <a:pt x="2038120" y="350788"/>
                  <a:pt x="2021679" y="367229"/>
                  <a:pt x="2001398" y="367229"/>
                </a:cubicBezTo>
                <a:lnTo>
                  <a:pt x="36723" y="367229"/>
                </a:lnTo>
                <a:cubicBezTo>
                  <a:pt x="16441" y="367229"/>
                  <a:pt x="0" y="350788"/>
                  <a:pt x="0" y="330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5" name="Text 13"/>
          <p:cNvSpPr/>
          <p:nvPr/>
        </p:nvSpPr>
        <p:spPr>
          <a:xfrm>
            <a:off x="2842352" y="5067645"/>
            <a:ext cx="189122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13523" y="4994199"/>
            <a:ext cx="2038120" cy="367229"/>
          </a:xfrm>
          <a:custGeom>
            <a:avLst/>
            <a:gdLst/>
            <a:ahLst/>
            <a:cxnLst/>
            <a:rect l="l" t="t" r="r" b="b"/>
            <a:pathLst>
              <a:path w="2038120" h="367229">
                <a:moveTo>
                  <a:pt x="36723" y="0"/>
                </a:moveTo>
                <a:lnTo>
                  <a:pt x="2001398" y="0"/>
                </a:lnTo>
                <a:cubicBezTo>
                  <a:pt x="2021679" y="0"/>
                  <a:pt x="2038120" y="16441"/>
                  <a:pt x="2038120" y="36723"/>
                </a:cubicBezTo>
                <a:lnTo>
                  <a:pt x="2038120" y="330506"/>
                </a:lnTo>
                <a:cubicBezTo>
                  <a:pt x="2038120" y="350788"/>
                  <a:pt x="2021679" y="367229"/>
                  <a:pt x="2001398" y="367229"/>
                </a:cubicBezTo>
                <a:lnTo>
                  <a:pt x="36723" y="367229"/>
                </a:lnTo>
                <a:cubicBezTo>
                  <a:pt x="16441" y="367229"/>
                  <a:pt x="0" y="350788"/>
                  <a:pt x="0" y="330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7" name="Text 15"/>
          <p:cNvSpPr/>
          <p:nvPr/>
        </p:nvSpPr>
        <p:spPr>
          <a:xfrm>
            <a:off x="4986969" y="5067645"/>
            <a:ext cx="189122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289" y="5471597"/>
            <a:ext cx="2038120" cy="367229"/>
          </a:xfrm>
          <a:custGeom>
            <a:avLst/>
            <a:gdLst/>
            <a:ahLst/>
            <a:cxnLst/>
            <a:rect l="l" t="t" r="r" b="b"/>
            <a:pathLst>
              <a:path w="2038120" h="367229">
                <a:moveTo>
                  <a:pt x="36723" y="0"/>
                </a:moveTo>
                <a:lnTo>
                  <a:pt x="2001398" y="0"/>
                </a:lnTo>
                <a:cubicBezTo>
                  <a:pt x="2021679" y="0"/>
                  <a:pt x="2038120" y="16441"/>
                  <a:pt x="2038120" y="36723"/>
                </a:cubicBezTo>
                <a:lnTo>
                  <a:pt x="2038120" y="330506"/>
                </a:lnTo>
                <a:cubicBezTo>
                  <a:pt x="2038120" y="350788"/>
                  <a:pt x="2021679" y="367229"/>
                  <a:pt x="2001398" y="367229"/>
                </a:cubicBezTo>
                <a:lnTo>
                  <a:pt x="36723" y="367229"/>
                </a:lnTo>
                <a:cubicBezTo>
                  <a:pt x="16441" y="367229"/>
                  <a:pt x="0" y="350788"/>
                  <a:pt x="0" y="330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9" name="Text 17"/>
          <p:cNvSpPr/>
          <p:nvPr/>
        </p:nvSpPr>
        <p:spPr>
          <a:xfrm>
            <a:off x="697735" y="5545042"/>
            <a:ext cx="189122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Date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68906" y="5471597"/>
            <a:ext cx="2038120" cy="367229"/>
          </a:xfrm>
          <a:custGeom>
            <a:avLst/>
            <a:gdLst/>
            <a:ahLst/>
            <a:cxnLst/>
            <a:rect l="l" t="t" r="r" b="b"/>
            <a:pathLst>
              <a:path w="2038120" h="367229">
                <a:moveTo>
                  <a:pt x="36723" y="0"/>
                </a:moveTo>
                <a:lnTo>
                  <a:pt x="2001398" y="0"/>
                </a:lnTo>
                <a:cubicBezTo>
                  <a:pt x="2021679" y="0"/>
                  <a:pt x="2038120" y="16441"/>
                  <a:pt x="2038120" y="36723"/>
                </a:cubicBezTo>
                <a:lnTo>
                  <a:pt x="2038120" y="330506"/>
                </a:lnTo>
                <a:cubicBezTo>
                  <a:pt x="2038120" y="350788"/>
                  <a:pt x="2021679" y="367229"/>
                  <a:pt x="2001398" y="367229"/>
                </a:cubicBezTo>
                <a:lnTo>
                  <a:pt x="36723" y="367229"/>
                </a:lnTo>
                <a:cubicBezTo>
                  <a:pt x="16441" y="367229"/>
                  <a:pt x="0" y="350788"/>
                  <a:pt x="0" y="330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1" name="Text 19"/>
          <p:cNvSpPr/>
          <p:nvPr/>
        </p:nvSpPr>
        <p:spPr>
          <a:xfrm>
            <a:off x="2842352" y="5545042"/>
            <a:ext cx="189122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13523" y="5471597"/>
            <a:ext cx="2038120" cy="367229"/>
          </a:xfrm>
          <a:custGeom>
            <a:avLst/>
            <a:gdLst/>
            <a:ahLst/>
            <a:cxnLst/>
            <a:rect l="l" t="t" r="r" b="b"/>
            <a:pathLst>
              <a:path w="2038120" h="367229">
                <a:moveTo>
                  <a:pt x="36723" y="0"/>
                </a:moveTo>
                <a:lnTo>
                  <a:pt x="2001398" y="0"/>
                </a:lnTo>
                <a:cubicBezTo>
                  <a:pt x="2021679" y="0"/>
                  <a:pt x="2038120" y="16441"/>
                  <a:pt x="2038120" y="36723"/>
                </a:cubicBezTo>
                <a:lnTo>
                  <a:pt x="2038120" y="330506"/>
                </a:lnTo>
                <a:cubicBezTo>
                  <a:pt x="2038120" y="350788"/>
                  <a:pt x="2021679" y="367229"/>
                  <a:pt x="2001398" y="367229"/>
                </a:cubicBezTo>
                <a:lnTo>
                  <a:pt x="36723" y="367229"/>
                </a:lnTo>
                <a:cubicBezTo>
                  <a:pt x="16441" y="367229"/>
                  <a:pt x="0" y="350788"/>
                  <a:pt x="0" y="330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3" name="Text 21"/>
          <p:cNvSpPr/>
          <p:nvPr/>
        </p:nvSpPr>
        <p:spPr>
          <a:xfrm>
            <a:off x="4986969" y="5545042"/>
            <a:ext cx="1891229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ID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51923" y="2139108"/>
            <a:ext cx="4471012" cy="3433590"/>
          </a:xfrm>
          <a:custGeom>
            <a:avLst/>
            <a:gdLst/>
            <a:ahLst/>
            <a:cxnLst/>
            <a:rect l="l" t="t" r="r" b="b"/>
            <a:pathLst>
              <a:path w="4471012" h="3433590">
                <a:moveTo>
                  <a:pt x="36723" y="0"/>
                </a:moveTo>
                <a:lnTo>
                  <a:pt x="4434289" y="0"/>
                </a:lnTo>
                <a:cubicBezTo>
                  <a:pt x="4454571" y="0"/>
                  <a:pt x="4471012" y="16441"/>
                  <a:pt x="4471012" y="36723"/>
                </a:cubicBezTo>
                <a:lnTo>
                  <a:pt x="4471012" y="3360146"/>
                </a:lnTo>
                <a:cubicBezTo>
                  <a:pt x="4471012" y="3400708"/>
                  <a:pt x="4438130" y="3433590"/>
                  <a:pt x="4397568" y="3433590"/>
                </a:cubicBezTo>
                <a:lnTo>
                  <a:pt x="73444" y="3433590"/>
                </a:lnTo>
                <a:cubicBezTo>
                  <a:pt x="32882" y="3433590"/>
                  <a:pt x="0" y="3400708"/>
                  <a:pt x="0" y="336014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5" name="Shape 23"/>
          <p:cNvSpPr/>
          <p:nvPr/>
        </p:nvSpPr>
        <p:spPr>
          <a:xfrm>
            <a:off x="7351923" y="2139108"/>
            <a:ext cx="4471012" cy="36723"/>
          </a:xfrm>
          <a:custGeom>
            <a:avLst/>
            <a:gdLst/>
            <a:ahLst/>
            <a:cxnLst/>
            <a:rect l="l" t="t" r="r" b="b"/>
            <a:pathLst>
              <a:path w="4471012" h="36723">
                <a:moveTo>
                  <a:pt x="36723" y="0"/>
                </a:moveTo>
                <a:lnTo>
                  <a:pt x="4434289" y="0"/>
                </a:lnTo>
                <a:cubicBezTo>
                  <a:pt x="4454571" y="0"/>
                  <a:pt x="4471012" y="16441"/>
                  <a:pt x="4471012" y="36723"/>
                </a:cubicBezTo>
                <a:lnTo>
                  <a:pt x="4471012" y="36723"/>
                </a:lnTo>
                <a:lnTo>
                  <a:pt x="0" y="36723"/>
                </a:ln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4"/>
          <p:cNvSpPr/>
          <p:nvPr/>
        </p:nvSpPr>
        <p:spPr>
          <a:xfrm>
            <a:off x="7599802" y="2414416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100056" y="2238"/>
                </a:moveTo>
                <a:cubicBezTo>
                  <a:pt x="106468" y="-732"/>
                  <a:pt x="113870" y="-732"/>
                  <a:pt x="120282" y="2238"/>
                </a:cubicBezTo>
                <a:lnTo>
                  <a:pt x="214356" y="45703"/>
                </a:lnTo>
                <a:cubicBezTo>
                  <a:pt x="218013" y="47381"/>
                  <a:pt x="220337" y="51039"/>
                  <a:pt x="220337" y="55084"/>
                </a:cubicBezTo>
                <a:cubicBezTo>
                  <a:pt x="220337" y="59130"/>
                  <a:pt x="218013" y="62788"/>
                  <a:pt x="214356" y="64466"/>
                </a:cubicBezTo>
                <a:lnTo>
                  <a:pt x="120282" y="107931"/>
                </a:lnTo>
                <a:cubicBezTo>
                  <a:pt x="113870" y="110900"/>
                  <a:pt x="106468" y="110900"/>
                  <a:pt x="100056" y="107931"/>
                </a:cubicBezTo>
                <a:lnTo>
                  <a:pt x="5982" y="64466"/>
                </a:lnTo>
                <a:cubicBezTo>
                  <a:pt x="2324" y="62745"/>
                  <a:pt x="0" y="59087"/>
                  <a:pt x="0" y="55084"/>
                </a:cubicBezTo>
                <a:cubicBezTo>
                  <a:pt x="0" y="51082"/>
                  <a:pt x="2324" y="47381"/>
                  <a:pt x="5982" y="45703"/>
                </a:cubicBezTo>
                <a:lnTo>
                  <a:pt x="100056" y="2238"/>
                </a:lnTo>
                <a:close/>
                <a:moveTo>
                  <a:pt x="20700" y="93988"/>
                </a:moveTo>
                <a:lnTo>
                  <a:pt x="91406" y="126651"/>
                </a:lnTo>
                <a:cubicBezTo>
                  <a:pt x="103326" y="132159"/>
                  <a:pt x="117054" y="132159"/>
                  <a:pt x="128975" y="126651"/>
                </a:cubicBezTo>
                <a:lnTo>
                  <a:pt x="199681" y="93988"/>
                </a:lnTo>
                <a:lnTo>
                  <a:pt x="214356" y="100787"/>
                </a:lnTo>
                <a:cubicBezTo>
                  <a:pt x="218013" y="102465"/>
                  <a:pt x="220337" y="106123"/>
                  <a:pt x="220337" y="110169"/>
                </a:cubicBezTo>
                <a:cubicBezTo>
                  <a:pt x="220337" y="114214"/>
                  <a:pt x="218013" y="117872"/>
                  <a:pt x="214356" y="119550"/>
                </a:cubicBezTo>
                <a:lnTo>
                  <a:pt x="120282" y="163015"/>
                </a:lnTo>
                <a:cubicBezTo>
                  <a:pt x="113870" y="165985"/>
                  <a:pt x="106468" y="165985"/>
                  <a:pt x="100056" y="163015"/>
                </a:cubicBezTo>
                <a:lnTo>
                  <a:pt x="5982" y="119550"/>
                </a:lnTo>
                <a:cubicBezTo>
                  <a:pt x="2324" y="117829"/>
                  <a:pt x="0" y="114171"/>
                  <a:pt x="0" y="110169"/>
                </a:cubicBezTo>
                <a:cubicBezTo>
                  <a:pt x="0" y="106166"/>
                  <a:pt x="2324" y="102465"/>
                  <a:pt x="5982" y="100787"/>
                </a:cubicBezTo>
                <a:lnTo>
                  <a:pt x="20657" y="93988"/>
                </a:lnTo>
                <a:close/>
                <a:moveTo>
                  <a:pt x="5982" y="155871"/>
                </a:moveTo>
                <a:lnTo>
                  <a:pt x="20657" y="149072"/>
                </a:lnTo>
                <a:lnTo>
                  <a:pt x="91363" y="181735"/>
                </a:lnTo>
                <a:cubicBezTo>
                  <a:pt x="103283" y="187244"/>
                  <a:pt x="117011" y="187244"/>
                  <a:pt x="128932" y="181735"/>
                </a:cubicBezTo>
                <a:lnTo>
                  <a:pt x="199638" y="149072"/>
                </a:lnTo>
                <a:lnTo>
                  <a:pt x="214313" y="155871"/>
                </a:lnTo>
                <a:cubicBezTo>
                  <a:pt x="217970" y="157550"/>
                  <a:pt x="220294" y="161208"/>
                  <a:pt x="220294" y="165253"/>
                </a:cubicBezTo>
                <a:cubicBezTo>
                  <a:pt x="220294" y="169298"/>
                  <a:pt x="217970" y="172956"/>
                  <a:pt x="214313" y="174635"/>
                </a:cubicBezTo>
                <a:lnTo>
                  <a:pt x="120239" y="218100"/>
                </a:lnTo>
                <a:cubicBezTo>
                  <a:pt x="113827" y="221069"/>
                  <a:pt x="106425" y="221069"/>
                  <a:pt x="100013" y="218100"/>
                </a:cubicBezTo>
                <a:lnTo>
                  <a:pt x="5982" y="174635"/>
                </a:lnTo>
                <a:cubicBezTo>
                  <a:pt x="2324" y="172913"/>
                  <a:pt x="0" y="169255"/>
                  <a:pt x="0" y="165253"/>
                </a:cubicBezTo>
                <a:cubicBezTo>
                  <a:pt x="0" y="161251"/>
                  <a:pt x="2324" y="157550"/>
                  <a:pt x="5982" y="15587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7957850" y="2377807"/>
            <a:ext cx="1836145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 Tables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72260" y="2818368"/>
            <a:ext cx="4030337" cy="771181"/>
          </a:xfrm>
          <a:custGeom>
            <a:avLst/>
            <a:gdLst/>
            <a:ahLst/>
            <a:cxnLst/>
            <a:rect l="l" t="t" r="r" b="b"/>
            <a:pathLst>
              <a:path w="4030337" h="771181">
                <a:moveTo>
                  <a:pt x="73447" y="0"/>
                </a:moveTo>
                <a:lnTo>
                  <a:pt x="3956890" y="0"/>
                </a:lnTo>
                <a:cubicBezTo>
                  <a:pt x="3997454" y="0"/>
                  <a:pt x="4030337" y="32883"/>
                  <a:pt x="4030337" y="73447"/>
                </a:cubicBezTo>
                <a:lnTo>
                  <a:pt x="4030337" y="697733"/>
                </a:lnTo>
                <a:cubicBezTo>
                  <a:pt x="4030337" y="738297"/>
                  <a:pt x="3997454" y="771181"/>
                  <a:pt x="3956890" y="771181"/>
                </a:cubicBezTo>
                <a:lnTo>
                  <a:pt x="73447" y="771181"/>
                </a:lnTo>
                <a:cubicBezTo>
                  <a:pt x="32911" y="771181"/>
                  <a:pt x="0" y="738270"/>
                  <a:pt x="0" y="697733"/>
                </a:cubicBezTo>
                <a:lnTo>
                  <a:pt x="0" y="73447"/>
                </a:lnTo>
                <a:cubicBezTo>
                  <a:pt x="0" y="32883"/>
                  <a:pt x="32883" y="0"/>
                  <a:pt x="73447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4724" y="2974440"/>
            <a:ext cx="206566" cy="165253"/>
          </a:xfrm>
          <a:custGeom>
            <a:avLst/>
            <a:gdLst/>
            <a:ahLst/>
            <a:cxnLst/>
            <a:rect l="l" t="t" r="r" b="b"/>
            <a:pathLst>
              <a:path w="206566" h="165253">
                <a:moveTo>
                  <a:pt x="103283" y="5164"/>
                </a:moveTo>
                <a:cubicBezTo>
                  <a:pt x="121809" y="5164"/>
                  <a:pt x="136850" y="20205"/>
                  <a:pt x="136850" y="38731"/>
                </a:cubicBezTo>
                <a:cubicBezTo>
                  <a:pt x="136850" y="57257"/>
                  <a:pt x="121809" y="72298"/>
                  <a:pt x="103283" y="72298"/>
                </a:cubicBezTo>
                <a:cubicBezTo>
                  <a:pt x="84757" y="72298"/>
                  <a:pt x="69716" y="57257"/>
                  <a:pt x="69716" y="38731"/>
                </a:cubicBezTo>
                <a:cubicBezTo>
                  <a:pt x="69716" y="20205"/>
                  <a:pt x="84757" y="5164"/>
                  <a:pt x="103283" y="5164"/>
                </a:cubicBezTo>
                <a:close/>
                <a:moveTo>
                  <a:pt x="30985" y="28403"/>
                </a:moveTo>
                <a:cubicBezTo>
                  <a:pt x="43811" y="28403"/>
                  <a:pt x="54224" y="38816"/>
                  <a:pt x="54224" y="51642"/>
                </a:cubicBezTo>
                <a:cubicBezTo>
                  <a:pt x="54224" y="64467"/>
                  <a:pt x="43811" y="74880"/>
                  <a:pt x="30985" y="74880"/>
                </a:cubicBezTo>
                <a:cubicBezTo>
                  <a:pt x="18159" y="74880"/>
                  <a:pt x="7746" y="64467"/>
                  <a:pt x="7746" y="51642"/>
                </a:cubicBezTo>
                <a:cubicBezTo>
                  <a:pt x="7746" y="38816"/>
                  <a:pt x="18159" y="28403"/>
                  <a:pt x="30985" y="28403"/>
                </a:cubicBezTo>
                <a:close/>
                <a:moveTo>
                  <a:pt x="0" y="134268"/>
                </a:moveTo>
                <a:cubicBezTo>
                  <a:pt x="0" y="111449"/>
                  <a:pt x="18494" y="92955"/>
                  <a:pt x="41313" y="92955"/>
                </a:cubicBezTo>
                <a:cubicBezTo>
                  <a:pt x="45445" y="92955"/>
                  <a:pt x="49447" y="93568"/>
                  <a:pt x="53223" y="94698"/>
                </a:cubicBezTo>
                <a:cubicBezTo>
                  <a:pt x="42604" y="106575"/>
                  <a:pt x="36149" y="122261"/>
                  <a:pt x="36149" y="139432"/>
                </a:cubicBezTo>
                <a:lnTo>
                  <a:pt x="36149" y="144596"/>
                </a:lnTo>
                <a:cubicBezTo>
                  <a:pt x="36149" y="148276"/>
                  <a:pt x="36924" y="151762"/>
                  <a:pt x="38312" y="154925"/>
                </a:cubicBezTo>
                <a:lnTo>
                  <a:pt x="10328" y="154925"/>
                </a:lnTo>
                <a:cubicBezTo>
                  <a:pt x="4615" y="154925"/>
                  <a:pt x="0" y="150309"/>
                  <a:pt x="0" y="144596"/>
                </a:cubicBezTo>
                <a:lnTo>
                  <a:pt x="0" y="134268"/>
                </a:lnTo>
                <a:close/>
                <a:moveTo>
                  <a:pt x="168255" y="154925"/>
                </a:moveTo>
                <a:cubicBezTo>
                  <a:pt x="169643" y="151762"/>
                  <a:pt x="170417" y="148276"/>
                  <a:pt x="170417" y="144596"/>
                </a:cubicBezTo>
                <a:lnTo>
                  <a:pt x="170417" y="139432"/>
                </a:lnTo>
                <a:cubicBezTo>
                  <a:pt x="170417" y="122261"/>
                  <a:pt x="163962" y="106575"/>
                  <a:pt x="153343" y="94698"/>
                </a:cubicBezTo>
                <a:cubicBezTo>
                  <a:pt x="157119" y="93568"/>
                  <a:pt x="161122" y="92955"/>
                  <a:pt x="165253" y="92955"/>
                </a:cubicBezTo>
                <a:cubicBezTo>
                  <a:pt x="188072" y="92955"/>
                  <a:pt x="206566" y="111449"/>
                  <a:pt x="206566" y="134268"/>
                </a:cubicBezTo>
                <a:lnTo>
                  <a:pt x="206566" y="144596"/>
                </a:lnTo>
                <a:cubicBezTo>
                  <a:pt x="206566" y="150309"/>
                  <a:pt x="201951" y="154925"/>
                  <a:pt x="196238" y="154925"/>
                </a:cubicBezTo>
                <a:lnTo>
                  <a:pt x="168255" y="154925"/>
                </a:lnTo>
                <a:close/>
                <a:moveTo>
                  <a:pt x="152343" y="51642"/>
                </a:moveTo>
                <a:cubicBezTo>
                  <a:pt x="152343" y="38816"/>
                  <a:pt x="162756" y="28403"/>
                  <a:pt x="175581" y="28403"/>
                </a:cubicBezTo>
                <a:cubicBezTo>
                  <a:pt x="188407" y="28403"/>
                  <a:pt x="198820" y="38816"/>
                  <a:pt x="198820" y="51642"/>
                </a:cubicBezTo>
                <a:cubicBezTo>
                  <a:pt x="198820" y="64467"/>
                  <a:pt x="188407" y="74880"/>
                  <a:pt x="175581" y="74880"/>
                </a:cubicBezTo>
                <a:cubicBezTo>
                  <a:pt x="162756" y="74880"/>
                  <a:pt x="152343" y="64467"/>
                  <a:pt x="152343" y="51642"/>
                </a:cubicBezTo>
                <a:close/>
                <a:moveTo>
                  <a:pt x="51642" y="139432"/>
                </a:moveTo>
                <a:cubicBezTo>
                  <a:pt x="51642" y="110900"/>
                  <a:pt x="74751" y="87791"/>
                  <a:pt x="103283" y="87791"/>
                </a:cubicBezTo>
                <a:cubicBezTo>
                  <a:pt x="131815" y="87791"/>
                  <a:pt x="154925" y="110900"/>
                  <a:pt x="154925" y="139432"/>
                </a:cubicBezTo>
                <a:lnTo>
                  <a:pt x="154925" y="144596"/>
                </a:lnTo>
                <a:cubicBezTo>
                  <a:pt x="154925" y="150309"/>
                  <a:pt x="150309" y="154925"/>
                  <a:pt x="144596" y="154925"/>
                </a:cubicBezTo>
                <a:lnTo>
                  <a:pt x="61970" y="154925"/>
                </a:lnTo>
                <a:cubicBezTo>
                  <a:pt x="56257" y="154925"/>
                  <a:pt x="51642" y="150309"/>
                  <a:pt x="51642" y="144596"/>
                </a:cubicBezTo>
                <a:lnTo>
                  <a:pt x="51642" y="13943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Text 28"/>
          <p:cNvSpPr/>
          <p:nvPr/>
        </p:nvSpPr>
        <p:spPr>
          <a:xfrm>
            <a:off x="7999164" y="2928536"/>
            <a:ext cx="121185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dim_customers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2429" y="3259042"/>
            <a:ext cx="3883446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attributes and demographics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72260" y="3699717"/>
            <a:ext cx="4030337" cy="771181"/>
          </a:xfrm>
          <a:custGeom>
            <a:avLst/>
            <a:gdLst/>
            <a:ahLst/>
            <a:cxnLst/>
            <a:rect l="l" t="t" r="r" b="b"/>
            <a:pathLst>
              <a:path w="4030337" h="771181">
                <a:moveTo>
                  <a:pt x="73447" y="0"/>
                </a:moveTo>
                <a:lnTo>
                  <a:pt x="3956890" y="0"/>
                </a:lnTo>
                <a:cubicBezTo>
                  <a:pt x="3997454" y="0"/>
                  <a:pt x="4030337" y="32883"/>
                  <a:pt x="4030337" y="73447"/>
                </a:cubicBezTo>
                <a:lnTo>
                  <a:pt x="4030337" y="697733"/>
                </a:lnTo>
                <a:cubicBezTo>
                  <a:pt x="4030337" y="738297"/>
                  <a:pt x="3997454" y="771181"/>
                  <a:pt x="3956890" y="771181"/>
                </a:cubicBezTo>
                <a:lnTo>
                  <a:pt x="73447" y="771181"/>
                </a:lnTo>
                <a:cubicBezTo>
                  <a:pt x="32911" y="771181"/>
                  <a:pt x="0" y="738270"/>
                  <a:pt x="0" y="697733"/>
                </a:cubicBezTo>
                <a:lnTo>
                  <a:pt x="0" y="73447"/>
                </a:lnTo>
                <a:cubicBezTo>
                  <a:pt x="0" y="32883"/>
                  <a:pt x="32883" y="0"/>
                  <a:pt x="73447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3" name="Shape 31"/>
          <p:cNvSpPr/>
          <p:nvPr/>
        </p:nvSpPr>
        <p:spPr>
          <a:xfrm>
            <a:off x="7715709" y="3855789"/>
            <a:ext cx="144596" cy="165253"/>
          </a:xfrm>
          <a:custGeom>
            <a:avLst/>
            <a:gdLst/>
            <a:ahLst/>
            <a:cxnLst/>
            <a:rect l="l" t="t" r="r" b="b"/>
            <a:pathLst>
              <a:path w="144596" h="165253">
                <a:moveTo>
                  <a:pt x="119227" y="41313"/>
                </a:moveTo>
                <a:lnTo>
                  <a:pt x="108157" y="25821"/>
                </a:lnTo>
                <a:lnTo>
                  <a:pt x="36472" y="25821"/>
                </a:lnTo>
                <a:lnTo>
                  <a:pt x="25401" y="41313"/>
                </a:lnTo>
                <a:lnTo>
                  <a:pt x="119227" y="41313"/>
                </a:lnTo>
                <a:close/>
                <a:moveTo>
                  <a:pt x="0" y="47930"/>
                </a:moveTo>
                <a:cubicBezTo>
                  <a:pt x="0" y="43637"/>
                  <a:pt x="1356" y="39441"/>
                  <a:pt x="3841" y="35923"/>
                </a:cubicBezTo>
                <a:lnTo>
                  <a:pt x="19656" y="13814"/>
                </a:lnTo>
                <a:cubicBezTo>
                  <a:pt x="23529" y="8392"/>
                  <a:pt x="29791" y="5164"/>
                  <a:pt x="36440" y="5164"/>
                </a:cubicBezTo>
                <a:lnTo>
                  <a:pt x="108125" y="5164"/>
                </a:lnTo>
                <a:cubicBezTo>
                  <a:pt x="114806" y="5164"/>
                  <a:pt x="121067" y="8392"/>
                  <a:pt x="124940" y="13814"/>
                </a:cubicBezTo>
                <a:lnTo>
                  <a:pt x="140723" y="35923"/>
                </a:lnTo>
                <a:cubicBezTo>
                  <a:pt x="143241" y="39441"/>
                  <a:pt x="144564" y="43637"/>
                  <a:pt x="144564" y="47930"/>
                </a:cubicBezTo>
                <a:lnTo>
                  <a:pt x="144596" y="134268"/>
                </a:lnTo>
                <a:cubicBezTo>
                  <a:pt x="144596" y="145661"/>
                  <a:pt x="135333" y="154925"/>
                  <a:pt x="123940" y="154925"/>
                </a:cubicBezTo>
                <a:lnTo>
                  <a:pt x="20657" y="154925"/>
                </a:lnTo>
                <a:cubicBezTo>
                  <a:pt x="9263" y="154925"/>
                  <a:pt x="0" y="145661"/>
                  <a:pt x="0" y="134268"/>
                </a:cubicBezTo>
                <a:lnTo>
                  <a:pt x="0" y="4793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4" name="Text 32"/>
          <p:cNvSpPr/>
          <p:nvPr/>
        </p:nvSpPr>
        <p:spPr>
          <a:xfrm>
            <a:off x="7999164" y="3809886"/>
            <a:ext cx="1092506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dim_products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82429" y="4140392"/>
            <a:ext cx="3883446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category and subcategory information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72260" y="4581066"/>
            <a:ext cx="4030337" cy="771181"/>
          </a:xfrm>
          <a:custGeom>
            <a:avLst/>
            <a:gdLst/>
            <a:ahLst/>
            <a:cxnLst/>
            <a:rect l="l" t="t" r="r" b="b"/>
            <a:pathLst>
              <a:path w="4030337" h="771181">
                <a:moveTo>
                  <a:pt x="73447" y="0"/>
                </a:moveTo>
                <a:lnTo>
                  <a:pt x="3956890" y="0"/>
                </a:lnTo>
                <a:cubicBezTo>
                  <a:pt x="3997454" y="0"/>
                  <a:pt x="4030337" y="32883"/>
                  <a:pt x="4030337" y="73447"/>
                </a:cubicBezTo>
                <a:lnTo>
                  <a:pt x="4030337" y="697733"/>
                </a:lnTo>
                <a:cubicBezTo>
                  <a:pt x="4030337" y="738297"/>
                  <a:pt x="3997454" y="771181"/>
                  <a:pt x="3956890" y="771181"/>
                </a:cubicBezTo>
                <a:lnTo>
                  <a:pt x="73447" y="771181"/>
                </a:lnTo>
                <a:cubicBezTo>
                  <a:pt x="32911" y="771181"/>
                  <a:pt x="0" y="738270"/>
                  <a:pt x="0" y="697733"/>
                </a:cubicBezTo>
                <a:lnTo>
                  <a:pt x="0" y="73447"/>
                </a:lnTo>
                <a:cubicBezTo>
                  <a:pt x="0" y="32883"/>
                  <a:pt x="32883" y="0"/>
                  <a:pt x="73447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7" name="Shape 35"/>
          <p:cNvSpPr/>
          <p:nvPr/>
        </p:nvSpPr>
        <p:spPr>
          <a:xfrm>
            <a:off x="7726037" y="4737139"/>
            <a:ext cx="123940" cy="165253"/>
          </a:xfrm>
          <a:custGeom>
            <a:avLst/>
            <a:gdLst/>
            <a:ahLst/>
            <a:cxnLst/>
            <a:rect l="l" t="t" r="r" b="b"/>
            <a:pathLst>
              <a:path w="123940" h="165253">
                <a:moveTo>
                  <a:pt x="0" y="60872"/>
                </a:moveTo>
                <a:cubicBezTo>
                  <a:pt x="0" y="27241"/>
                  <a:pt x="27757" y="0"/>
                  <a:pt x="61970" y="0"/>
                </a:cubicBezTo>
                <a:cubicBezTo>
                  <a:pt x="96182" y="0"/>
                  <a:pt x="123940" y="27241"/>
                  <a:pt x="123940" y="60872"/>
                </a:cubicBezTo>
                <a:cubicBezTo>
                  <a:pt x="123940" y="99378"/>
                  <a:pt x="85144" y="145532"/>
                  <a:pt x="68941" y="163123"/>
                </a:cubicBezTo>
                <a:cubicBezTo>
                  <a:pt x="65133" y="167254"/>
                  <a:pt x="58775" y="167254"/>
                  <a:pt x="54966" y="163123"/>
                </a:cubicBezTo>
                <a:cubicBezTo>
                  <a:pt x="38763" y="145532"/>
                  <a:pt x="-32" y="99378"/>
                  <a:pt x="-32" y="60872"/>
                </a:cubicBezTo>
                <a:close/>
                <a:moveTo>
                  <a:pt x="61970" y="82627"/>
                </a:moveTo>
                <a:cubicBezTo>
                  <a:pt x="73371" y="82627"/>
                  <a:pt x="82627" y="73371"/>
                  <a:pt x="82627" y="61970"/>
                </a:cubicBezTo>
                <a:cubicBezTo>
                  <a:pt x="82627" y="50569"/>
                  <a:pt x="73371" y="41313"/>
                  <a:pt x="61970" y="41313"/>
                </a:cubicBezTo>
                <a:cubicBezTo>
                  <a:pt x="50569" y="41313"/>
                  <a:pt x="41313" y="50569"/>
                  <a:pt x="41313" y="61970"/>
                </a:cubicBezTo>
                <a:cubicBezTo>
                  <a:pt x="41313" y="73371"/>
                  <a:pt x="50569" y="82627"/>
                  <a:pt x="61970" y="8262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7999164" y="4691235"/>
            <a:ext cx="101906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dim_location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82429" y="5021741"/>
            <a:ext cx="3883446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Geographical attributes and regions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70284" y="5719476"/>
            <a:ext cx="4452651" cy="771181"/>
          </a:xfrm>
          <a:custGeom>
            <a:avLst/>
            <a:gdLst/>
            <a:ahLst/>
            <a:cxnLst/>
            <a:rect l="l" t="t" r="r" b="b"/>
            <a:pathLst>
              <a:path w="4452651" h="771181">
                <a:moveTo>
                  <a:pt x="36723" y="0"/>
                </a:moveTo>
                <a:lnTo>
                  <a:pt x="4379203" y="0"/>
                </a:lnTo>
                <a:cubicBezTo>
                  <a:pt x="4419767" y="0"/>
                  <a:pt x="4452651" y="32883"/>
                  <a:pt x="4452651" y="73447"/>
                </a:cubicBezTo>
                <a:lnTo>
                  <a:pt x="4452651" y="697733"/>
                </a:lnTo>
                <a:cubicBezTo>
                  <a:pt x="4452651" y="738297"/>
                  <a:pt x="4419767" y="771181"/>
                  <a:pt x="4379203" y="771181"/>
                </a:cubicBezTo>
                <a:lnTo>
                  <a:pt x="36723" y="771181"/>
                </a:lnTo>
                <a:cubicBezTo>
                  <a:pt x="16441" y="771181"/>
                  <a:pt x="0" y="754739"/>
                  <a:pt x="0" y="734458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70284" y="5719476"/>
            <a:ext cx="36723" cy="771181"/>
          </a:xfrm>
          <a:custGeom>
            <a:avLst/>
            <a:gdLst/>
            <a:ahLst/>
            <a:cxnLst/>
            <a:rect l="l" t="t" r="r" b="b"/>
            <a:pathLst>
              <a:path w="36723" h="771181">
                <a:moveTo>
                  <a:pt x="36723" y="0"/>
                </a:moveTo>
                <a:lnTo>
                  <a:pt x="36723" y="0"/>
                </a:lnTo>
                <a:lnTo>
                  <a:pt x="36723" y="771181"/>
                </a:lnTo>
                <a:lnTo>
                  <a:pt x="36723" y="771181"/>
                </a:lnTo>
                <a:cubicBezTo>
                  <a:pt x="16441" y="771181"/>
                  <a:pt x="0" y="754739"/>
                  <a:pt x="0" y="734458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Shape 40"/>
          <p:cNvSpPr/>
          <p:nvPr/>
        </p:nvSpPr>
        <p:spPr>
          <a:xfrm>
            <a:off x="7540128" y="5903091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91807" y="183614"/>
                </a:moveTo>
                <a:cubicBezTo>
                  <a:pt x="142477" y="183614"/>
                  <a:pt x="183614" y="142477"/>
                  <a:pt x="183614" y="91807"/>
                </a:cubicBezTo>
                <a:cubicBezTo>
                  <a:pt x="183614" y="41137"/>
                  <a:pt x="142477" y="0"/>
                  <a:pt x="91807" y="0"/>
                </a:cubicBezTo>
                <a:cubicBezTo>
                  <a:pt x="41137" y="0"/>
                  <a:pt x="0" y="41137"/>
                  <a:pt x="0" y="91807"/>
                </a:cubicBezTo>
                <a:cubicBezTo>
                  <a:pt x="0" y="142477"/>
                  <a:pt x="41137" y="183614"/>
                  <a:pt x="91807" y="183614"/>
                </a:cubicBezTo>
                <a:close/>
                <a:moveTo>
                  <a:pt x="122075" y="76279"/>
                </a:moveTo>
                <a:lnTo>
                  <a:pt x="93385" y="122183"/>
                </a:lnTo>
                <a:cubicBezTo>
                  <a:pt x="91879" y="124585"/>
                  <a:pt x="89297" y="126091"/>
                  <a:pt x="86464" y="126235"/>
                </a:cubicBezTo>
                <a:cubicBezTo>
                  <a:pt x="83631" y="126378"/>
                  <a:pt x="80905" y="125087"/>
                  <a:pt x="79220" y="122792"/>
                </a:cubicBezTo>
                <a:lnTo>
                  <a:pt x="62006" y="99840"/>
                </a:lnTo>
                <a:cubicBezTo>
                  <a:pt x="59137" y="96039"/>
                  <a:pt x="59926" y="90660"/>
                  <a:pt x="63727" y="87791"/>
                </a:cubicBezTo>
                <a:cubicBezTo>
                  <a:pt x="67529" y="84922"/>
                  <a:pt x="72908" y="85711"/>
                  <a:pt x="75777" y="89512"/>
                </a:cubicBezTo>
                <a:lnTo>
                  <a:pt x="85460" y="102422"/>
                </a:lnTo>
                <a:lnTo>
                  <a:pt x="107479" y="67170"/>
                </a:lnTo>
                <a:cubicBezTo>
                  <a:pt x="109989" y="63153"/>
                  <a:pt x="115297" y="61898"/>
                  <a:pt x="119349" y="64444"/>
                </a:cubicBezTo>
                <a:cubicBezTo>
                  <a:pt x="123402" y="66991"/>
                  <a:pt x="124621" y="72262"/>
                  <a:pt x="122075" y="7631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3" name="Text 41"/>
          <p:cNvSpPr/>
          <p:nvPr/>
        </p:nvSpPr>
        <p:spPr>
          <a:xfrm>
            <a:off x="7840337" y="5866368"/>
            <a:ext cx="3910988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structure supports </a:t>
            </a:r>
            <a:pPr>
              <a:lnSpc>
                <a:spcPct val="140000"/>
              </a:lnSpc>
            </a:pPr>
            <a:r>
              <a:rPr lang="en-US" sz="115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filtering</a:t>
            </a:r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5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multi-dimensional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58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Performance Metrics - Sales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5811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5"/>
          <p:cNvSpPr/>
          <p:nvPr/>
        </p:nvSpPr>
        <p:spPr>
          <a:xfrm>
            <a:off x="1665684" y="1790700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21907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Sales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9555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$733K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76600" y="15811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1" name="Shape 9"/>
          <p:cNvSpPr/>
          <p:nvPr/>
        </p:nvSpPr>
        <p:spPr>
          <a:xfrm>
            <a:off x="32766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7706" y="17907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53578"/>
                </a:moveTo>
                <a:lnTo>
                  <a:pt x="71438" y="44648"/>
                </a:lnTo>
                <a:cubicBezTo>
                  <a:pt x="71438" y="19980"/>
                  <a:pt x="119435" y="0"/>
                  <a:pt x="178594" y="0"/>
                </a:cubicBezTo>
                <a:cubicBezTo>
                  <a:pt x="237753" y="0"/>
                  <a:pt x="285750" y="19980"/>
                  <a:pt x="285750" y="44648"/>
                </a:cubicBezTo>
                <a:lnTo>
                  <a:pt x="285750" y="53578"/>
                </a:lnTo>
                <a:cubicBezTo>
                  <a:pt x="285750" y="70656"/>
                  <a:pt x="262700" y="85502"/>
                  <a:pt x="228823" y="93036"/>
                </a:cubicBezTo>
                <a:cubicBezTo>
                  <a:pt x="227484" y="91473"/>
                  <a:pt x="226089" y="89967"/>
                  <a:pt x="224693" y="88571"/>
                </a:cubicBezTo>
                <a:cubicBezTo>
                  <a:pt x="216043" y="80032"/>
                  <a:pt x="204881" y="73558"/>
                  <a:pt x="193216" y="68759"/>
                </a:cubicBezTo>
                <a:cubicBezTo>
                  <a:pt x="169831" y="58992"/>
                  <a:pt x="139359" y="53634"/>
                  <a:pt x="107156" y="53634"/>
                </a:cubicBezTo>
                <a:cubicBezTo>
                  <a:pt x="94934" y="53634"/>
                  <a:pt x="82990" y="54415"/>
                  <a:pt x="71549" y="55922"/>
                </a:cubicBezTo>
                <a:cubicBezTo>
                  <a:pt x="71438" y="55197"/>
                  <a:pt x="71438" y="54415"/>
                  <a:pt x="71438" y="53634"/>
                </a:cubicBezTo>
                <a:close/>
                <a:moveTo>
                  <a:pt x="241102" y="197011"/>
                </a:moveTo>
                <a:lnTo>
                  <a:pt x="241102" y="171227"/>
                </a:lnTo>
                <a:cubicBezTo>
                  <a:pt x="249529" y="169050"/>
                  <a:pt x="257454" y="166483"/>
                  <a:pt x="264654" y="163469"/>
                </a:cubicBezTo>
                <a:cubicBezTo>
                  <a:pt x="272021" y="160400"/>
                  <a:pt x="279220" y="156660"/>
                  <a:pt x="285750" y="152140"/>
                </a:cubicBezTo>
                <a:lnTo>
                  <a:pt x="285750" y="160734"/>
                </a:lnTo>
                <a:cubicBezTo>
                  <a:pt x="285750" y="175692"/>
                  <a:pt x="268170" y="188919"/>
                  <a:pt x="241102" y="197011"/>
                </a:cubicBezTo>
                <a:close/>
                <a:moveTo>
                  <a:pt x="241102" y="143433"/>
                </a:moveTo>
                <a:lnTo>
                  <a:pt x="241102" y="125016"/>
                </a:lnTo>
                <a:cubicBezTo>
                  <a:pt x="241102" y="122504"/>
                  <a:pt x="240878" y="120104"/>
                  <a:pt x="240543" y="117760"/>
                </a:cubicBezTo>
                <a:cubicBezTo>
                  <a:pt x="249194" y="115584"/>
                  <a:pt x="257287" y="112961"/>
                  <a:pt x="264654" y="109835"/>
                </a:cubicBezTo>
                <a:cubicBezTo>
                  <a:pt x="272021" y="106710"/>
                  <a:pt x="279220" y="103026"/>
                  <a:pt x="285750" y="98506"/>
                </a:cubicBezTo>
                <a:lnTo>
                  <a:pt x="285750" y="107100"/>
                </a:lnTo>
                <a:cubicBezTo>
                  <a:pt x="285750" y="122058"/>
                  <a:pt x="268170" y="135285"/>
                  <a:pt x="241102" y="143377"/>
                </a:cubicBezTo>
                <a:close/>
                <a:moveTo>
                  <a:pt x="0" y="133945"/>
                </a:moveTo>
                <a:lnTo>
                  <a:pt x="0" y="125016"/>
                </a:lnTo>
                <a:cubicBezTo>
                  <a:pt x="0" y="100347"/>
                  <a:pt x="47997" y="80367"/>
                  <a:pt x="107156" y="80367"/>
                </a:cubicBezTo>
                <a:cubicBezTo>
                  <a:pt x="166315" y="80367"/>
                  <a:pt x="214313" y="100347"/>
                  <a:pt x="214313" y="125016"/>
                </a:cubicBezTo>
                <a:lnTo>
                  <a:pt x="214313" y="133945"/>
                </a:lnTo>
                <a:cubicBezTo>
                  <a:pt x="214313" y="158614"/>
                  <a:pt x="166315" y="178594"/>
                  <a:pt x="107156" y="178594"/>
                </a:cubicBezTo>
                <a:cubicBezTo>
                  <a:pt x="47997" y="178594"/>
                  <a:pt x="0" y="158614"/>
                  <a:pt x="0" y="133945"/>
                </a:cubicBezTo>
                <a:close/>
                <a:moveTo>
                  <a:pt x="214313" y="187523"/>
                </a:moveTo>
                <a:cubicBezTo>
                  <a:pt x="214313" y="212192"/>
                  <a:pt x="166315" y="232172"/>
                  <a:pt x="107156" y="232172"/>
                </a:cubicBezTo>
                <a:cubicBezTo>
                  <a:pt x="47997" y="232172"/>
                  <a:pt x="0" y="212192"/>
                  <a:pt x="0" y="187523"/>
                </a:cubicBezTo>
                <a:lnTo>
                  <a:pt x="0" y="178929"/>
                </a:lnTo>
                <a:cubicBezTo>
                  <a:pt x="6474" y="183449"/>
                  <a:pt x="13674" y="187133"/>
                  <a:pt x="21096" y="190258"/>
                </a:cubicBezTo>
                <a:cubicBezTo>
                  <a:pt x="44481" y="200025"/>
                  <a:pt x="74954" y="205383"/>
                  <a:pt x="107156" y="205383"/>
                </a:cubicBezTo>
                <a:cubicBezTo>
                  <a:pt x="139359" y="205383"/>
                  <a:pt x="169831" y="199969"/>
                  <a:pt x="193216" y="190258"/>
                </a:cubicBezTo>
                <a:cubicBezTo>
                  <a:pt x="200583" y="187189"/>
                  <a:pt x="207783" y="183449"/>
                  <a:pt x="214313" y="178929"/>
                </a:cubicBezTo>
                <a:lnTo>
                  <a:pt x="214313" y="187523"/>
                </a:lnTo>
                <a:close/>
                <a:moveTo>
                  <a:pt x="214313" y="232507"/>
                </a:moveTo>
                <a:lnTo>
                  <a:pt x="214313" y="241102"/>
                </a:lnTo>
                <a:cubicBezTo>
                  <a:pt x="214313" y="265770"/>
                  <a:pt x="166315" y="285750"/>
                  <a:pt x="107156" y="285750"/>
                </a:cubicBezTo>
                <a:cubicBezTo>
                  <a:pt x="47997" y="285750"/>
                  <a:pt x="0" y="265770"/>
                  <a:pt x="0" y="241102"/>
                </a:cubicBezTo>
                <a:lnTo>
                  <a:pt x="0" y="232507"/>
                </a:lnTo>
                <a:cubicBezTo>
                  <a:pt x="6474" y="237027"/>
                  <a:pt x="13674" y="240711"/>
                  <a:pt x="21096" y="243836"/>
                </a:cubicBezTo>
                <a:cubicBezTo>
                  <a:pt x="44481" y="253603"/>
                  <a:pt x="74954" y="258961"/>
                  <a:pt x="107156" y="258961"/>
                </a:cubicBezTo>
                <a:cubicBezTo>
                  <a:pt x="139359" y="258961"/>
                  <a:pt x="169831" y="253547"/>
                  <a:pt x="193216" y="243836"/>
                </a:cubicBezTo>
                <a:cubicBezTo>
                  <a:pt x="200583" y="240767"/>
                  <a:pt x="207783" y="237027"/>
                  <a:pt x="214313" y="23250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907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Profit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52800" y="249555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$93K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5811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3306" y="17907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8502" y="-726"/>
                </a:moveTo>
                <a:cubicBezTo>
                  <a:pt x="148847" y="-6307"/>
                  <a:pt x="136903" y="-6307"/>
                  <a:pt x="127248" y="-726"/>
                </a:cubicBezTo>
                <a:lnTo>
                  <a:pt x="80256" y="26398"/>
                </a:lnTo>
                <a:cubicBezTo>
                  <a:pt x="70600" y="31979"/>
                  <a:pt x="64629" y="42304"/>
                  <a:pt x="64629" y="53467"/>
                </a:cubicBezTo>
                <a:lnTo>
                  <a:pt x="64629" y="110337"/>
                </a:lnTo>
                <a:lnTo>
                  <a:pt x="15348" y="138801"/>
                </a:lnTo>
                <a:cubicBezTo>
                  <a:pt x="5693" y="144382"/>
                  <a:pt x="-279" y="154707"/>
                  <a:pt x="-279" y="165869"/>
                </a:cubicBezTo>
                <a:lnTo>
                  <a:pt x="-279" y="220173"/>
                </a:lnTo>
                <a:cubicBezTo>
                  <a:pt x="-279" y="231335"/>
                  <a:pt x="5693" y="241660"/>
                  <a:pt x="15348" y="247241"/>
                </a:cubicBezTo>
                <a:lnTo>
                  <a:pt x="62396" y="274365"/>
                </a:lnTo>
                <a:cubicBezTo>
                  <a:pt x="72051" y="279946"/>
                  <a:pt x="83995" y="279946"/>
                  <a:pt x="93650" y="274365"/>
                </a:cubicBezTo>
                <a:lnTo>
                  <a:pt x="142931" y="245901"/>
                </a:lnTo>
                <a:lnTo>
                  <a:pt x="192212" y="274365"/>
                </a:lnTo>
                <a:cubicBezTo>
                  <a:pt x="201867" y="279946"/>
                  <a:pt x="213810" y="279946"/>
                  <a:pt x="223465" y="274365"/>
                </a:cubicBezTo>
                <a:lnTo>
                  <a:pt x="270402" y="247241"/>
                </a:lnTo>
                <a:cubicBezTo>
                  <a:pt x="280057" y="241660"/>
                  <a:pt x="286029" y="231335"/>
                  <a:pt x="286029" y="220173"/>
                </a:cubicBezTo>
                <a:lnTo>
                  <a:pt x="286029" y="165869"/>
                </a:lnTo>
                <a:cubicBezTo>
                  <a:pt x="286029" y="154707"/>
                  <a:pt x="280057" y="144382"/>
                  <a:pt x="270402" y="138801"/>
                </a:cubicBezTo>
                <a:lnTo>
                  <a:pt x="221121" y="110337"/>
                </a:lnTo>
                <a:lnTo>
                  <a:pt x="221121" y="53467"/>
                </a:lnTo>
                <a:cubicBezTo>
                  <a:pt x="221121" y="42304"/>
                  <a:pt x="215150" y="31979"/>
                  <a:pt x="205494" y="26398"/>
                </a:cubicBezTo>
                <a:lnTo>
                  <a:pt x="158502" y="-726"/>
                </a:lnTo>
                <a:close/>
                <a:moveTo>
                  <a:pt x="129480" y="163302"/>
                </a:moveTo>
                <a:lnTo>
                  <a:pt x="129480" y="222740"/>
                </a:lnTo>
                <a:lnTo>
                  <a:pt x="80200" y="251203"/>
                </a:lnTo>
                <a:cubicBezTo>
                  <a:pt x="79530" y="251594"/>
                  <a:pt x="78749" y="251817"/>
                  <a:pt x="77967" y="251817"/>
                </a:cubicBezTo>
                <a:lnTo>
                  <a:pt x="77967" y="193049"/>
                </a:lnTo>
                <a:lnTo>
                  <a:pt x="129480" y="163302"/>
                </a:lnTo>
                <a:close/>
                <a:moveTo>
                  <a:pt x="258626" y="163637"/>
                </a:moveTo>
                <a:cubicBezTo>
                  <a:pt x="259017" y="164306"/>
                  <a:pt x="259240" y="165088"/>
                  <a:pt x="259240" y="165869"/>
                </a:cubicBezTo>
                <a:lnTo>
                  <a:pt x="259240" y="220173"/>
                </a:lnTo>
                <a:cubicBezTo>
                  <a:pt x="259240" y="221791"/>
                  <a:pt x="258403" y="223242"/>
                  <a:pt x="257008" y="224024"/>
                </a:cubicBezTo>
                <a:lnTo>
                  <a:pt x="209959" y="251147"/>
                </a:lnTo>
                <a:cubicBezTo>
                  <a:pt x="209290" y="251538"/>
                  <a:pt x="208508" y="251761"/>
                  <a:pt x="207727" y="251761"/>
                </a:cubicBezTo>
                <a:lnTo>
                  <a:pt x="207727" y="192993"/>
                </a:lnTo>
                <a:lnTo>
                  <a:pt x="258626" y="163637"/>
                </a:lnTo>
                <a:close/>
                <a:moveTo>
                  <a:pt x="194388" y="53467"/>
                </a:moveTo>
                <a:lnTo>
                  <a:pt x="194388" y="110337"/>
                </a:lnTo>
                <a:lnTo>
                  <a:pt x="142875" y="140084"/>
                </a:lnTo>
                <a:lnTo>
                  <a:pt x="142875" y="80646"/>
                </a:lnTo>
                <a:lnTo>
                  <a:pt x="193774" y="51290"/>
                </a:lnTo>
                <a:cubicBezTo>
                  <a:pt x="194165" y="51960"/>
                  <a:pt x="194388" y="52741"/>
                  <a:pt x="194388" y="5352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6324600" y="21907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Quantity Sold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8400" y="249555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67800" y="1581150"/>
            <a:ext cx="2743200" cy="1562100"/>
          </a:xfrm>
          <a:custGeom>
            <a:avLst/>
            <a:gdLst/>
            <a:ahLst/>
            <a:cxnLst/>
            <a:rect l="l" t="t" r="r" b="b"/>
            <a:pathLst>
              <a:path w="2743200" h="1562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485901"/>
                </a:lnTo>
                <a:cubicBezTo>
                  <a:pt x="2743200" y="1527984"/>
                  <a:pt x="2709084" y="1562100"/>
                  <a:pt x="26670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1" name="Shape 19"/>
          <p:cNvSpPr/>
          <p:nvPr/>
        </p:nvSpPr>
        <p:spPr>
          <a:xfrm>
            <a:off x="90678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16766" y="17907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07156" y="71438"/>
                </a:moveTo>
                <a:cubicBezTo>
                  <a:pt x="107156" y="41867"/>
                  <a:pt x="83149" y="17859"/>
                  <a:pt x="53578" y="17859"/>
                </a:cubicBezTo>
                <a:cubicBezTo>
                  <a:pt x="24008" y="17859"/>
                  <a:pt x="0" y="41867"/>
                  <a:pt x="0" y="71438"/>
                </a:cubicBezTo>
                <a:cubicBezTo>
                  <a:pt x="0" y="101008"/>
                  <a:pt x="24008" y="125016"/>
                  <a:pt x="53578" y="125016"/>
                </a:cubicBezTo>
                <a:cubicBezTo>
                  <a:pt x="83149" y="125016"/>
                  <a:pt x="107156" y="101008"/>
                  <a:pt x="107156" y="71438"/>
                </a:cubicBezTo>
                <a:close/>
                <a:moveTo>
                  <a:pt x="250031" y="214313"/>
                </a:moveTo>
                <a:cubicBezTo>
                  <a:pt x="250031" y="184742"/>
                  <a:pt x="226024" y="160734"/>
                  <a:pt x="196453" y="160734"/>
                </a:cubicBezTo>
                <a:cubicBezTo>
                  <a:pt x="166883" y="160734"/>
                  <a:pt x="142875" y="184742"/>
                  <a:pt x="142875" y="214313"/>
                </a:cubicBezTo>
                <a:cubicBezTo>
                  <a:pt x="142875" y="243883"/>
                  <a:pt x="166883" y="267891"/>
                  <a:pt x="196453" y="267891"/>
                </a:cubicBezTo>
                <a:cubicBezTo>
                  <a:pt x="226024" y="267891"/>
                  <a:pt x="250031" y="243883"/>
                  <a:pt x="250031" y="214313"/>
                </a:cubicBezTo>
                <a:close/>
                <a:moveTo>
                  <a:pt x="244785" y="48332"/>
                </a:moveTo>
                <a:cubicBezTo>
                  <a:pt x="251761" y="41356"/>
                  <a:pt x="251761" y="30026"/>
                  <a:pt x="244785" y="23050"/>
                </a:cubicBezTo>
                <a:cubicBezTo>
                  <a:pt x="237809" y="16073"/>
                  <a:pt x="226479" y="16073"/>
                  <a:pt x="219503" y="23050"/>
                </a:cubicBezTo>
                <a:lnTo>
                  <a:pt x="5190" y="237362"/>
                </a:lnTo>
                <a:cubicBezTo>
                  <a:pt x="-1786" y="244339"/>
                  <a:pt x="-1786" y="255668"/>
                  <a:pt x="5190" y="262644"/>
                </a:cubicBezTo>
                <a:cubicBezTo>
                  <a:pt x="12167" y="269621"/>
                  <a:pt x="23496" y="269621"/>
                  <a:pt x="30473" y="262644"/>
                </a:cubicBezTo>
                <a:lnTo>
                  <a:pt x="244785" y="4833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9220200" y="21907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Margin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249555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12.7%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3371850"/>
            <a:ext cx="11430000" cy="2781300"/>
          </a:xfrm>
          <a:custGeom>
            <a:avLst/>
            <a:gdLst/>
            <a:ahLst/>
            <a:cxnLst/>
            <a:rect l="l" t="t" r="r" b="b"/>
            <a:pathLst>
              <a:path w="11430000" h="2781300">
                <a:moveTo>
                  <a:pt x="76208" y="0"/>
                </a:moveTo>
                <a:lnTo>
                  <a:pt x="11353792" y="0"/>
                </a:lnTo>
                <a:cubicBezTo>
                  <a:pt x="11395881" y="0"/>
                  <a:pt x="11430000" y="34119"/>
                  <a:pt x="11430000" y="76208"/>
                </a:cubicBezTo>
                <a:lnTo>
                  <a:pt x="11430000" y="2705092"/>
                </a:lnTo>
                <a:cubicBezTo>
                  <a:pt x="11430000" y="2747181"/>
                  <a:pt x="11395881" y="2781300"/>
                  <a:pt x="11353792" y="2781300"/>
                </a:cubicBezTo>
                <a:lnTo>
                  <a:pt x="76208" y="2781300"/>
                </a:lnTo>
                <a:cubicBezTo>
                  <a:pt x="34119" y="2781300"/>
                  <a:pt x="0" y="2747181"/>
                  <a:pt x="0" y="2705092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175" y="3657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1009650" y="3600450"/>
            <a:ext cx="3057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Year-over-Year Growth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9600" y="4133850"/>
            <a:ext cx="3505200" cy="1676400"/>
          </a:xfrm>
          <a:custGeom>
            <a:avLst/>
            <a:gdLst/>
            <a:ahLst/>
            <a:cxnLst/>
            <a:rect l="l" t="t" r="r" b="b"/>
            <a:pathLst>
              <a:path w="3505200" h="1676400">
                <a:moveTo>
                  <a:pt x="76192" y="0"/>
                </a:moveTo>
                <a:lnTo>
                  <a:pt x="3429008" y="0"/>
                </a:lnTo>
                <a:cubicBezTo>
                  <a:pt x="3471088" y="0"/>
                  <a:pt x="3505200" y="34112"/>
                  <a:pt x="3505200" y="76192"/>
                </a:cubicBezTo>
                <a:lnTo>
                  <a:pt x="3505200" y="1600208"/>
                </a:lnTo>
                <a:cubicBezTo>
                  <a:pt x="3505200" y="1642288"/>
                  <a:pt x="3471088" y="1676400"/>
                  <a:pt x="34290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" y="436245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Growth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5325" y="47053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+20.4%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556742" y="537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1821061" y="535305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performance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43400" y="4133850"/>
            <a:ext cx="3505200" cy="1676400"/>
          </a:xfrm>
          <a:custGeom>
            <a:avLst/>
            <a:gdLst/>
            <a:ahLst/>
            <a:cxnLst/>
            <a:rect l="l" t="t" r="r" b="b"/>
            <a:pathLst>
              <a:path w="3505200" h="1676400">
                <a:moveTo>
                  <a:pt x="76192" y="0"/>
                </a:moveTo>
                <a:lnTo>
                  <a:pt x="3429008" y="0"/>
                </a:lnTo>
                <a:cubicBezTo>
                  <a:pt x="3471088" y="0"/>
                  <a:pt x="3505200" y="34112"/>
                  <a:pt x="3505200" y="76192"/>
                </a:cubicBezTo>
                <a:lnTo>
                  <a:pt x="3505200" y="1600208"/>
                </a:lnTo>
                <a:cubicBezTo>
                  <a:pt x="3505200" y="1642288"/>
                  <a:pt x="3471088" y="1676400"/>
                  <a:pt x="34290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4" name="Text 32"/>
          <p:cNvSpPr/>
          <p:nvPr/>
        </p:nvSpPr>
        <p:spPr>
          <a:xfrm>
            <a:off x="4533900" y="436245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Growth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29125" y="47053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+12.5%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03532" y="537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Text 35"/>
          <p:cNvSpPr/>
          <p:nvPr/>
        </p:nvSpPr>
        <p:spPr>
          <a:xfrm>
            <a:off x="5667851" y="535305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increase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77200" y="4133850"/>
            <a:ext cx="3505200" cy="1676400"/>
          </a:xfrm>
          <a:custGeom>
            <a:avLst/>
            <a:gdLst/>
            <a:ahLst/>
            <a:cxnLst/>
            <a:rect l="l" t="t" r="r" b="b"/>
            <a:pathLst>
              <a:path w="3505200" h="1676400">
                <a:moveTo>
                  <a:pt x="76192" y="0"/>
                </a:moveTo>
                <a:lnTo>
                  <a:pt x="3429008" y="0"/>
                </a:lnTo>
                <a:cubicBezTo>
                  <a:pt x="3471088" y="0"/>
                  <a:pt x="3505200" y="34112"/>
                  <a:pt x="3505200" y="76192"/>
                </a:cubicBezTo>
                <a:lnTo>
                  <a:pt x="3505200" y="1600208"/>
                </a:lnTo>
                <a:cubicBezTo>
                  <a:pt x="3505200" y="1642288"/>
                  <a:pt x="3471088" y="1676400"/>
                  <a:pt x="34290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9" name="Text 37"/>
          <p:cNvSpPr/>
          <p:nvPr/>
        </p:nvSpPr>
        <p:spPr>
          <a:xfrm>
            <a:off x="8267700" y="436245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Quantity Growth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62925" y="47053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+26.8%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29249" y="537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Text 40"/>
          <p:cNvSpPr/>
          <p:nvPr/>
        </p:nvSpPr>
        <p:spPr>
          <a:xfrm>
            <a:off x="9493568" y="53530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surge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1156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spc="154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Metrics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Performance Metrics - Customer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844" y="1267670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391486" y="1528661"/>
            <a:ext cx="3672514" cy="1640514"/>
          </a:xfrm>
          <a:custGeom>
            <a:avLst/>
            <a:gdLst/>
            <a:ahLst/>
            <a:cxnLst/>
            <a:rect l="l" t="t" r="r" b="b"/>
            <a:pathLst>
              <a:path w="3672514" h="1640514">
                <a:moveTo>
                  <a:pt x="37284" y="0"/>
                </a:moveTo>
                <a:lnTo>
                  <a:pt x="3597952" y="0"/>
                </a:lnTo>
                <a:cubicBezTo>
                  <a:pt x="3639132" y="0"/>
                  <a:pt x="3672514" y="33382"/>
                  <a:pt x="3672514" y="74561"/>
                </a:cubicBezTo>
                <a:lnTo>
                  <a:pt x="3672514" y="1565952"/>
                </a:lnTo>
                <a:cubicBezTo>
                  <a:pt x="3672514" y="1607132"/>
                  <a:pt x="3639132" y="1640514"/>
                  <a:pt x="3597952" y="1640514"/>
                </a:cubicBezTo>
                <a:lnTo>
                  <a:pt x="37284" y="1640514"/>
                </a:lnTo>
                <a:cubicBezTo>
                  <a:pt x="16693" y="1640514"/>
                  <a:pt x="0" y="1623821"/>
                  <a:pt x="0" y="1603229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" name="Shape 4"/>
          <p:cNvSpPr/>
          <p:nvPr/>
        </p:nvSpPr>
        <p:spPr>
          <a:xfrm>
            <a:off x="391486" y="1528661"/>
            <a:ext cx="37284" cy="1640514"/>
          </a:xfrm>
          <a:custGeom>
            <a:avLst/>
            <a:gdLst/>
            <a:ahLst/>
            <a:cxnLst/>
            <a:rect l="l" t="t" r="r" b="b"/>
            <a:pathLst>
              <a:path w="37284" h="1640514">
                <a:moveTo>
                  <a:pt x="37284" y="0"/>
                </a:moveTo>
                <a:lnTo>
                  <a:pt x="37284" y="0"/>
                </a:lnTo>
                <a:lnTo>
                  <a:pt x="37284" y="1640514"/>
                </a:lnTo>
                <a:lnTo>
                  <a:pt x="37284" y="1640514"/>
                </a:lnTo>
                <a:cubicBezTo>
                  <a:pt x="16693" y="1640514"/>
                  <a:pt x="0" y="1623821"/>
                  <a:pt x="0" y="1603229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5"/>
          <p:cNvSpPr/>
          <p:nvPr/>
        </p:nvSpPr>
        <p:spPr>
          <a:xfrm>
            <a:off x="596550" y="1882865"/>
            <a:ext cx="419450" cy="335560"/>
          </a:xfrm>
          <a:custGeom>
            <a:avLst/>
            <a:gdLst/>
            <a:ahLst/>
            <a:cxnLst/>
            <a:rect l="l" t="t" r="r" b="b"/>
            <a:pathLst>
              <a:path w="419450" h="335560">
                <a:moveTo>
                  <a:pt x="209725" y="10486"/>
                </a:moveTo>
                <a:cubicBezTo>
                  <a:pt x="247344" y="10486"/>
                  <a:pt x="277885" y="41028"/>
                  <a:pt x="277885" y="78647"/>
                </a:cubicBezTo>
                <a:cubicBezTo>
                  <a:pt x="277885" y="116266"/>
                  <a:pt x="247344" y="146807"/>
                  <a:pt x="209725" y="146807"/>
                </a:cubicBezTo>
                <a:cubicBezTo>
                  <a:pt x="172106" y="146807"/>
                  <a:pt x="141564" y="116266"/>
                  <a:pt x="141564" y="78647"/>
                </a:cubicBezTo>
                <a:cubicBezTo>
                  <a:pt x="141564" y="41028"/>
                  <a:pt x="172106" y="10486"/>
                  <a:pt x="209725" y="10486"/>
                </a:cubicBezTo>
                <a:close/>
                <a:moveTo>
                  <a:pt x="62917" y="57674"/>
                </a:moveTo>
                <a:cubicBezTo>
                  <a:pt x="88961" y="57674"/>
                  <a:pt x="110106" y="78819"/>
                  <a:pt x="110106" y="104862"/>
                </a:cubicBezTo>
                <a:cubicBezTo>
                  <a:pt x="110106" y="130906"/>
                  <a:pt x="88961" y="152050"/>
                  <a:pt x="62917" y="152050"/>
                </a:cubicBezTo>
                <a:cubicBezTo>
                  <a:pt x="36874" y="152050"/>
                  <a:pt x="15729" y="130906"/>
                  <a:pt x="15729" y="104862"/>
                </a:cubicBezTo>
                <a:cubicBezTo>
                  <a:pt x="15729" y="78819"/>
                  <a:pt x="36874" y="57674"/>
                  <a:pt x="62917" y="57674"/>
                </a:cubicBezTo>
                <a:close/>
                <a:moveTo>
                  <a:pt x="0" y="272642"/>
                </a:moveTo>
                <a:cubicBezTo>
                  <a:pt x="0" y="226306"/>
                  <a:pt x="37554" y="188752"/>
                  <a:pt x="83890" y="188752"/>
                </a:cubicBezTo>
                <a:cubicBezTo>
                  <a:pt x="92279" y="188752"/>
                  <a:pt x="100406" y="189998"/>
                  <a:pt x="108074" y="192291"/>
                </a:cubicBezTo>
                <a:cubicBezTo>
                  <a:pt x="86511" y="216410"/>
                  <a:pt x="73404" y="248262"/>
                  <a:pt x="73404" y="283128"/>
                </a:cubicBezTo>
                <a:lnTo>
                  <a:pt x="73404" y="293615"/>
                </a:lnTo>
                <a:cubicBezTo>
                  <a:pt x="73404" y="301086"/>
                  <a:pt x="74977" y="308164"/>
                  <a:pt x="77795" y="314587"/>
                </a:cubicBezTo>
                <a:lnTo>
                  <a:pt x="20972" y="314587"/>
                </a:lnTo>
                <a:cubicBezTo>
                  <a:pt x="9372" y="314587"/>
                  <a:pt x="0" y="305215"/>
                  <a:pt x="0" y="293615"/>
                </a:cubicBezTo>
                <a:lnTo>
                  <a:pt x="0" y="272642"/>
                </a:lnTo>
                <a:close/>
                <a:moveTo>
                  <a:pt x="341655" y="314587"/>
                </a:moveTo>
                <a:cubicBezTo>
                  <a:pt x="344473" y="308164"/>
                  <a:pt x="346046" y="301086"/>
                  <a:pt x="346046" y="293615"/>
                </a:cubicBezTo>
                <a:lnTo>
                  <a:pt x="346046" y="283128"/>
                </a:lnTo>
                <a:cubicBezTo>
                  <a:pt x="346046" y="248262"/>
                  <a:pt x="332938" y="216410"/>
                  <a:pt x="311376" y="192291"/>
                </a:cubicBezTo>
                <a:cubicBezTo>
                  <a:pt x="319044" y="189998"/>
                  <a:pt x="327171" y="188752"/>
                  <a:pt x="335560" y="188752"/>
                </a:cubicBezTo>
                <a:cubicBezTo>
                  <a:pt x="381896" y="188752"/>
                  <a:pt x="419450" y="226306"/>
                  <a:pt x="419450" y="272642"/>
                </a:cubicBezTo>
                <a:lnTo>
                  <a:pt x="419450" y="293615"/>
                </a:lnTo>
                <a:cubicBezTo>
                  <a:pt x="419450" y="305215"/>
                  <a:pt x="410077" y="314587"/>
                  <a:pt x="398477" y="314587"/>
                </a:cubicBezTo>
                <a:lnTo>
                  <a:pt x="341655" y="314587"/>
                </a:lnTo>
                <a:close/>
                <a:moveTo>
                  <a:pt x="309344" y="104862"/>
                </a:moveTo>
                <a:cubicBezTo>
                  <a:pt x="309344" y="78819"/>
                  <a:pt x="330488" y="57674"/>
                  <a:pt x="356532" y="57674"/>
                </a:cubicBezTo>
                <a:cubicBezTo>
                  <a:pt x="382576" y="57674"/>
                  <a:pt x="403720" y="78819"/>
                  <a:pt x="403720" y="104862"/>
                </a:cubicBezTo>
                <a:cubicBezTo>
                  <a:pt x="403720" y="130906"/>
                  <a:pt x="382576" y="152050"/>
                  <a:pt x="356532" y="152050"/>
                </a:cubicBezTo>
                <a:cubicBezTo>
                  <a:pt x="330488" y="152050"/>
                  <a:pt x="309344" y="130906"/>
                  <a:pt x="309344" y="104862"/>
                </a:cubicBezTo>
                <a:close/>
                <a:moveTo>
                  <a:pt x="104862" y="283128"/>
                </a:moveTo>
                <a:cubicBezTo>
                  <a:pt x="104862" y="225192"/>
                  <a:pt x="151788" y="178266"/>
                  <a:pt x="209725" y="178266"/>
                </a:cubicBezTo>
                <a:cubicBezTo>
                  <a:pt x="267661" y="178266"/>
                  <a:pt x="314587" y="225192"/>
                  <a:pt x="314587" y="283128"/>
                </a:cubicBezTo>
                <a:lnTo>
                  <a:pt x="314587" y="293615"/>
                </a:lnTo>
                <a:cubicBezTo>
                  <a:pt x="314587" y="305215"/>
                  <a:pt x="305215" y="314587"/>
                  <a:pt x="293615" y="314587"/>
                </a:cubicBezTo>
                <a:lnTo>
                  <a:pt x="125835" y="314587"/>
                </a:lnTo>
                <a:cubicBezTo>
                  <a:pt x="114234" y="314587"/>
                  <a:pt x="104862" y="305215"/>
                  <a:pt x="104862" y="293615"/>
                </a:cubicBezTo>
                <a:lnTo>
                  <a:pt x="104862" y="28312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2601752" y="1715085"/>
            <a:ext cx="1276991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523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693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50890" y="2162498"/>
            <a:ext cx="112785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Customers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6550" y="2535342"/>
            <a:ext cx="3281028" cy="447413"/>
          </a:xfrm>
          <a:custGeom>
            <a:avLst/>
            <a:gdLst/>
            <a:ahLst/>
            <a:cxnLst/>
            <a:rect l="l" t="t" r="r" b="b"/>
            <a:pathLst>
              <a:path w="3281028" h="447413">
                <a:moveTo>
                  <a:pt x="74570" y="0"/>
                </a:moveTo>
                <a:lnTo>
                  <a:pt x="3206457" y="0"/>
                </a:lnTo>
                <a:cubicBezTo>
                  <a:pt x="3247641" y="0"/>
                  <a:pt x="3281028" y="33386"/>
                  <a:pt x="3281028" y="74570"/>
                </a:cubicBezTo>
                <a:lnTo>
                  <a:pt x="3281028" y="372843"/>
                </a:lnTo>
                <a:cubicBezTo>
                  <a:pt x="3281028" y="414027"/>
                  <a:pt x="3247641" y="447413"/>
                  <a:pt x="3206457" y="447413"/>
                </a:cubicBezTo>
                <a:lnTo>
                  <a:pt x="74570" y="447413"/>
                </a:lnTo>
                <a:cubicBezTo>
                  <a:pt x="33414" y="447413"/>
                  <a:pt x="0" y="413999"/>
                  <a:pt x="0" y="37284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1" name="Text 9"/>
          <p:cNvSpPr/>
          <p:nvPr/>
        </p:nvSpPr>
        <p:spPr>
          <a:xfrm>
            <a:off x="745688" y="2647077"/>
            <a:ext cx="84822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5791" y="2609911"/>
            <a:ext cx="736367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+8.6%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0346" y="1528661"/>
            <a:ext cx="3672514" cy="1640514"/>
          </a:xfrm>
          <a:custGeom>
            <a:avLst/>
            <a:gdLst/>
            <a:ahLst/>
            <a:cxnLst/>
            <a:rect l="l" t="t" r="r" b="b"/>
            <a:pathLst>
              <a:path w="3672514" h="1640514">
                <a:moveTo>
                  <a:pt x="37284" y="0"/>
                </a:moveTo>
                <a:lnTo>
                  <a:pt x="3597952" y="0"/>
                </a:lnTo>
                <a:cubicBezTo>
                  <a:pt x="3639132" y="0"/>
                  <a:pt x="3672514" y="33382"/>
                  <a:pt x="3672514" y="74561"/>
                </a:cubicBezTo>
                <a:lnTo>
                  <a:pt x="3672514" y="1565952"/>
                </a:lnTo>
                <a:cubicBezTo>
                  <a:pt x="3672514" y="1607132"/>
                  <a:pt x="3639132" y="1640514"/>
                  <a:pt x="3597952" y="1640514"/>
                </a:cubicBezTo>
                <a:lnTo>
                  <a:pt x="37284" y="1640514"/>
                </a:lnTo>
                <a:cubicBezTo>
                  <a:pt x="16693" y="1640514"/>
                  <a:pt x="0" y="1623821"/>
                  <a:pt x="0" y="1603229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0346" y="1528661"/>
            <a:ext cx="37284" cy="1640514"/>
          </a:xfrm>
          <a:custGeom>
            <a:avLst/>
            <a:gdLst/>
            <a:ahLst/>
            <a:cxnLst/>
            <a:rect l="l" t="t" r="r" b="b"/>
            <a:pathLst>
              <a:path w="37284" h="1640514">
                <a:moveTo>
                  <a:pt x="37284" y="0"/>
                </a:moveTo>
                <a:lnTo>
                  <a:pt x="37284" y="0"/>
                </a:lnTo>
                <a:lnTo>
                  <a:pt x="37284" y="1640514"/>
                </a:lnTo>
                <a:lnTo>
                  <a:pt x="37284" y="1640514"/>
                </a:lnTo>
                <a:cubicBezTo>
                  <a:pt x="16693" y="1640514"/>
                  <a:pt x="0" y="1623821"/>
                  <a:pt x="0" y="1603229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17355" y="1882865"/>
            <a:ext cx="335560" cy="335560"/>
          </a:xfrm>
          <a:custGeom>
            <a:avLst/>
            <a:gdLst/>
            <a:ahLst/>
            <a:cxnLst/>
            <a:rect l="l" t="t" r="r" b="b"/>
            <a:pathLst>
              <a:path w="335560" h="335560">
                <a:moveTo>
                  <a:pt x="43190" y="149757"/>
                </a:moveTo>
                <a:cubicBezTo>
                  <a:pt x="51907" y="88805"/>
                  <a:pt x="104404" y="41945"/>
                  <a:pt x="167780" y="41945"/>
                </a:cubicBezTo>
                <a:cubicBezTo>
                  <a:pt x="202515" y="41945"/>
                  <a:pt x="233974" y="56036"/>
                  <a:pt x="256782" y="78778"/>
                </a:cubicBezTo>
                <a:cubicBezTo>
                  <a:pt x="256913" y="78909"/>
                  <a:pt x="257044" y="79040"/>
                  <a:pt x="257175" y="79171"/>
                </a:cubicBezTo>
                <a:lnTo>
                  <a:pt x="262156" y="83890"/>
                </a:lnTo>
                <a:lnTo>
                  <a:pt x="230763" y="83890"/>
                </a:lnTo>
                <a:cubicBezTo>
                  <a:pt x="219162" y="83890"/>
                  <a:pt x="209790" y="93262"/>
                  <a:pt x="209790" y="104862"/>
                </a:cubicBezTo>
                <a:cubicBezTo>
                  <a:pt x="209790" y="116463"/>
                  <a:pt x="219162" y="125835"/>
                  <a:pt x="230763" y="125835"/>
                </a:cubicBezTo>
                <a:lnTo>
                  <a:pt x="314653" y="125835"/>
                </a:lnTo>
                <a:cubicBezTo>
                  <a:pt x="326253" y="125835"/>
                  <a:pt x="335625" y="116463"/>
                  <a:pt x="335625" y="104862"/>
                </a:cubicBezTo>
                <a:lnTo>
                  <a:pt x="335625" y="20972"/>
                </a:lnTo>
                <a:cubicBezTo>
                  <a:pt x="335625" y="9372"/>
                  <a:pt x="326253" y="0"/>
                  <a:pt x="314653" y="0"/>
                </a:cubicBezTo>
                <a:cubicBezTo>
                  <a:pt x="303052" y="0"/>
                  <a:pt x="293680" y="9372"/>
                  <a:pt x="293680" y="20972"/>
                </a:cubicBezTo>
                <a:lnTo>
                  <a:pt x="293680" y="55970"/>
                </a:lnTo>
                <a:lnTo>
                  <a:pt x="286274" y="48958"/>
                </a:lnTo>
                <a:cubicBezTo>
                  <a:pt x="255930" y="18744"/>
                  <a:pt x="213985" y="0"/>
                  <a:pt x="167780" y="0"/>
                </a:cubicBezTo>
                <a:cubicBezTo>
                  <a:pt x="83235" y="0"/>
                  <a:pt x="13304" y="62524"/>
                  <a:pt x="1704" y="143858"/>
                </a:cubicBezTo>
                <a:cubicBezTo>
                  <a:pt x="66" y="155327"/>
                  <a:pt x="7996" y="165945"/>
                  <a:pt x="19465" y="167583"/>
                </a:cubicBezTo>
                <a:cubicBezTo>
                  <a:pt x="30934" y="169222"/>
                  <a:pt x="41552" y="161226"/>
                  <a:pt x="43190" y="149822"/>
                </a:cubicBezTo>
                <a:close/>
                <a:moveTo>
                  <a:pt x="333856" y="191702"/>
                </a:moveTo>
                <a:cubicBezTo>
                  <a:pt x="335494" y="180232"/>
                  <a:pt x="327498" y="169615"/>
                  <a:pt x="316095" y="167976"/>
                </a:cubicBezTo>
                <a:cubicBezTo>
                  <a:pt x="304691" y="166338"/>
                  <a:pt x="294008" y="174334"/>
                  <a:pt x="292369" y="185738"/>
                </a:cubicBezTo>
                <a:cubicBezTo>
                  <a:pt x="283653" y="246689"/>
                  <a:pt x="231156" y="293549"/>
                  <a:pt x="167780" y="293549"/>
                </a:cubicBezTo>
                <a:cubicBezTo>
                  <a:pt x="133044" y="293549"/>
                  <a:pt x="101585" y="279458"/>
                  <a:pt x="78778" y="256716"/>
                </a:cubicBezTo>
                <a:cubicBezTo>
                  <a:pt x="78647" y="256585"/>
                  <a:pt x="78516" y="256454"/>
                  <a:pt x="78385" y="256323"/>
                </a:cubicBezTo>
                <a:lnTo>
                  <a:pt x="73404" y="251604"/>
                </a:lnTo>
                <a:lnTo>
                  <a:pt x="104797" y="251604"/>
                </a:lnTo>
                <a:cubicBezTo>
                  <a:pt x="116397" y="251604"/>
                  <a:pt x="125769" y="242232"/>
                  <a:pt x="125769" y="230632"/>
                </a:cubicBezTo>
                <a:cubicBezTo>
                  <a:pt x="125769" y="219031"/>
                  <a:pt x="116397" y="209659"/>
                  <a:pt x="104797" y="209659"/>
                </a:cubicBezTo>
                <a:lnTo>
                  <a:pt x="20972" y="209725"/>
                </a:lnTo>
                <a:cubicBezTo>
                  <a:pt x="15402" y="209725"/>
                  <a:pt x="10027" y="211953"/>
                  <a:pt x="6095" y="215951"/>
                </a:cubicBezTo>
                <a:cubicBezTo>
                  <a:pt x="2163" y="219949"/>
                  <a:pt x="-66" y="225258"/>
                  <a:pt x="0" y="230894"/>
                </a:cubicBezTo>
                <a:lnTo>
                  <a:pt x="655" y="314128"/>
                </a:lnTo>
                <a:cubicBezTo>
                  <a:pt x="721" y="325729"/>
                  <a:pt x="10224" y="335035"/>
                  <a:pt x="21824" y="334904"/>
                </a:cubicBezTo>
                <a:cubicBezTo>
                  <a:pt x="33425" y="334773"/>
                  <a:pt x="42731" y="325336"/>
                  <a:pt x="42600" y="313735"/>
                </a:cubicBezTo>
                <a:lnTo>
                  <a:pt x="42338" y="279983"/>
                </a:lnTo>
                <a:lnTo>
                  <a:pt x="49351" y="286602"/>
                </a:lnTo>
                <a:cubicBezTo>
                  <a:pt x="79695" y="316815"/>
                  <a:pt x="121575" y="335560"/>
                  <a:pt x="167780" y="335560"/>
                </a:cubicBezTo>
                <a:cubicBezTo>
                  <a:pt x="252325" y="335560"/>
                  <a:pt x="322255" y="273035"/>
                  <a:pt x="333856" y="19170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6156937" y="1715085"/>
            <a:ext cx="160322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523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$1,058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6075" y="2162498"/>
            <a:ext cx="145409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Sales/Customer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75410" y="2535342"/>
            <a:ext cx="3281028" cy="447413"/>
          </a:xfrm>
          <a:custGeom>
            <a:avLst/>
            <a:gdLst/>
            <a:ahLst/>
            <a:cxnLst/>
            <a:rect l="l" t="t" r="r" b="b"/>
            <a:pathLst>
              <a:path w="3281028" h="447413">
                <a:moveTo>
                  <a:pt x="74570" y="0"/>
                </a:moveTo>
                <a:lnTo>
                  <a:pt x="3206457" y="0"/>
                </a:lnTo>
                <a:cubicBezTo>
                  <a:pt x="3247641" y="0"/>
                  <a:pt x="3281028" y="33386"/>
                  <a:pt x="3281028" y="74570"/>
                </a:cubicBezTo>
                <a:lnTo>
                  <a:pt x="3281028" y="372843"/>
                </a:lnTo>
                <a:cubicBezTo>
                  <a:pt x="3281028" y="414027"/>
                  <a:pt x="3247641" y="447413"/>
                  <a:pt x="3206457" y="447413"/>
                </a:cubicBezTo>
                <a:lnTo>
                  <a:pt x="74570" y="447413"/>
                </a:lnTo>
                <a:cubicBezTo>
                  <a:pt x="33414" y="447413"/>
                  <a:pt x="0" y="413999"/>
                  <a:pt x="0" y="37284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9" name="Text 17"/>
          <p:cNvSpPr/>
          <p:nvPr/>
        </p:nvSpPr>
        <p:spPr>
          <a:xfrm>
            <a:off x="4624548" y="2647077"/>
            <a:ext cx="84822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6313" y="2609911"/>
            <a:ext cx="838899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+10.8%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49322" y="1528661"/>
            <a:ext cx="3672514" cy="1640514"/>
          </a:xfrm>
          <a:custGeom>
            <a:avLst/>
            <a:gdLst/>
            <a:ahLst/>
            <a:cxnLst/>
            <a:rect l="l" t="t" r="r" b="b"/>
            <a:pathLst>
              <a:path w="3672514" h="1640514">
                <a:moveTo>
                  <a:pt x="37284" y="0"/>
                </a:moveTo>
                <a:lnTo>
                  <a:pt x="3597952" y="0"/>
                </a:lnTo>
                <a:cubicBezTo>
                  <a:pt x="3639132" y="0"/>
                  <a:pt x="3672514" y="33382"/>
                  <a:pt x="3672514" y="74561"/>
                </a:cubicBezTo>
                <a:lnTo>
                  <a:pt x="3672514" y="1565952"/>
                </a:lnTo>
                <a:cubicBezTo>
                  <a:pt x="3672514" y="1607132"/>
                  <a:pt x="3639132" y="1640514"/>
                  <a:pt x="3597952" y="1640514"/>
                </a:cubicBezTo>
                <a:lnTo>
                  <a:pt x="37284" y="1640514"/>
                </a:lnTo>
                <a:cubicBezTo>
                  <a:pt x="16693" y="1640514"/>
                  <a:pt x="0" y="1623821"/>
                  <a:pt x="0" y="1603229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2" name="Shape 20"/>
          <p:cNvSpPr/>
          <p:nvPr/>
        </p:nvSpPr>
        <p:spPr>
          <a:xfrm>
            <a:off x="8149322" y="1528661"/>
            <a:ext cx="37284" cy="1640514"/>
          </a:xfrm>
          <a:custGeom>
            <a:avLst/>
            <a:gdLst/>
            <a:ahLst/>
            <a:cxnLst/>
            <a:rect l="l" t="t" r="r" b="b"/>
            <a:pathLst>
              <a:path w="37284" h="1640514">
                <a:moveTo>
                  <a:pt x="37284" y="0"/>
                </a:moveTo>
                <a:lnTo>
                  <a:pt x="37284" y="0"/>
                </a:lnTo>
                <a:lnTo>
                  <a:pt x="37284" y="1640514"/>
                </a:lnTo>
                <a:lnTo>
                  <a:pt x="37284" y="1640514"/>
                </a:lnTo>
                <a:cubicBezTo>
                  <a:pt x="16693" y="1640514"/>
                  <a:pt x="0" y="1623821"/>
                  <a:pt x="0" y="1603229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Shape 21"/>
          <p:cNvSpPr/>
          <p:nvPr/>
        </p:nvSpPr>
        <p:spPr>
          <a:xfrm>
            <a:off x="8438276" y="1882865"/>
            <a:ext cx="251670" cy="335560"/>
          </a:xfrm>
          <a:custGeom>
            <a:avLst/>
            <a:gdLst/>
            <a:ahLst/>
            <a:cxnLst/>
            <a:rect l="l" t="t" r="r" b="b"/>
            <a:pathLst>
              <a:path w="251670" h="335560">
                <a:moveTo>
                  <a:pt x="9175" y="1442"/>
                </a:moveTo>
                <a:cubicBezTo>
                  <a:pt x="14746" y="-1114"/>
                  <a:pt x="21300" y="-197"/>
                  <a:pt x="25953" y="3801"/>
                </a:cubicBezTo>
                <a:lnTo>
                  <a:pt x="52431" y="26478"/>
                </a:lnTo>
                <a:lnTo>
                  <a:pt x="78909" y="3801"/>
                </a:lnTo>
                <a:cubicBezTo>
                  <a:pt x="84807" y="-1245"/>
                  <a:pt x="93524" y="-1245"/>
                  <a:pt x="99357" y="3801"/>
                </a:cubicBezTo>
                <a:lnTo>
                  <a:pt x="125835" y="26478"/>
                </a:lnTo>
                <a:lnTo>
                  <a:pt x="152313" y="3801"/>
                </a:lnTo>
                <a:cubicBezTo>
                  <a:pt x="158211" y="-1245"/>
                  <a:pt x="166862" y="-1245"/>
                  <a:pt x="172761" y="3801"/>
                </a:cubicBezTo>
                <a:lnTo>
                  <a:pt x="199239" y="26478"/>
                </a:lnTo>
                <a:lnTo>
                  <a:pt x="225716" y="3801"/>
                </a:lnTo>
                <a:cubicBezTo>
                  <a:pt x="230370" y="-197"/>
                  <a:pt x="236923" y="-1114"/>
                  <a:pt x="242494" y="1442"/>
                </a:cubicBezTo>
                <a:cubicBezTo>
                  <a:pt x="248065" y="3998"/>
                  <a:pt x="251670" y="9569"/>
                  <a:pt x="251670" y="15729"/>
                </a:cubicBezTo>
                <a:lnTo>
                  <a:pt x="251670" y="319830"/>
                </a:lnTo>
                <a:cubicBezTo>
                  <a:pt x="251670" y="325991"/>
                  <a:pt x="248065" y="331562"/>
                  <a:pt x="242494" y="334118"/>
                </a:cubicBezTo>
                <a:cubicBezTo>
                  <a:pt x="236923" y="336674"/>
                  <a:pt x="230370" y="335756"/>
                  <a:pt x="225716" y="331758"/>
                </a:cubicBezTo>
                <a:lnTo>
                  <a:pt x="199239" y="309082"/>
                </a:lnTo>
                <a:lnTo>
                  <a:pt x="172761" y="331758"/>
                </a:lnTo>
                <a:cubicBezTo>
                  <a:pt x="166862" y="336805"/>
                  <a:pt x="158211" y="336805"/>
                  <a:pt x="152313" y="331758"/>
                </a:cubicBezTo>
                <a:lnTo>
                  <a:pt x="125835" y="309082"/>
                </a:lnTo>
                <a:lnTo>
                  <a:pt x="99357" y="331758"/>
                </a:lnTo>
                <a:cubicBezTo>
                  <a:pt x="93459" y="336805"/>
                  <a:pt x="84742" y="336805"/>
                  <a:pt x="78909" y="331758"/>
                </a:cubicBezTo>
                <a:lnTo>
                  <a:pt x="52431" y="309082"/>
                </a:lnTo>
                <a:lnTo>
                  <a:pt x="25953" y="331758"/>
                </a:lnTo>
                <a:cubicBezTo>
                  <a:pt x="21300" y="335756"/>
                  <a:pt x="14746" y="336674"/>
                  <a:pt x="9175" y="334118"/>
                </a:cubicBezTo>
                <a:cubicBezTo>
                  <a:pt x="3605" y="331562"/>
                  <a:pt x="0" y="325991"/>
                  <a:pt x="0" y="319830"/>
                </a:cubicBezTo>
                <a:lnTo>
                  <a:pt x="0" y="15729"/>
                </a:lnTo>
                <a:cubicBezTo>
                  <a:pt x="0" y="9569"/>
                  <a:pt x="3605" y="3998"/>
                  <a:pt x="9175" y="1442"/>
                </a:cubicBezTo>
                <a:close/>
                <a:moveTo>
                  <a:pt x="68161" y="89133"/>
                </a:moveTo>
                <a:cubicBezTo>
                  <a:pt x="59444" y="89133"/>
                  <a:pt x="52431" y="96146"/>
                  <a:pt x="52431" y="104862"/>
                </a:cubicBezTo>
                <a:cubicBezTo>
                  <a:pt x="52431" y="113579"/>
                  <a:pt x="59444" y="120592"/>
                  <a:pt x="68161" y="120592"/>
                </a:cubicBezTo>
                <a:lnTo>
                  <a:pt x="183509" y="120592"/>
                </a:lnTo>
                <a:cubicBezTo>
                  <a:pt x="192226" y="120592"/>
                  <a:pt x="199239" y="113579"/>
                  <a:pt x="199239" y="104862"/>
                </a:cubicBezTo>
                <a:cubicBezTo>
                  <a:pt x="199239" y="96146"/>
                  <a:pt x="192226" y="89133"/>
                  <a:pt x="183509" y="89133"/>
                </a:cubicBezTo>
                <a:lnTo>
                  <a:pt x="68161" y="89133"/>
                </a:lnTo>
                <a:close/>
                <a:moveTo>
                  <a:pt x="52431" y="230697"/>
                </a:moveTo>
                <a:cubicBezTo>
                  <a:pt x="52431" y="239414"/>
                  <a:pt x="59444" y="246427"/>
                  <a:pt x="68161" y="246427"/>
                </a:cubicBezTo>
                <a:lnTo>
                  <a:pt x="183509" y="246427"/>
                </a:lnTo>
                <a:cubicBezTo>
                  <a:pt x="192226" y="246427"/>
                  <a:pt x="199239" y="239414"/>
                  <a:pt x="199239" y="230697"/>
                </a:cubicBezTo>
                <a:cubicBezTo>
                  <a:pt x="199239" y="221981"/>
                  <a:pt x="192226" y="214968"/>
                  <a:pt x="183509" y="214968"/>
                </a:cubicBezTo>
                <a:lnTo>
                  <a:pt x="68161" y="214968"/>
                </a:lnTo>
                <a:cubicBezTo>
                  <a:pt x="59444" y="214968"/>
                  <a:pt x="52431" y="221981"/>
                  <a:pt x="52431" y="230697"/>
                </a:cubicBezTo>
                <a:close/>
                <a:moveTo>
                  <a:pt x="68161" y="152050"/>
                </a:moveTo>
                <a:cubicBezTo>
                  <a:pt x="59444" y="152050"/>
                  <a:pt x="52431" y="159063"/>
                  <a:pt x="52431" y="167780"/>
                </a:cubicBezTo>
                <a:cubicBezTo>
                  <a:pt x="52431" y="176497"/>
                  <a:pt x="59444" y="183509"/>
                  <a:pt x="68161" y="183509"/>
                </a:cubicBezTo>
                <a:lnTo>
                  <a:pt x="183509" y="183509"/>
                </a:lnTo>
                <a:cubicBezTo>
                  <a:pt x="192226" y="183509"/>
                  <a:pt x="199239" y="176497"/>
                  <a:pt x="199239" y="167780"/>
                </a:cubicBezTo>
                <a:cubicBezTo>
                  <a:pt x="199239" y="159063"/>
                  <a:pt x="192226" y="152050"/>
                  <a:pt x="183509" y="152050"/>
                </a:cubicBezTo>
                <a:lnTo>
                  <a:pt x="68161" y="1520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10359705" y="1715085"/>
            <a:ext cx="1276991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523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1,687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08843" y="2162498"/>
            <a:ext cx="112785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54387" y="2535342"/>
            <a:ext cx="3281028" cy="447413"/>
          </a:xfrm>
          <a:custGeom>
            <a:avLst/>
            <a:gdLst/>
            <a:ahLst/>
            <a:cxnLst/>
            <a:rect l="l" t="t" r="r" b="b"/>
            <a:pathLst>
              <a:path w="3281028" h="447413">
                <a:moveTo>
                  <a:pt x="74570" y="0"/>
                </a:moveTo>
                <a:lnTo>
                  <a:pt x="3206457" y="0"/>
                </a:lnTo>
                <a:cubicBezTo>
                  <a:pt x="3247641" y="0"/>
                  <a:pt x="3281028" y="33386"/>
                  <a:pt x="3281028" y="74570"/>
                </a:cubicBezTo>
                <a:lnTo>
                  <a:pt x="3281028" y="372843"/>
                </a:lnTo>
                <a:cubicBezTo>
                  <a:pt x="3281028" y="414027"/>
                  <a:pt x="3247641" y="447413"/>
                  <a:pt x="3206457" y="447413"/>
                </a:cubicBezTo>
                <a:lnTo>
                  <a:pt x="74570" y="447413"/>
                </a:lnTo>
                <a:cubicBezTo>
                  <a:pt x="33414" y="447413"/>
                  <a:pt x="0" y="413999"/>
                  <a:pt x="0" y="37284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524" y="2647077"/>
            <a:ext cx="84822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35345" y="2609911"/>
            <a:ext cx="86686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+28.3%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2844" y="3355480"/>
            <a:ext cx="11446312" cy="3131890"/>
          </a:xfrm>
          <a:custGeom>
            <a:avLst/>
            <a:gdLst/>
            <a:ahLst/>
            <a:cxnLst/>
            <a:rect l="l" t="t" r="r" b="b"/>
            <a:pathLst>
              <a:path w="11446312" h="3131890">
                <a:moveTo>
                  <a:pt x="74570" y="0"/>
                </a:moveTo>
                <a:lnTo>
                  <a:pt x="11371742" y="0"/>
                </a:lnTo>
                <a:cubicBezTo>
                  <a:pt x="11412926" y="0"/>
                  <a:pt x="11446312" y="33386"/>
                  <a:pt x="11446312" y="74570"/>
                </a:cubicBezTo>
                <a:lnTo>
                  <a:pt x="11446312" y="3057320"/>
                </a:lnTo>
                <a:cubicBezTo>
                  <a:pt x="11446312" y="3098504"/>
                  <a:pt x="11412926" y="3131890"/>
                  <a:pt x="11371742" y="3131890"/>
                </a:cubicBezTo>
                <a:lnTo>
                  <a:pt x="74570" y="3131890"/>
                </a:lnTo>
                <a:cubicBezTo>
                  <a:pt x="33386" y="3131890"/>
                  <a:pt x="0" y="3098504"/>
                  <a:pt x="0" y="3057320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30" name="Text 28"/>
          <p:cNvSpPr/>
          <p:nvPr/>
        </p:nvSpPr>
        <p:spPr>
          <a:xfrm>
            <a:off x="596550" y="3579187"/>
            <a:ext cx="1111075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Growth Visualization</a:t>
            </a:r>
            <a:endParaRPr lang="en-US" sz="1600" dirty="0"/>
          </a:p>
        </p:txBody>
      </p:sp>
      <p:pic>
        <p:nvPicPr>
          <p:cNvPr id="31" name="Image 0" descr="https://kimi-img.moonshot.cn/pub/slides/26-01-27-00:54:53-d5rponbv466ko45f8bp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550" y="4026481"/>
            <a:ext cx="10737908" cy="2237064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spc="148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46409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&amp; Product Performance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116" y="1149172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377072" y="1328730"/>
            <a:ext cx="5629149" cy="1364642"/>
          </a:xfrm>
          <a:custGeom>
            <a:avLst/>
            <a:gdLst/>
            <a:ahLst/>
            <a:cxnLst/>
            <a:rect l="l" t="t" r="r" b="b"/>
            <a:pathLst>
              <a:path w="5629149" h="1364642">
                <a:moveTo>
                  <a:pt x="35912" y="0"/>
                </a:moveTo>
                <a:lnTo>
                  <a:pt x="5557328" y="0"/>
                </a:lnTo>
                <a:cubicBezTo>
                  <a:pt x="5596993" y="0"/>
                  <a:pt x="5629149" y="32155"/>
                  <a:pt x="5629149" y="71821"/>
                </a:cubicBezTo>
                <a:lnTo>
                  <a:pt x="5629149" y="1292821"/>
                </a:lnTo>
                <a:cubicBezTo>
                  <a:pt x="5629149" y="1332487"/>
                  <a:pt x="5596993" y="1364642"/>
                  <a:pt x="5557328" y="1364642"/>
                </a:cubicBez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" name="Shape 4"/>
          <p:cNvSpPr/>
          <p:nvPr/>
        </p:nvSpPr>
        <p:spPr>
          <a:xfrm>
            <a:off x="377072" y="1328730"/>
            <a:ext cx="35912" cy="1364642"/>
          </a:xfrm>
          <a:custGeom>
            <a:avLst/>
            <a:gdLst/>
            <a:ahLst/>
            <a:cxnLst/>
            <a:rect l="l" t="t" r="r" b="b"/>
            <a:pathLst>
              <a:path w="35912" h="1364642">
                <a:moveTo>
                  <a:pt x="35912" y="0"/>
                </a:moveTo>
                <a:lnTo>
                  <a:pt x="35912" y="0"/>
                </a:lnTo>
                <a:lnTo>
                  <a:pt x="35912" y="1364642"/>
                </a:ln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5"/>
          <p:cNvSpPr/>
          <p:nvPr/>
        </p:nvSpPr>
        <p:spPr>
          <a:xfrm>
            <a:off x="552141" y="1490333"/>
            <a:ext cx="242404" cy="215470"/>
          </a:xfrm>
          <a:custGeom>
            <a:avLst/>
            <a:gdLst/>
            <a:ahLst/>
            <a:cxnLst/>
            <a:rect l="l" t="t" r="r" b="b"/>
            <a:pathLst>
              <a:path w="242404" h="215470">
                <a:moveTo>
                  <a:pt x="215638" y="101001"/>
                </a:moveTo>
                <a:lnTo>
                  <a:pt x="141570" y="101001"/>
                </a:lnTo>
                <a:cubicBezTo>
                  <a:pt x="134122" y="101001"/>
                  <a:pt x="128104" y="94983"/>
                  <a:pt x="128104" y="87535"/>
                </a:cubicBezTo>
                <a:lnTo>
                  <a:pt x="128104" y="13467"/>
                </a:lnTo>
                <a:cubicBezTo>
                  <a:pt x="128104" y="6018"/>
                  <a:pt x="134164" y="-84"/>
                  <a:pt x="141528" y="884"/>
                </a:cubicBezTo>
                <a:cubicBezTo>
                  <a:pt x="186558" y="6860"/>
                  <a:pt x="222245" y="42547"/>
                  <a:pt x="228221" y="87577"/>
                </a:cubicBezTo>
                <a:cubicBezTo>
                  <a:pt x="229189" y="94941"/>
                  <a:pt x="223087" y="101001"/>
                  <a:pt x="215638" y="101001"/>
                </a:cubicBezTo>
                <a:close/>
                <a:moveTo>
                  <a:pt x="93679" y="15655"/>
                </a:moveTo>
                <a:cubicBezTo>
                  <a:pt x="101296" y="14056"/>
                  <a:pt x="107903" y="20284"/>
                  <a:pt x="107903" y="28070"/>
                </a:cubicBezTo>
                <a:lnTo>
                  <a:pt x="107903" y="111102"/>
                </a:lnTo>
                <a:cubicBezTo>
                  <a:pt x="107903" y="113458"/>
                  <a:pt x="108745" y="115731"/>
                  <a:pt x="110218" y="117540"/>
                </a:cubicBezTo>
                <a:lnTo>
                  <a:pt x="165811" y="184622"/>
                </a:lnTo>
                <a:cubicBezTo>
                  <a:pt x="170735" y="190556"/>
                  <a:pt x="169682" y="199520"/>
                  <a:pt x="162907" y="203181"/>
                </a:cubicBezTo>
                <a:cubicBezTo>
                  <a:pt x="148556" y="211009"/>
                  <a:pt x="132102" y="215470"/>
                  <a:pt x="114637" y="215470"/>
                </a:cubicBezTo>
                <a:cubicBezTo>
                  <a:pt x="58875" y="215470"/>
                  <a:pt x="13635" y="170230"/>
                  <a:pt x="13635" y="114468"/>
                </a:cubicBezTo>
                <a:cubicBezTo>
                  <a:pt x="13635" y="65861"/>
                  <a:pt x="47934" y="25292"/>
                  <a:pt x="93679" y="15655"/>
                </a:cubicBezTo>
                <a:close/>
                <a:moveTo>
                  <a:pt x="201077" y="121202"/>
                </a:moveTo>
                <a:lnTo>
                  <a:pt x="228011" y="121202"/>
                </a:lnTo>
                <a:cubicBezTo>
                  <a:pt x="235796" y="121202"/>
                  <a:pt x="242025" y="127809"/>
                  <a:pt x="240426" y="135426"/>
                </a:cubicBezTo>
                <a:cubicBezTo>
                  <a:pt x="236133" y="155795"/>
                  <a:pt x="225696" y="173891"/>
                  <a:pt x="211135" y="187694"/>
                </a:cubicBezTo>
                <a:cubicBezTo>
                  <a:pt x="205959" y="192618"/>
                  <a:pt x="197837" y="191566"/>
                  <a:pt x="193292" y="186053"/>
                </a:cubicBezTo>
                <a:lnTo>
                  <a:pt x="157773" y="143254"/>
                </a:lnTo>
                <a:cubicBezTo>
                  <a:pt x="150492" y="134458"/>
                  <a:pt x="156763" y="121202"/>
                  <a:pt x="168125" y="121202"/>
                </a:cubicBezTo>
                <a:lnTo>
                  <a:pt x="201035" y="12120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915747" y="1472377"/>
            <a:ext cx="216367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Subcategory Performance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119" y="1867405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848412" y="1831493"/>
            <a:ext cx="404005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Phones, Chairs, and Binders</a:t>
            </a:r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contribute significantly to total sales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652" y="2154698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0"/>
                </a:moveTo>
                <a:cubicBezTo>
                  <a:pt x="85441" y="0"/>
                  <a:pt x="89702" y="2557"/>
                  <a:pt x="91911" y="6628"/>
                </a:cubicBezTo>
                <a:lnTo>
                  <a:pt x="160087" y="132880"/>
                </a:lnTo>
                <a:cubicBezTo>
                  <a:pt x="162202" y="136794"/>
                  <a:pt x="162107" y="141528"/>
                  <a:pt x="159835" y="145347"/>
                </a:cubicBezTo>
                <a:cubicBezTo>
                  <a:pt x="157562" y="149167"/>
                  <a:pt x="153428" y="151502"/>
                  <a:pt x="148977" y="151502"/>
                </a:cubicBezTo>
                <a:lnTo>
                  <a:pt x="12625" y="151502"/>
                </a:lnTo>
                <a:cubicBezTo>
                  <a:pt x="8175" y="151502"/>
                  <a:pt x="4072" y="149167"/>
                  <a:pt x="1768" y="145347"/>
                </a:cubicBezTo>
                <a:cubicBezTo>
                  <a:pt x="-537" y="141528"/>
                  <a:pt x="-600" y="136794"/>
                  <a:pt x="1515" y="132880"/>
                </a:cubicBezTo>
                <a:lnTo>
                  <a:pt x="69691" y="6628"/>
                </a:lnTo>
                <a:cubicBezTo>
                  <a:pt x="71900" y="2557"/>
                  <a:pt x="76161" y="0"/>
                  <a:pt x="80801" y="0"/>
                </a:cubicBezTo>
                <a:close/>
                <a:moveTo>
                  <a:pt x="80801" y="53026"/>
                </a:moveTo>
                <a:cubicBezTo>
                  <a:pt x="76603" y="53026"/>
                  <a:pt x="73226" y="56403"/>
                  <a:pt x="73226" y="60601"/>
                </a:cubicBezTo>
                <a:lnTo>
                  <a:pt x="73226" y="95951"/>
                </a:lnTo>
                <a:cubicBezTo>
                  <a:pt x="73226" y="100149"/>
                  <a:pt x="76603" y="103527"/>
                  <a:pt x="80801" y="103527"/>
                </a:cubicBezTo>
                <a:cubicBezTo>
                  <a:pt x="84999" y="103527"/>
                  <a:pt x="88376" y="100149"/>
                  <a:pt x="88376" y="95951"/>
                </a:cubicBezTo>
                <a:lnTo>
                  <a:pt x="88376" y="60601"/>
                </a:lnTo>
                <a:cubicBezTo>
                  <a:pt x="88376" y="56403"/>
                  <a:pt x="84999" y="53026"/>
                  <a:pt x="80801" y="53026"/>
                </a:cubicBezTo>
                <a:close/>
                <a:moveTo>
                  <a:pt x="89228" y="121202"/>
                </a:moveTo>
                <a:cubicBezTo>
                  <a:pt x="89420" y="118074"/>
                  <a:pt x="87860" y="115098"/>
                  <a:pt x="85179" y="113475"/>
                </a:cubicBezTo>
                <a:cubicBezTo>
                  <a:pt x="82497" y="111853"/>
                  <a:pt x="79137" y="111853"/>
                  <a:pt x="76455" y="113475"/>
                </a:cubicBezTo>
                <a:cubicBezTo>
                  <a:pt x="73774" y="115098"/>
                  <a:pt x="72214" y="118074"/>
                  <a:pt x="72405" y="121202"/>
                </a:cubicBezTo>
                <a:cubicBezTo>
                  <a:pt x="72214" y="124330"/>
                  <a:pt x="73774" y="127306"/>
                  <a:pt x="76455" y="128928"/>
                </a:cubicBezTo>
                <a:cubicBezTo>
                  <a:pt x="79137" y="130550"/>
                  <a:pt x="82497" y="130550"/>
                  <a:pt x="85179" y="128928"/>
                </a:cubicBezTo>
                <a:cubicBezTo>
                  <a:pt x="87860" y="127306"/>
                  <a:pt x="89420" y="124330"/>
                  <a:pt x="89228" y="12120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713" y="2118786"/>
            <a:ext cx="5108430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subcategories show </a:t>
            </a:r>
            <a:pPr>
              <a:lnSpc>
                <a:spcPct val="12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profit contribution</a:t>
            </a:r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indicating pricing or cost inefficiencies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4633" y="1328730"/>
            <a:ext cx="5629149" cy="1364642"/>
          </a:xfrm>
          <a:custGeom>
            <a:avLst/>
            <a:gdLst/>
            <a:ahLst/>
            <a:cxnLst/>
            <a:rect l="l" t="t" r="r" b="b"/>
            <a:pathLst>
              <a:path w="5629149" h="1364642">
                <a:moveTo>
                  <a:pt x="35912" y="0"/>
                </a:moveTo>
                <a:lnTo>
                  <a:pt x="5557328" y="0"/>
                </a:lnTo>
                <a:cubicBezTo>
                  <a:pt x="5596993" y="0"/>
                  <a:pt x="5629149" y="32155"/>
                  <a:pt x="5629149" y="71821"/>
                </a:cubicBezTo>
                <a:lnTo>
                  <a:pt x="5629149" y="1292821"/>
                </a:lnTo>
                <a:cubicBezTo>
                  <a:pt x="5629149" y="1332487"/>
                  <a:pt x="5596993" y="1364642"/>
                  <a:pt x="5557328" y="1364642"/>
                </a:cubicBez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04633" y="1328730"/>
            <a:ext cx="35912" cy="1364642"/>
          </a:xfrm>
          <a:custGeom>
            <a:avLst/>
            <a:gdLst/>
            <a:ahLst/>
            <a:cxnLst/>
            <a:rect l="l" t="t" r="r" b="b"/>
            <a:pathLst>
              <a:path w="35912" h="1364642">
                <a:moveTo>
                  <a:pt x="35912" y="0"/>
                </a:moveTo>
                <a:lnTo>
                  <a:pt x="35912" y="0"/>
                </a:lnTo>
                <a:lnTo>
                  <a:pt x="35912" y="1364642"/>
                </a:ln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6636" y="1490333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53867" y="0"/>
                </a:moveTo>
                <a:cubicBezTo>
                  <a:pt x="61316" y="0"/>
                  <a:pt x="67334" y="6018"/>
                  <a:pt x="67334" y="13467"/>
                </a:cubicBezTo>
                <a:lnTo>
                  <a:pt x="67334" y="26934"/>
                </a:lnTo>
                <a:lnTo>
                  <a:pt x="121202" y="26934"/>
                </a:lnTo>
                <a:lnTo>
                  <a:pt x="121202" y="13467"/>
                </a:lnTo>
                <a:cubicBezTo>
                  <a:pt x="121202" y="6018"/>
                  <a:pt x="127220" y="0"/>
                  <a:pt x="134669" y="0"/>
                </a:cubicBezTo>
                <a:cubicBezTo>
                  <a:pt x="142117" y="0"/>
                  <a:pt x="148135" y="6018"/>
                  <a:pt x="148135" y="13467"/>
                </a:cubicBezTo>
                <a:lnTo>
                  <a:pt x="148135" y="26934"/>
                </a:lnTo>
                <a:lnTo>
                  <a:pt x="161602" y="26934"/>
                </a:lnTo>
                <a:cubicBezTo>
                  <a:pt x="176458" y="26934"/>
                  <a:pt x="188536" y="39012"/>
                  <a:pt x="188536" y="53867"/>
                </a:cubicBezTo>
                <a:lnTo>
                  <a:pt x="188536" y="175069"/>
                </a:lnTo>
                <a:cubicBezTo>
                  <a:pt x="188536" y="189925"/>
                  <a:pt x="176458" y="202003"/>
                  <a:pt x="161602" y="202003"/>
                </a:cubicBezTo>
                <a:lnTo>
                  <a:pt x="26934" y="202003"/>
                </a:lnTo>
                <a:cubicBezTo>
                  <a:pt x="12078" y="202003"/>
                  <a:pt x="0" y="189925"/>
                  <a:pt x="0" y="175069"/>
                </a:cubicBezTo>
                <a:lnTo>
                  <a:pt x="0" y="53867"/>
                </a:lnTo>
                <a:cubicBezTo>
                  <a:pt x="0" y="39012"/>
                  <a:pt x="12078" y="26934"/>
                  <a:pt x="26934" y="26934"/>
                </a:cubicBezTo>
                <a:lnTo>
                  <a:pt x="40401" y="26934"/>
                </a:lnTo>
                <a:lnTo>
                  <a:pt x="40401" y="13467"/>
                </a:lnTo>
                <a:cubicBezTo>
                  <a:pt x="40401" y="6018"/>
                  <a:pt x="46419" y="0"/>
                  <a:pt x="53867" y="0"/>
                </a:cubicBezTo>
                <a:close/>
                <a:moveTo>
                  <a:pt x="26934" y="101001"/>
                </a:moveTo>
                <a:lnTo>
                  <a:pt x="26934" y="114468"/>
                </a:lnTo>
                <a:cubicBezTo>
                  <a:pt x="26934" y="118172"/>
                  <a:pt x="29964" y="121202"/>
                  <a:pt x="33667" y="121202"/>
                </a:cubicBezTo>
                <a:lnTo>
                  <a:pt x="47134" y="121202"/>
                </a:lnTo>
                <a:cubicBezTo>
                  <a:pt x="50837" y="121202"/>
                  <a:pt x="53867" y="118172"/>
                  <a:pt x="53867" y="114468"/>
                </a:cubicBezTo>
                <a:lnTo>
                  <a:pt x="53867" y="101001"/>
                </a:lnTo>
                <a:cubicBezTo>
                  <a:pt x="53867" y="97298"/>
                  <a:pt x="50837" y="94268"/>
                  <a:pt x="47134" y="94268"/>
                </a:cubicBezTo>
                <a:lnTo>
                  <a:pt x="33667" y="94268"/>
                </a:lnTo>
                <a:cubicBezTo>
                  <a:pt x="29964" y="94268"/>
                  <a:pt x="26934" y="97298"/>
                  <a:pt x="26934" y="101001"/>
                </a:cubicBezTo>
                <a:close/>
                <a:moveTo>
                  <a:pt x="80801" y="101001"/>
                </a:moveTo>
                <a:lnTo>
                  <a:pt x="80801" y="114468"/>
                </a:lnTo>
                <a:cubicBezTo>
                  <a:pt x="80801" y="118172"/>
                  <a:pt x="83831" y="121202"/>
                  <a:pt x="87535" y="121202"/>
                </a:cubicBezTo>
                <a:lnTo>
                  <a:pt x="101001" y="121202"/>
                </a:lnTo>
                <a:cubicBezTo>
                  <a:pt x="104705" y="121202"/>
                  <a:pt x="107735" y="118172"/>
                  <a:pt x="107735" y="114468"/>
                </a:cubicBezTo>
                <a:lnTo>
                  <a:pt x="107735" y="101001"/>
                </a:lnTo>
                <a:cubicBezTo>
                  <a:pt x="107735" y="97298"/>
                  <a:pt x="104705" y="94268"/>
                  <a:pt x="101001" y="94268"/>
                </a:cubicBezTo>
                <a:lnTo>
                  <a:pt x="87535" y="94268"/>
                </a:lnTo>
                <a:cubicBezTo>
                  <a:pt x="83831" y="94268"/>
                  <a:pt x="80801" y="97298"/>
                  <a:pt x="80801" y="101001"/>
                </a:cubicBezTo>
                <a:close/>
                <a:moveTo>
                  <a:pt x="141402" y="94268"/>
                </a:moveTo>
                <a:cubicBezTo>
                  <a:pt x="137699" y="94268"/>
                  <a:pt x="134669" y="97298"/>
                  <a:pt x="134669" y="101001"/>
                </a:cubicBezTo>
                <a:lnTo>
                  <a:pt x="134669" y="114468"/>
                </a:lnTo>
                <a:cubicBezTo>
                  <a:pt x="134669" y="118172"/>
                  <a:pt x="137699" y="121202"/>
                  <a:pt x="141402" y="121202"/>
                </a:cubicBezTo>
                <a:lnTo>
                  <a:pt x="154869" y="121202"/>
                </a:lnTo>
                <a:cubicBezTo>
                  <a:pt x="158572" y="121202"/>
                  <a:pt x="161602" y="118172"/>
                  <a:pt x="161602" y="114468"/>
                </a:cubicBezTo>
                <a:lnTo>
                  <a:pt x="161602" y="101001"/>
                </a:lnTo>
                <a:cubicBezTo>
                  <a:pt x="161602" y="97298"/>
                  <a:pt x="158572" y="94268"/>
                  <a:pt x="154869" y="94268"/>
                </a:cubicBezTo>
                <a:lnTo>
                  <a:pt x="141402" y="94268"/>
                </a:lnTo>
                <a:close/>
                <a:moveTo>
                  <a:pt x="26934" y="154869"/>
                </a:moveTo>
                <a:lnTo>
                  <a:pt x="26934" y="168336"/>
                </a:lnTo>
                <a:cubicBezTo>
                  <a:pt x="26934" y="172039"/>
                  <a:pt x="29964" y="175069"/>
                  <a:pt x="33667" y="175069"/>
                </a:cubicBezTo>
                <a:lnTo>
                  <a:pt x="47134" y="175069"/>
                </a:lnTo>
                <a:cubicBezTo>
                  <a:pt x="50837" y="175069"/>
                  <a:pt x="53867" y="172039"/>
                  <a:pt x="53867" y="168336"/>
                </a:cubicBezTo>
                <a:lnTo>
                  <a:pt x="53867" y="154869"/>
                </a:lnTo>
                <a:cubicBezTo>
                  <a:pt x="53867" y="151166"/>
                  <a:pt x="50837" y="148135"/>
                  <a:pt x="47134" y="148135"/>
                </a:cubicBezTo>
                <a:lnTo>
                  <a:pt x="33667" y="148135"/>
                </a:lnTo>
                <a:cubicBezTo>
                  <a:pt x="29964" y="148135"/>
                  <a:pt x="26934" y="151166"/>
                  <a:pt x="26934" y="154869"/>
                </a:cubicBezTo>
                <a:close/>
                <a:moveTo>
                  <a:pt x="87535" y="148135"/>
                </a:moveTo>
                <a:cubicBezTo>
                  <a:pt x="83831" y="148135"/>
                  <a:pt x="80801" y="151166"/>
                  <a:pt x="80801" y="154869"/>
                </a:cubicBezTo>
                <a:lnTo>
                  <a:pt x="80801" y="168336"/>
                </a:lnTo>
                <a:cubicBezTo>
                  <a:pt x="80801" y="172039"/>
                  <a:pt x="83831" y="175069"/>
                  <a:pt x="87535" y="175069"/>
                </a:cubicBezTo>
                <a:lnTo>
                  <a:pt x="101001" y="175069"/>
                </a:lnTo>
                <a:cubicBezTo>
                  <a:pt x="104705" y="175069"/>
                  <a:pt x="107735" y="172039"/>
                  <a:pt x="107735" y="168336"/>
                </a:cubicBezTo>
                <a:lnTo>
                  <a:pt x="107735" y="154869"/>
                </a:lnTo>
                <a:cubicBezTo>
                  <a:pt x="107735" y="151166"/>
                  <a:pt x="104705" y="148135"/>
                  <a:pt x="101001" y="148135"/>
                </a:cubicBezTo>
                <a:lnTo>
                  <a:pt x="87535" y="148135"/>
                </a:lnTo>
                <a:close/>
                <a:moveTo>
                  <a:pt x="134669" y="154869"/>
                </a:moveTo>
                <a:lnTo>
                  <a:pt x="134669" y="168336"/>
                </a:lnTo>
                <a:cubicBezTo>
                  <a:pt x="134669" y="172039"/>
                  <a:pt x="137699" y="175069"/>
                  <a:pt x="141402" y="175069"/>
                </a:cubicBezTo>
                <a:lnTo>
                  <a:pt x="154869" y="175069"/>
                </a:lnTo>
                <a:cubicBezTo>
                  <a:pt x="158572" y="175069"/>
                  <a:pt x="161602" y="172039"/>
                  <a:pt x="161602" y="168336"/>
                </a:cubicBezTo>
                <a:lnTo>
                  <a:pt x="161602" y="154869"/>
                </a:lnTo>
                <a:cubicBezTo>
                  <a:pt x="161602" y="151166"/>
                  <a:pt x="158572" y="148135"/>
                  <a:pt x="154869" y="148135"/>
                </a:cubicBezTo>
                <a:lnTo>
                  <a:pt x="141402" y="148135"/>
                </a:lnTo>
                <a:cubicBezTo>
                  <a:pt x="137699" y="148135"/>
                  <a:pt x="134669" y="151166"/>
                  <a:pt x="134669" y="15486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6743308" y="1472377"/>
            <a:ext cx="127486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Trends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88680" y="1867405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20200" y="20200"/>
                </a:moveTo>
                <a:cubicBezTo>
                  <a:pt x="20200" y="14614"/>
                  <a:pt x="15687" y="10100"/>
                  <a:pt x="10100" y="10100"/>
                </a:cubicBezTo>
                <a:cubicBezTo>
                  <a:pt x="4514" y="10100"/>
                  <a:pt x="0" y="14614"/>
                  <a:pt x="0" y="20200"/>
                </a:cubicBezTo>
                <a:lnTo>
                  <a:pt x="0" y="126252"/>
                </a:lnTo>
                <a:cubicBezTo>
                  <a:pt x="0" y="140203"/>
                  <a:pt x="11300" y="151502"/>
                  <a:pt x="25250" y="151502"/>
                </a:cubicBezTo>
                <a:lnTo>
                  <a:pt x="151502" y="151502"/>
                </a:lnTo>
                <a:cubicBezTo>
                  <a:pt x="157089" y="151502"/>
                  <a:pt x="161602" y="146989"/>
                  <a:pt x="161602" y="141402"/>
                </a:cubicBezTo>
                <a:cubicBezTo>
                  <a:pt x="161602" y="135815"/>
                  <a:pt x="157089" y="131302"/>
                  <a:pt x="151502" y="131302"/>
                </a:cubicBezTo>
                <a:lnTo>
                  <a:pt x="25250" y="131302"/>
                </a:lnTo>
                <a:cubicBezTo>
                  <a:pt x="22473" y="131302"/>
                  <a:pt x="20200" y="129029"/>
                  <a:pt x="20200" y="126252"/>
                </a:cubicBezTo>
                <a:lnTo>
                  <a:pt x="20200" y="20200"/>
                </a:lnTo>
                <a:close/>
                <a:moveTo>
                  <a:pt x="148535" y="47534"/>
                </a:moveTo>
                <a:cubicBezTo>
                  <a:pt x="152481" y="43588"/>
                  <a:pt x="152481" y="37181"/>
                  <a:pt x="148535" y="33236"/>
                </a:cubicBezTo>
                <a:cubicBezTo>
                  <a:pt x="144590" y="29290"/>
                  <a:pt x="138183" y="29290"/>
                  <a:pt x="134237" y="33236"/>
                </a:cubicBezTo>
                <a:lnTo>
                  <a:pt x="101001" y="66503"/>
                </a:lnTo>
                <a:lnTo>
                  <a:pt x="82884" y="48418"/>
                </a:lnTo>
                <a:cubicBezTo>
                  <a:pt x="78939" y="44472"/>
                  <a:pt x="72532" y="44472"/>
                  <a:pt x="68586" y="48418"/>
                </a:cubicBezTo>
                <a:lnTo>
                  <a:pt x="38286" y="78718"/>
                </a:lnTo>
                <a:cubicBezTo>
                  <a:pt x="34341" y="82663"/>
                  <a:pt x="34341" y="89071"/>
                  <a:pt x="38286" y="93016"/>
                </a:cubicBezTo>
                <a:cubicBezTo>
                  <a:pt x="42231" y="96961"/>
                  <a:pt x="48639" y="96961"/>
                  <a:pt x="52584" y="93016"/>
                </a:cubicBezTo>
                <a:lnTo>
                  <a:pt x="75751" y="69849"/>
                </a:lnTo>
                <a:lnTo>
                  <a:pt x="93868" y="87966"/>
                </a:lnTo>
                <a:cubicBezTo>
                  <a:pt x="97814" y="91911"/>
                  <a:pt x="104221" y="91911"/>
                  <a:pt x="108166" y="87966"/>
                </a:cubicBezTo>
                <a:lnTo>
                  <a:pt x="148567" y="4756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973" y="1831493"/>
            <a:ext cx="420166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and profit exhibit </a:t>
            </a:r>
            <a:pPr>
              <a:lnSpc>
                <a:spcPct val="12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peaks and troughs</a:t>
            </a:r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the year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8880" y="2154698"/>
            <a:ext cx="121202" cy="161602"/>
          </a:xfrm>
          <a:custGeom>
            <a:avLst/>
            <a:gdLst/>
            <a:ahLst/>
            <a:cxnLst/>
            <a:rect l="l" t="t" r="r" b="b"/>
            <a:pathLst>
              <a:path w="121202" h="161602">
                <a:moveTo>
                  <a:pt x="53468" y="158635"/>
                </a:moveTo>
                <a:cubicBezTo>
                  <a:pt x="57413" y="162581"/>
                  <a:pt x="63820" y="162581"/>
                  <a:pt x="67766" y="158635"/>
                </a:cubicBezTo>
                <a:lnTo>
                  <a:pt x="118266" y="108135"/>
                </a:lnTo>
                <a:cubicBezTo>
                  <a:pt x="122212" y="104189"/>
                  <a:pt x="122212" y="97782"/>
                  <a:pt x="118266" y="93837"/>
                </a:cubicBezTo>
                <a:cubicBezTo>
                  <a:pt x="114321" y="89891"/>
                  <a:pt x="107914" y="89891"/>
                  <a:pt x="103968" y="93837"/>
                </a:cubicBezTo>
                <a:lnTo>
                  <a:pt x="70701" y="127104"/>
                </a:lnTo>
                <a:lnTo>
                  <a:pt x="70701" y="10100"/>
                </a:lnTo>
                <a:cubicBezTo>
                  <a:pt x="70701" y="4514"/>
                  <a:pt x="66188" y="0"/>
                  <a:pt x="60601" y="0"/>
                </a:cubicBezTo>
                <a:cubicBezTo>
                  <a:pt x="55014" y="0"/>
                  <a:pt x="50501" y="4514"/>
                  <a:pt x="50501" y="10100"/>
                </a:cubicBezTo>
                <a:lnTo>
                  <a:pt x="50501" y="127104"/>
                </a:lnTo>
                <a:lnTo>
                  <a:pt x="17233" y="93837"/>
                </a:lnTo>
                <a:cubicBezTo>
                  <a:pt x="13288" y="89891"/>
                  <a:pt x="6881" y="89891"/>
                  <a:pt x="2935" y="93837"/>
                </a:cubicBezTo>
                <a:cubicBezTo>
                  <a:pt x="-1010" y="97782"/>
                  <a:pt x="-1010" y="104189"/>
                  <a:pt x="2935" y="108135"/>
                </a:cubicBezTo>
                <a:lnTo>
                  <a:pt x="53436" y="15863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973" y="2118786"/>
            <a:ext cx="496478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Several weeks fall below average profit thresholds, indicating </a:t>
            </a:r>
            <a:pPr>
              <a:lnSpc>
                <a:spcPct val="12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 volatility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9116" y="2837019"/>
            <a:ext cx="11473767" cy="2441991"/>
          </a:xfrm>
          <a:custGeom>
            <a:avLst/>
            <a:gdLst/>
            <a:ahLst/>
            <a:cxnLst/>
            <a:rect l="l" t="t" r="r" b="b"/>
            <a:pathLst>
              <a:path w="11473767" h="2441991">
                <a:moveTo>
                  <a:pt x="71819" y="0"/>
                </a:moveTo>
                <a:lnTo>
                  <a:pt x="11401948" y="0"/>
                </a:lnTo>
                <a:cubicBezTo>
                  <a:pt x="11441613" y="0"/>
                  <a:pt x="11473767" y="32154"/>
                  <a:pt x="11473767" y="71819"/>
                </a:cubicBezTo>
                <a:lnTo>
                  <a:pt x="11473767" y="2370172"/>
                </a:lnTo>
                <a:cubicBezTo>
                  <a:pt x="11473767" y="2409837"/>
                  <a:pt x="11441613" y="2441991"/>
                  <a:pt x="11401948" y="2441991"/>
                </a:cubicBezTo>
                <a:lnTo>
                  <a:pt x="71819" y="2441991"/>
                </a:lnTo>
                <a:cubicBezTo>
                  <a:pt x="32154" y="2441991"/>
                  <a:pt x="0" y="2409837"/>
                  <a:pt x="0" y="2370172"/>
                </a:cubicBezTo>
                <a:lnTo>
                  <a:pt x="0" y="71819"/>
                </a:lnTo>
                <a:cubicBezTo>
                  <a:pt x="0" y="32181"/>
                  <a:pt x="32181" y="0"/>
                  <a:pt x="71819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763" y="2980666"/>
            <a:ext cx="1127625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Subcategory Performance Visualization</a:t>
            </a:r>
            <a:endParaRPr lang="en-US" sz="1600" dirty="0"/>
          </a:p>
        </p:txBody>
      </p:sp>
      <p:pic>
        <p:nvPicPr>
          <p:cNvPr id="23" name="Image 0" descr="https://kimi-img.moonshot.cn/pub/slides/26-01-27-00:54:53-d5rponbv466ko45f8bq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763" y="3339782"/>
            <a:ext cx="10486197" cy="1795582"/>
          </a:xfrm>
          <a:prstGeom prst="roundRect">
            <a:avLst>
              <a:gd name="adj" fmla="val 0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377072" y="5422657"/>
            <a:ext cx="5647105" cy="1077349"/>
          </a:xfrm>
          <a:custGeom>
            <a:avLst/>
            <a:gdLst/>
            <a:ahLst/>
            <a:cxnLst/>
            <a:rect l="l" t="t" r="r" b="b"/>
            <a:pathLst>
              <a:path w="5647105" h="1077349">
                <a:moveTo>
                  <a:pt x="35912" y="0"/>
                </a:moveTo>
                <a:lnTo>
                  <a:pt x="5575278" y="0"/>
                </a:lnTo>
                <a:cubicBezTo>
                  <a:pt x="5614947" y="0"/>
                  <a:pt x="5647105" y="32158"/>
                  <a:pt x="5647105" y="71827"/>
                </a:cubicBezTo>
                <a:lnTo>
                  <a:pt x="5647105" y="1005522"/>
                </a:lnTo>
                <a:cubicBezTo>
                  <a:pt x="5647105" y="1045191"/>
                  <a:pt x="5614947" y="1077349"/>
                  <a:pt x="5575278" y="1077349"/>
                </a:cubicBez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77072" y="5422657"/>
            <a:ext cx="35912" cy="1077349"/>
          </a:xfrm>
          <a:custGeom>
            <a:avLst/>
            <a:gdLst/>
            <a:ahLst/>
            <a:cxnLst/>
            <a:rect l="l" t="t" r="r" b="b"/>
            <a:pathLst>
              <a:path w="35912" h="1077349">
                <a:moveTo>
                  <a:pt x="35912" y="0"/>
                </a:moveTo>
                <a:lnTo>
                  <a:pt x="35912" y="0"/>
                </a:lnTo>
                <a:lnTo>
                  <a:pt x="35912" y="1077349"/>
                </a:ln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3"/>
          <p:cNvSpPr/>
          <p:nvPr/>
        </p:nvSpPr>
        <p:spPr>
          <a:xfrm>
            <a:off x="592542" y="5602215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123264" y="161602"/>
                </a:moveTo>
                <a:cubicBezTo>
                  <a:pt x="126336" y="152218"/>
                  <a:pt x="132480" y="143717"/>
                  <a:pt x="139424" y="136394"/>
                </a:cubicBezTo>
                <a:cubicBezTo>
                  <a:pt x="153186" y="121917"/>
                  <a:pt x="161602" y="102348"/>
                  <a:pt x="161602" y="80801"/>
                </a:cubicBezTo>
                <a:cubicBezTo>
                  <a:pt x="161602" y="36192"/>
                  <a:pt x="125410" y="0"/>
                  <a:pt x="80801" y="0"/>
                </a:cubicBezTo>
                <a:cubicBezTo>
                  <a:pt x="36192" y="0"/>
                  <a:pt x="0" y="36192"/>
                  <a:pt x="0" y="80801"/>
                </a:cubicBezTo>
                <a:cubicBezTo>
                  <a:pt x="0" y="102348"/>
                  <a:pt x="8417" y="121917"/>
                  <a:pt x="22178" y="136394"/>
                </a:cubicBezTo>
                <a:cubicBezTo>
                  <a:pt x="29122" y="143717"/>
                  <a:pt x="35308" y="152218"/>
                  <a:pt x="38338" y="161602"/>
                </a:cubicBezTo>
                <a:lnTo>
                  <a:pt x="123222" y="161602"/>
                </a:lnTo>
                <a:close/>
                <a:moveTo>
                  <a:pt x="121202" y="181803"/>
                </a:moveTo>
                <a:lnTo>
                  <a:pt x="40401" y="181803"/>
                </a:lnTo>
                <a:lnTo>
                  <a:pt x="40401" y="188536"/>
                </a:lnTo>
                <a:cubicBezTo>
                  <a:pt x="40401" y="207137"/>
                  <a:pt x="55467" y="222203"/>
                  <a:pt x="74068" y="222203"/>
                </a:cubicBezTo>
                <a:lnTo>
                  <a:pt x="87535" y="222203"/>
                </a:lnTo>
                <a:cubicBezTo>
                  <a:pt x="106136" y="222203"/>
                  <a:pt x="121202" y="207137"/>
                  <a:pt x="121202" y="188536"/>
                </a:cubicBezTo>
                <a:lnTo>
                  <a:pt x="121202" y="181803"/>
                </a:lnTo>
                <a:close/>
                <a:moveTo>
                  <a:pt x="77434" y="47134"/>
                </a:moveTo>
                <a:cubicBezTo>
                  <a:pt x="60685" y="47134"/>
                  <a:pt x="47134" y="60685"/>
                  <a:pt x="47134" y="77434"/>
                </a:cubicBezTo>
                <a:cubicBezTo>
                  <a:pt x="47134" y="83032"/>
                  <a:pt x="42631" y="87535"/>
                  <a:pt x="37034" y="87535"/>
                </a:cubicBezTo>
                <a:cubicBezTo>
                  <a:pt x="31437" y="87535"/>
                  <a:pt x="26934" y="83032"/>
                  <a:pt x="26934" y="77434"/>
                </a:cubicBezTo>
                <a:cubicBezTo>
                  <a:pt x="26934" y="49533"/>
                  <a:pt x="49533" y="26934"/>
                  <a:pt x="77434" y="26934"/>
                </a:cubicBezTo>
                <a:cubicBezTo>
                  <a:pt x="83032" y="26934"/>
                  <a:pt x="87535" y="31437"/>
                  <a:pt x="87535" y="37034"/>
                </a:cubicBezTo>
                <a:cubicBezTo>
                  <a:pt x="87535" y="42631"/>
                  <a:pt x="83032" y="47134"/>
                  <a:pt x="77434" y="4713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4"/>
          <p:cNvSpPr/>
          <p:nvPr/>
        </p:nvSpPr>
        <p:spPr>
          <a:xfrm>
            <a:off x="915747" y="5566303"/>
            <a:ext cx="481215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Priority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5747" y="5889508"/>
            <a:ext cx="4803181" cy="2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High-performing products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should be prioritized in inventory and promotions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86677" y="5422657"/>
            <a:ext cx="5647105" cy="1077349"/>
          </a:xfrm>
          <a:custGeom>
            <a:avLst/>
            <a:gdLst/>
            <a:ahLst/>
            <a:cxnLst/>
            <a:rect l="l" t="t" r="r" b="b"/>
            <a:pathLst>
              <a:path w="5647105" h="1077349">
                <a:moveTo>
                  <a:pt x="35912" y="0"/>
                </a:moveTo>
                <a:lnTo>
                  <a:pt x="5575278" y="0"/>
                </a:lnTo>
                <a:cubicBezTo>
                  <a:pt x="5614947" y="0"/>
                  <a:pt x="5647105" y="32158"/>
                  <a:pt x="5647105" y="71827"/>
                </a:cubicBezTo>
                <a:lnTo>
                  <a:pt x="5647105" y="1005522"/>
                </a:lnTo>
                <a:cubicBezTo>
                  <a:pt x="5647105" y="1045191"/>
                  <a:pt x="5614947" y="1077349"/>
                  <a:pt x="5575278" y="1077349"/>
                </a:cubicBez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186677" y="5422657"/>
            <a:ext cx="35912" cy="1077349"/>
          </a:xfrm>
          <a:custGeom>
            <a:avLst/>
            <a:gdLst/>
            <a:ahLst/>
            <a:cxnLst/>
            <a:rect l="l" t="t" r="r" b="b"/>
            <a:pathLst>
              <a:path w="35912" h="1077349">
                <a:moveTo>
                  <a:pt x="35912" y="0"/>
                </a:moveTo>
                <a:lnTo>
                  <a:pt x="35912" y="0"/>
                </a:lnTo>
                <a:lnTo>
                  <a:pt x="35912" y="1077349"/>
                </a:ln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Shape 28"/>
          <p:cNvSpPr/>
          <p:nvPr/>
        </p:nvSpPr>
        <p:spPr>
          <a:xfrm>
            <a:off x="6370724" y="5602215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07735" y="215470"/>
                </a:moveTo>
                <a:cubicBezTo>
                  <a:pt x="167195" y="215470"/>
                  <a:pt x="215470" y="167195"/>
                  <a:pt x="215470" y="107735"/>
                </a:cubicBezTo>
                <a:cubicBezTo>
                  <a:pt x="215470" y="48274"/>
                  <a:pt x="167195" y="0"/>
                  <a:pt x="107735" y="0"/>
                </a:cubicBezTo>
                <a:cubicBezTo>
                  <a:pt x="48274" y="0"/>
                  <a:pt x="0" y="48274"/>
                  <a:pt x="0" y="107735"/>
                </a:cubicBezTo>
                <a:cubicBezTo>
                  <a:pt x="0" y="167195"/>
                  <a:pt x="48274" y="215470"/>
                  <a:pt x="107735" y="215470"/>
                </a:cubicBezTo>
                <a:close/>
                <a:moveTo>
                  <a:pt x="107735" y="57234"/>
                </a:moveTo>
                <a:cubicBezTo>
                  <a:pt x="113332" y="57234"/>
                  <a:pt x="117835" y="61737"/>
                  <a:pt x="117835" y="67334"/>
                </a:cubicBezTo>
                <a:lnTo>
                  <a:pt x="117835" y="114468"/>
                </a:lnTo>
                <a:cubicBezTo>
                  <a:pt x="117835" y="120066"/>
                  <a:pt x="113332" y="124568"/>
                  <a:pt x="107735" y="124568"/>
                </a:cubicBezTo>
                <a:cubicBezTo>
                  <a:pt x="102138" y="124568"/>
                  <a:pt x="97635" y="120066"/>
                  <a:pt x="97635" y="114468"/>
                </a:cubicBezTo>
                <a:lnTo>
                  <a:pt x="97635" y="67334"/>
                </a:lnTo>
                <a:cubicBezTo>
                  <a:pt x="97635" y="61737"/>
                  <a:pt x="102138" y="57234"/>
                  <a:pt x="107735" y="57234"/>
                </a:cubicBezTo>
                <a:close/>
                <a:moveTo>
                  <a:pt x="96498" y="148135"/>
                </a:moveTo>
                <a:cubicBezTo>
                  <a:pt x="96243" y="143965"/>
                  <a:pt x="98323" y="139997"/>
                  <a:pt x="101898" y="137834"/>
                </a:cubicBezTo>
                <a:cubicBezTo>
                  <a:pt x="105474" y="135671"/>
                  <a:pt x="109954" y="135671"/>
                  <a:pt x="113529" y="137834"/>
                </a:cubicBezTo>
                <a:cubicBezTo>
                  <a:pt x="117105" y="139997"/>
                  <a:pt x="119185" y="143965"/>
                  <a:pt x="118929" y="148135"/>
                </a:cubicBezTo>
                <a:cubicBezTo>
                  <a:pt x="119185" y="152306"/>
                  <a:pt x="117105" y="156274"/>
                  <a:pt x="113529" y="158437"/>
                </a:cubicBezTo>
                <a:cubicBezTo>
                  <a:pt x="109954" y="160600"/>
                  <a:pt x="105474" y="160600"/>
                  <a:pt x="101898" y="158437"/>
                </a:cubicBezTo>
                <a:cubicBezTo>
                  <a:pt x="98323" y="156274"/>
                  <a:pt x="96243" y="152306"/>
                  <a:pt x="96498" y="14813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29"/>
          <p:cNvSpPr/>
          <p:nvPr/>
        </p:nvSpPr>
        <p:spPr>
          <a:xfrm>
            <a:off x="6716261" y="5566303"/>
            <a:ext cx="505456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Needed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16261" y="5889508"/>
            <a:ext cx="5045585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Loss-making subcategories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 pricing optimization or cost reduction strategies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5808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spc="144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Behavior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705709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2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Analytics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350" y="1180991"/>
            <a:ext cx="833641" cy="34735"/>
          </a:xfrm>
          <a:custGeom>
            <a:avLst/>
            <a:gdLst/>
            <a:ahLst/>
            <a:cxnLst/>
            <a:rect l="l" t="t" r="r" b="b"/>
            <a:pathLst>
              <a:path w="833641" h="34735">
                <a:moveTo>
                  <a:pt x="0" y="0"/>
                </a:moveTo>
                <a:lnTo>
                  <a:pt x="833641" y="0"/>
                </a:lnTo>
                <a:lnTo>
                  <a:pt x="833641" y="34735"/>
                </a:lnTo>
                <a:lnTo>
                  <a:pt x="0" y="34735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347350" y="1406769"/>
            <a:ext cx="5661812" cy="1302564"/>
          </a:xfrm>
          <a:custGeom>
            <a:avLst/>
            <a:gdLst/>
            <a:ahLst/>
            <a:cxnLst/>
            <a:rect l="l" t="t" r="r" b="b"/>
            <a:pathLst>
              <a:path w="5661812" h="1302564">
                <a:moveTo>
                  <a:pt x="34735" y="0"/>
                </a:moveTo>
                <a:lnTo>
                  <a:pt x="5627077" y="0"/>
                </a:lnTo>
                <a:cubicBezTo>
                  <a:pt x="5646261" y="0"/>
                  <a:pt x="5661812" y="15551"/>
                  <a:pt x="5661812" y="34735"/>
                </a:cubicBezTo>
                <a:lnTo>
                  <a:pt x="5661812" y="1233098"/>
                </a:lnTo>
                <a:cubicBezTo>
                  <a:pt x="5661812" y="1271463"/>
                  <a:pt x="5630711" y="1302564"/>
                  <a:pt x="5592346" y="1302564"/>
                </a:cubicBezTo>
                <a:lnTo>
                  <a:pt x="69466" y="1302564"/>
                </a:lnTo>
                <a:cubicBezTo>
                  <a:pt x="31101" y="1302564"/>
                  <a:pt x="0" y="1271463"/>
                  <a:pt x="0" y="123309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" name="Shape 4"/>
          <p:cNvSpPr/>
          <p:nvPr/>
        </p:nvSpPr>
        <p:spPr>
          <a:xfrm>
            <a:off x="347350" y="1406769"/>
            <a:ext cx="5661812" cy="34735"/>
          </a:xfrm>
          <a:custGeom>
            <a:avLst/>
            <a:gdLst/>
            <a:ahLst/>
            <a:cxnLst/>
            <a:rect l="l" t="t" r="r" b="b"/>
            <a:pathLst>
              <a:path w="5661812" h="34735">
                <a:moveTo>
                  <a:pt x="34735" y="0"/>
                </a:moveTo>
                <a:lnTo>
                  <a:pt x="5627077" y="0"/>
                </a:lnTo>
                <a:cubicBezTo>
                  <a:pt x="5646261" y="0"/>
                  <a:pt x="5661812" y="15551"/>
                  <a:pt x="5661812" y="34735"/>
                </a:cubicBezTo>
                <a:lnTo>
                  <a:pt x="5661812" y="34735"/>
                </a:lnTo>
                <a:lnTo>
                  <a:pt x="0" y="34735"/>
                </a:ln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5"/>
          <p:cNvSpPr/>
          <p:nvPr/>
        </p:nvSpPr>
        <p:spPr>
          <a:xfrm>
            <a:off x="547077" y="1632441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3026" y="13026"/>
                </a:moveTo>
                <a:cubicBezTo>
                  <a:pt x="20230" y="13026"/>
                  <a:pt x="26051" y="18846"/>
                  <a:pt x="26051" y="26051"/>
                </a:cubicBezTo>
                <a:lnTo>
                  <a:pt x="26051" y="162821"/>
                </a:lnTo>
                <a:cubicBezTo>
                  <a:pt x="26051" y="166403"/>
                  <a:pt x="28982" y="169333"/>
                  <a:pt x="32564" y="169333"/>
                </a:cubicBezTo>
                <a:lnTo>
                  <a:pt x="195385" y="169333"/>
                </a:lnTo>
                <a:cubicBezTo>
                  <a:pt x="202589" y="169333"/>
                  <a:pt x="208410" y="175154"/>
                  <a:pt x="208410" y="182359"/>
                </a:cubicBezTo>
                <a:cubicBezTo>
                  <a:pt x="208410" y="189564"/>
                  <a:pt x="202589" y="195385"/>
                  <a:pt x="195385" y="195385"/>
                </a:cubicBezTo>
                <a:lnTo>
                  <a:pt x="32564" y="195385"/>
                </a:lnTo>
                <a:cubicBezTo>
                  <a:pt x="14572" y="195385"/>
                  <a:pt x="0" y="180812"/>
                  <a:pt x="0" y="162821"/>
                </a:cubicBezTo>
                <a:lnTo>
                  <a:pt x="0" y="26051"/>
                </a:lnTo>
                <a:cubicBezTo>
                  <a:pt x="0" y="18846"/>
                  <a:pt x="5821" y="13026"/>
                  <a:pt x="13026" y="13026"/>
                </a:cubicBezTo>
                <a:close/>
                <a:moveTo>
                  <a:pt x="52103" y="39077"/>
                </a:moveTo>
                <a:cubicBezTo>
                  <a:pt x="52103" y="31872"/>
                  <a:pt x="57923" y="26051"/>
                  <a:pt x="65128" y="26051"/>
                </a:cubicBezTo>
                <a:lnTo>
                  <a:pt x="143282" y="26051"/>
                </a:lnTo>
                <a:cubicBezTo>
                  <a:pt x="150487" y="26051"/>
                  <a:pt x="156308" y="31872"/>
                  <a:pt x="156308" y="39077"/>
                </a:cubicBezTo>
                <a:cubicBezTo>
                  <a:pt x="156308" y="46282"/>
                  <a:pt x="150487" y="52103"/>
                  <a:pt x="143282" y="52103"/>
                </a:cubicBezTo>
                <a:lnTo>
                  <a:pt x="65128" y="52103"/>
                </a:lnTo>
                <a:cubicBezTo>
                  <a:pt x="57923" y="52103"/>
                  <a:pt x="52103" y="46282"/>
                  <a:pt x="52103" y="39077"/>
                </a:cubicBezTo>
                <a:close/>
                <a:moveTo>
                  <a:pt x="65128" y="71641"/>
                </a:moveTo>
                <a:lnTo>
                  <a:pt x="117231" y="71641"/>
                </a:lnTo>
                <a:cubicBezTo>
                  <a:pt x="124436" y="71641"/>
                  <a:pt x="130256" y="77462"/>
                  <a:pt x="130256" y="84667"/>
                </a:cubicBezTo>
                <a:cubicBezTo>
                  <a:pt x="130256" y="91871"/>
                  <a:pt x="124436" y="97692"/>
                  <a:pt x="117231" y="97692"/>
                </a:cubicBezTo>
                <a:lnTo>
                  <a:pt x="65128" y="97692"/>
                </a:lnTo>
                <a:cubicBezTo>
                  <a:pt x="57923" y="97692"/>
                  <a:pt x="52103" y="91871"/>
                  <a:pt x="52103" y="84667"/>
                </a:cubicBezTo>
                <a:cubicBezTo>
                  <a:pt x="52103" y="77462"/>
                  <a:pt x="57923" y="71641"/>
                  <a:pt x="65128" y="71641"/>
                </a:cubicBezTo>
                <a:close/>
                <a:moveTo>
                  <a:pt x="65128" y="117231"/>
                </a:moveTo>
                <a:lnTo>
                  <a:pt x="169333" y="117231"/>
                </a:lnTo>
                <a:cubicBezTo>
                  <a:pt x="176538" y="117231"/>
                  <a:pt x="182359" y="123052"/>
                  <a:pt x="182359" y="130256"/>
                </a:cubicBezTo>
                <a:cubicBezTo>
                  <a:pt x="182359" y="137461"/>
                  <a:pt x="176538" y="143282"/>
                  <a:pt x="169333" y="143282"/>
                </a:cubicBezTo>
                <a:lnTo>
                  <a:pt x="65128" y="143282"/>
                </a:lnTo>
                <a:cubicBezTo>
                  <a:pt x="57923" y="143282"/>
                  <a:pt x="52103" y="137461"/>
                  <a:pt x="52103" y="130256"/>
                </a:cubicBezTo>
                <a:cubicBezTo>
                  <a:pt x="52103" y="123052"/>
                  <a:pt x="57923" y="117231"/>
                  <a:pt x="65128" y="11723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885744" y="1597812"/>
            <a:ext cx="2770120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Frequency Distribution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3197" y="2049262"/>
            <a:ext cx="195385" cy="156308"/>
          </a:xfrm>
          <a:custGeom>
            <a:avLst/>
            <a:gdLst/>
            <a:ahLst/>
            <a:cxnLst/>
            <a:rect l="l" t="t" r="r" b="b"/>
            <a:pathLst>
              <a:path w="195385" h="156308">
                <a:moveTo>
                  <a:pt x="97692" y="4885"/>
                </a:moveTo>
                <a:cubicBezTo>
                  <a:pt x="115216" y="4885"/>
                  <a:pt x="129442" y="19111"/>
                  <a:pt x="129442" y="36635"/>
                </a:cubicBezTo>
                <a:cubicBezTo>
                  <a:pt x="129442" y="54158"/>
                  <a:pt x="115216" y="68385"/>
                  <a:pt x="97692" y="68385"/>
                </a:cubicBezTo>
                <a:cubicBezTo>
                  <a:pt x="80169" y="68385"/>
                  <a:pt x="65942" y="54158"/>
                  <a:pt x="65942" y="36635"/>
                </a:cubicBezTo>
                <a:cubicBezTo>
                  <a:pt x="65942" y="19111"/>
                  <a:pt x="80169" y="4885"/>
                  <a:pt x="97692" y="4885"/>
                </a:cubicBezTo>
                <a:close/>
                <a:moveTo>
                  <a:pt x="29308" y="26865"/>
                </a:moveTo>
                <a:cubicBezTo>
                  <a:pt x="41439" y="26865"/>
                  <a:pt x="51288" y="36715"/>
                  <a:pt x="51288" y="48846"/>
                </a:cubicBezTo>
                <a:cubicBezTo>
                  <a:pt x="51288" y="60978"/>
                  <a:pt x="41439" y="70827"/>
                  <a:pt x="29308" y="70827"/>
                </a:cubicBezTo>
                <a:cubicBezTo>
                  <a:pt x="17176" y="70827"/>
                  <a:pt x="7327" y="60978"/>
                  <a:pt x="7327" y="48846"/>
                </a:cubicBezTo>
                <a:cubicBezTo>
                  <a:pt x="7327" y="36715"/>
                  <a:pt x="17176" y="26865"/>
                  <a:pt x="29308" y="26865"/>
                </a:cubicBezTo>
                <a:close/>
                <a:moveTo>
                  <a:pt x="0" y="127000"/>
                </a:moveTo>
                <a:cubicBezTo>
                  <a:pt x="0" y="105416"/>
                  <a:pt x="17493" y="87923"/>
                  <a:pt x="39077" y="87923"/>
                </a:cubicBezTo>
                <a:cubicBezTo>
                  <a:pt x="42985" y="87923"/>
                  <a:pt x="46770" y="88503"/>
                  <a:pt x="50342" y="89572"/>
                </a:cubicBezTo>
                <a:cubicBezTo>
                  <a:pt x="40298" y="100806"/>
                  <a:pt x="34192" y="115643"/>
                  <a:pt x="34192" y="131885"/>
                </a:cubicBezTo>
                <a:lnTo>
                  <a:pt x="34192" y="136769"/>
                </a:lnTo>
                <a:cubicBezTo>
                  <a:pt x="34192" y="140250"/>
                  <a:pt x="34925" y="143547"/>
                  <a:pt x="36238" y="146538"/>
                </a:cubicBezTo>
                <a:lnTo>
                  <a:pt x="9769" y="146538"/>
                </a:lnTo>
                <a:cubicBezTo>
                  <a:pt x="4366" y="146538"/>
                  <a:pt x="0" y="142173"/>
                  <a:pt x="0" y="136769"/>
                </a:cubicBezTo>
                <a:lnTo>
                  <a:pt x="0" y="127000"/>
                </a:lnTo>
                <a:close/>
                <a:moveTo>
                  <a:pt x="159147" y="146538"/>
                </a:moveTo>
                <a:cubicBezTo>
                  <a:pt x="160460" y="143547"/>
                  <a:pt x="161192" y="140250"/>
                  <a:pt x="161192" y="136769"/>
                </a:cubicBezTo>
                <a:lnTo>
                  <a:pt x="161192" y="131885"/>
                </a:lnTo>
                <a:cubicBezTo>
                  <a:pt x="161192" y="115643"/>
                  <a:pt x="155087" y="100806"/>
                  <a:pt x="145043" y="89572"/>
                </a:cubicBezTo>
                <a:cubicBezTo>
                  <a:pt x="148614" y="88503"/>
                  <a:pt x="152400" y="87923"/>
                  <a:pt x="156308" y="87923"/>
                </a:cubicBezTo>
                <a:cubicBezTo>
                  <a:pt x="177892" y="87923"/>
                  <a:pt x="195385" y="105416"/>
                  <a:pt x="195385" y="127000"/>
                </a:cubicBezTo>
                <a:lnTo>
                  <a:pt x="195385" y="136769"/>
                </a:lnTo>
                <a:cubicBezTo>
                  <a:pt x="195385" y="142173"/>
                  <a:pt x="191019" y="146538"/>
                  <a:pt x="185615" y="146538"/>
                </a:cubicBezTo>
                <a:lnTo>
                  <a:pt x="159147" y="146538"/>
                </a:lnTo>
                <a:close/>
                <a:moveTo>
                  <a:pt x="144096" y="48846"/>
                </a:moveTo>
                <a:cubicBezTo>
                  <a:pt x="144096" y="36715"/>
                  <a:pt x="153945" y="26865"/>
                  <a:pt x="166077" y="26865"/>
                </a:cubicBezTo>
                <a:cubicBezTo>
                  <a:pt x="178208" y="26865"/>
                  <a:pt x="188058" y="36715"/>
                  <a:pt x="188058" y="48846"/>
                </a:cubicBezTo>
                <a:cubicBezTo>
                  <a:pt x="188058" y="60978"/>
                  <a:pt x="178208" y="70827"/>
                  <a:pt x="166077" y="70827"/>
                </a:cubicBezTo>
                <a:cubicBezTo>
                  <a:pt x="153945" y="70827"/>
                  <a:pt x="144096" y="60978"/>
                  <a:pt x="144096" y="48846"/>
                </a:cubicBezTo>
                <a:close/>
                <a:moveTo>
                  <a:pt x="48846" y="131885"/>
                </a:moveTo>
                <a:cubicBezTo>
                  <a:pt x="48846" y="104897"/>
                  <a:pt x="70705" y="83038"/>
                  <a:pt x="97692" y="83038"/>
                </a:cubicBezTo>
                <a:cubicBezTo>
                  <a:pt x="124680" y="83038"/>
                  <a:pt x="146538" y="104897"/>
                  <a:pt x="146538" y="131885"/>
                </a:cubicBezTo>
                <a:lnTo>
                  <a:pt x="146538" y="136769"/>
                </a:lnTo>
                <a:cubicBezTo>
                  <a:pt x="146538" y="142173"/>
                  <a:pt x="142173" y="146538"/>
                  <a:pt x="136769" y="146538"/>
                </a:cubicBezTo>
                <a:lnTo>
                  <a:pt x="58615" y="146538"/>
                </a:lnTo>
                <a:cubicBezTo>
                  <a:pt x="53212" y="146538"/>
                  <a:pt x="48846" y="142173"/>
                  <a:pt x="48846" y="136769"/>
                </a:cubicBezTo>
                <a:lnTo>
                  <a:pt x="48846" y="1318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820615" y="2014526"/>
            <a:ext cx="4150838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Majority of customers place 1-3 orders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indicating initial engagement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3197" y="2361877"/>
            <a:ext cx="195385" cy="156308"/>
          </a:xfrm>
          <a:custGeom>
            <a:avLst/>
            <a:gdLst/>
            <a:ahLst/>
            <a:cxnLst/>
            <a:rect l="l" t="t" r="r" b="b"/>
            <a:pathLst>
              <a:path w="195385" h="156308">
                <a:moveTo>
                  <a:pt x="41641" y="39077"/>
                </a:moveTo>
                <a:cubicBezTo>
                  <a:pt x="41641" y="25989"/>
                  <a:pt x="48624" y="13895"/>
                  <a:pt x="59959" y="7350"/>
                </a:cubicBezTo>
                <a:cubicBezTo>
                  <a:pt x="71293" y="806"/>
                  <a:pt x="85258" y="806"/>
                  <a:pt x="96593" y="7350"/>
                </a:cubicBezTo>
                <a:cubicBezTo>
                  <a:pt x="107928" y="13895"/>
                  <a:pt x="114911" y="25989"/>
                  <a:pt x="114911" y="39077"/>
                </a:cubicBezTo>
                <a:cubicBezTo>
                  <a:pt x="114911" y="59296"/>
                  <a:pt x="98495" y="75712"/>
                  <a:pt x="78276" y="75712"/>
                </a:cubicBezTo>
                <a:cubicBezTo>
                  <a:pt x="58057" y="75712"/>
                  <a:pt x="41641" y="59296"/>
                  <a:pt x="41641" y="39077"/>
                </a:cubicBezTo>
                <a:close/>
                <a:moveTo>
                  <a:pt x="14776" y="147241"/>
                </a:moveTo>
                <a:cubicBezTo>
                  <a:pt x="14776" y="117170"/>
                  <a:pt x="39138" y="92808"/>
                  <a:pt x="69209" y="92808"/>
                </a:cubicBezTo>
                <a:lnTo>
                  <a:pt x="87343" y="92808"/>
                </a:lnTo>
                <a:cubicBezTo>
                  <a:pt x="117414" y="92808"/>
                  <a:pt x="141776" y="117170"/>
                  <a:pt x="141776" y="147241"/>
                </a:cubicBezTo>
                <a:cubicBezTo>
                  <a:pt x="141776" y="152247"/>
                  <a:pt x="137716" y="156308"/>
                  <a:pt x="132709" y="156308"/>
                </a:cubicBezTo>
                <a:lnTo>
                  <a:pt x="23843" y="156308"/>
                </a:lnTo>
                <a:cubicBezTo>
                  <a:pt x="18836" y="156308"/>
                  <a:pt x="14776" y="152247"/>
                  <a:pt x="14776" y="147241"/>
                </a:cubicBezTo>
                <a:close/>
                <a:moveTo>
                  <a:pt x="186928" y="37886"/>
                </a:moveTo>
                <a:cubicBezTo>
                  <a:pt x="189798" y="40756"/>
                  <a:pt x="189798" y="45396"/>
                  <a:pt x="186928" y="48236"/>
                </a:cubicBezTo>
                <a:lnTo>
                  <a:pt x="176579" y="58585"/>
                </a:lnTo>
                <a:lnTo>
                  <a:pt x="186928" y="68934"/>
                </a:lnTo>
                <a:cubicBezTo>
                  <a:pt x="189798" y="71804"/>
                  <a:pt x="189798" y="76444"/>
                  <a:pt x="186928" y="79283"/>
                </a:cubicBezTo>
                <a:cubicBezTo>
                  <a:pt x="184058" y="82123"/>
                  <a:pt x="179418" y="82153"/>
                  <a:pt x="176579" y="79283"/>
                </a:cubicBezTo>
                <a:lnTo>
                  <a:pt x="166230" y="68934"/>
                </a:lnTo>
                <a:lnTo>
                  <a:pt x="155880" y="79283"/>
                </a:lnTo>
                <a:cubicBezTo>
                  <a:pt x="153011" y="82153"/>
                  <a:pt x="148370" y="82153"/>
                  <a:pt x="145531" y="79283"/>
                </a:cubicBezTo>
                <a:cubicBezTo>
                  <a:pt x="142692" y="76414"/>
                  <a:pt x="142661" y="71773"/>
                  <a:pt x="145531" y="68934"/>
                </a:cubicBezTo>
                <a:lnTo>
                  <a:pt x="155880" y="58585"/>
                </a:lnTo>
                <a:lnTo>
                  <a:pt x="145531" y="48236"/>
                </a:lnTo>
                <a:cubicBezTo>
                  <a:pt x="142661" y="45366"/>
                  <a:pt x="142661" y="40725"/>
                  <a:pt x="145531" y="37886"/>
                </a:cubicBezTo>
                <a:cubicBezTo>
                  <a:pt x="148401" y="35047"/>
                  <a:pt x="153041" y="35017"/>
                  <a:pt x="155880" y="37886"/>
                </a:cubicBezTo>
                <a:lnTo>
                  <a:pt x="166230" y="48236"/>
                </a:lnTo>
                <a:lnTo>
                  <a:pt x="176579" y="37886"/>
                </a:lnTo>
                <a:cubicBezTo>
                  <a:pt x="179449" y="35017"/>
                  <a:pt x="184089" y="35017"/>
                  <a:pt x="186928" y="3788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820615" y="2327142"/>
            <a:ext cx="4993162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few customers place more than 5 orders, showing </a:t>
            </a:r>
            <a:pPr>
              <a:lnSpc>
                <a:spcPct val="130000"/>
              </a:lnSpc>
            </a:pPr>
            <a:r>
              <a:rPr lang="en-US" sz="109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repeat purchase rates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4683" y="1406769"/>
            <a:ext cx="5661812" cy="1302564"/>
          </a:xfrm>
          <a:custGeom>
            <a:avLst/>
            <a:gdLst/>
            <a:ahLst/>
            <a:cxnLst/>
            <a:rect l="l" t="t" r="r" b="b"/>
            <a:pathLst>
              <a:path w="5661812" h="1302564">
                <a:moveTo>
                  <a:pt x="34735" y="0"/>
                </a:moveTo>
                <a:lnTo>
                  <a:pt x="5627077" y="0"/>
                </a:lnTo>
                <a:cubicBezTo>
                  <a:pt x="5646261" y="0"/>
                  <a:pt x="5661812" y="15551"/>
                  <a:pt x="5661812" y="34735"/>
                </a:cubicBezTo>
                <a:lnTo>
                  <a:pt x="5661812" y="1233098"/>
                </a:lnTo>
                <a:cubicBezTo>
                  <a:pt x="5661812" y="1271463"/>
                  <a:pt x="5630711" y="1302564"/>
                  <a:pt x="5592346" y="1302564"/>
                </a:cubicBezTo>
                <a:lnTo>
                  <a:pt x="69466" y="1302564"/>
                </a:lnTo>
                <a:cubicBezTo>
                  <a:pt x="31101" y="1302564"/>
                  <a:pt x="0" y="1271463"/>
                  <a:pt x="0" y="123309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4683" y="1406769"/>
            <a:ext cx="5661812" cy="34735"/>
          </a:xfrm>
          <a:custGeom>
            <a:avLst/>
            <a:gdLst/>
            <a:ahLst/>
            <a:cxnLst/>
            <a:rect l="l" t="t" r="r" b="b"/>
            <a:pathLst>
              <a:path w="5661812" h="34735">
                <a:moveTo>
                  <a:pt x="34735" y="0"/>
                </a:moveTo>
                <a:lnTo>
                  <a:pt x="5627077" y="0"/>
                </a:lnTo>
                <a:cubicBezTo>
                  <a:pt x="5646261" y="0"/>
                  <a:pt x="5661812" y="15551"/>
                  <a:pt x="5661812" y="34735"/>
                </a:cubicBezTo>
                <a:lnTo>
                  <a:pt x="5661812" y="34735"/>
                </a:lnTo>
                <a:lnTo>
                  <a:pt x="0" y="34735"/>
                </a:ln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71384" y="1632441"/>
            <a:ext cx="234462" cy="208410"/>
          </a:xfrm>
          <a:custGeom>
            <a:avLst/>
            <a:gdLst/>
            <a:ahLst/>
            <a:cxnLst/>
            <a:rect l="l" t="t" r="r" b="b"/>
            <a:pathLst>
              <a:path w="234462" h="208410">
                <a:moveTo>
                  <a:pt x="125982" y="-7693"/>
                </a:moveTo>
                <a:cubicBezTo>
                  <a:pt x="124313" y="-10950"/>
                  <a:pt x="120935" y="-13026"/>
                  <a:pt x="117271" y="-13026"/>
                </a:cubicBezTo>
                <a:cubicBezTo>
                  <a:pt x="113608" y="-13026"/>
                  <a:pt x="110229" y="-10950"/>
                  <a:pt x="108561" y="-7693"/>
                </a:cubicBezTo>
                <a:lnTo>
                  <a:pt x="78602" y="51004"/>
                </a:lnTo>
                <a:lnTo>
                  <a:pt x="13514" y="61343"/>
                </a:lnTo>
                <a:cubicBezTo>
                  <a:pt x="9891" y="61912"/>
                  <a:pt x="6879" y="64477"/>
                  <a:pt x="5739" y="67978"/>
                </a:cubicBezTo>
                <a:cubicBezTo>
                  <a:pt x="4600" y="71478"/>
                  <a:pt x="5536" y="75304"/>
                  <a:pt x="8100" y="77910"/>
                </a:cubicBezTo>
                <a:lnTo>
                  <a:pt x="54667" y="124517"/>
                </a:lnTo>
                <a:lnTo>
                  <a:pt x="44409" y="189604"/>
                </a:lnTo>
                <a:cubicBezTo>
                  <a:pt x="43839" y="193227"/>
                  <a:pt x="45346" y="196891"/>
                  <a:pt x="48317" y="199048"/>
                </a:cubicBezTo>
                <a:cubicBezTo>
                  <a:pt x="51288" y="201205"/>
                  <a:pt x="55196" y="201531"/>
                  <a:pt x="58493" y="199862"/>
                </a:cubicBezTo>
                <a:lnTo>
                  <a:pt x="117271" y="169985"/>
                </a:lnTo>
                <a:lnTo>
                  <a:pt x="176009" y="199862"/>
                </a:lnTo>
                <a:cubicBezTo>
                  <a:pt x="179265" y="201531"/>
                  <a:pt x="183214" y="201205"/>
                  <a:pt x="186185" y="199048"/>
                </a:cubicBezTo>
                <a:cubicBezTo>
                  <a:pt x="189157" y="196891"/>
                  <a:pt x="190663" y="193268"/>
                  <a:pt x="190093" y="189604"/>
                </a:cubicBezTo>
                <a:lnTo>
                  <a:pt x="179795" y="124517"/>
                </a:lnTo>
                <a:lnTo>
                  <a:pt x="226361" y="77910"/>
                </a:lnTo>
                <a:cubicBezTo>
                  <a:pt x="228966" y="75304"/>
                  <a:pt x="229862" y="71478"/>
                  <a:pt x="228722" y="67978"/>
                </a:cubicBezTo>
                <a:cubicBezTo>
                  <a:pt x="227582" y="64477"/>
                  <a:pt x="224611" y="61912"/>
                  <a:pt x="220947" y="61343"/>
                </a:cubicBezTo>
                <a:lnTo>
                  <a:pt x="155901" y="51004"/>
                </a:lnTo>
                <a:lnTo>
                  <a:pt x="125982" y="-769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6723076" y="1597812"/>
            <a:ext cx="2335932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Customers by Profit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80068" y="2049262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44053" y="0"/>
                </a:moveTo>
                <a:lnTo>
                  <a:pt x="112438" y="0"/>
                </a:lnTo>
                <a:cubicBezTo>
                  <a:pt x="120528" y="0"/>
                  <a:pt x="127122" y="6655"/>
                  <a:pt x="126817" y="14715"/>
                </a:cubicBezTo>
                <a:cubicBezTo>
                  <a:pt x="126756" y="16333"/>
                  <a:pt x="126695" y="17951"/>
                  <a:pt x="126603" y="19538"/>
                </a:cubicBezTo>
                <a:lnTo>
                  <a:pt x="141745" y="19538"/>
                </a:lnTo>
                <a:cubicBezTo>
                  <a:pt x="149713" y="19538"/>
                  <a:pt x="156735" y="26133"/>
                  <a:pt x="156125" y="34742"/>
                </a:cubicBezTo>
                <a:cubicBezTo>
                  <a:pt x="153835" y="66400"/>
                  <a:pt x="137655" y="83802"/>
                  <a:pt x="120100" y="92899"/>
                </a:cubicBezTo>
                <a:cubicBezTo>
                  <a:pt x="115277" y="95403"/>
                  <a:pt x="110362" y="97265"/>
                  <a:pt x="105691" y="98639"/>
                </a:cubicBezTo>
                <a:cubicBezTo>
                  <a:pt x="99524" y="107370"/>
                  <a:pt x="93113" y="111980"/>
                  <a:pt x="88015" y="114453"/>
                </a:cubicBezTo>
                <a:lnTo>
                  <a:pt x="88015" y="136769"/>
                </a:lnTo>
                <a:lnTo>
                  <a:pt x="107553" y="136769"/>
                </a:lnTo>
                <a:cubicBezTo>
                  <a:pt x="112957" y="136769"/>
                  <a:pt x="117322" y="141135"/>
                  <a:pt x="117322" y="146538"/>
                </a:cubicBezTo>
                <a:cubicBezTo>
                  <a:pt x="117322" y="151942"/>
                  <a:pt x="112957" y="156308"/>
                  <a:pt x="107553" y="156308"/>
                </a:cubicBezTo>
                <a:lnTo>
                  <a:pt x="48938" y="156308"/>
                </a:lnTo>
                <a:cubicBezTo>
                  <a:pt x="43534" y="156308"/>
                  <a:pt x="39169" y="151942"/>
                  <a:pt x="39169" y="146538"/>
                </a:cubicBezTo>
                <a:cubicBezTo>
                  <a:pt x="39169" y="141135"/>
                  <a:pt x="43534" y="136769"/>
                  <a:pt x="48938" y="136769"/>
                </a:cubicBezTo>
                <a:lnTo>
                  <a:pt x="68476" y="136769"/>
                </a:lnTo>
                <a:lnTo>
                  <a:pt x="68476" y="114453"/>
                </a:lnTo>
                <a:cubicBezTo>
                  <a:pt x="63592" y="112102"/>
                  <a:pt x="57516" y="107736"/>
                  <a:pt x="51594" y="99707"/>
                </a:cubicBezTo>
                <a:cubicBezTo>
                  <a:pt x="45976" y="98242"/>
                  <a:pt x="39871" y="96013"/>
                  <a:pt x="33918" y="92655"/>
                </a:cubicBezTo>
                <a:cubicBezTo>
                  <a:pt x="17401" y="83405"/>
                  <a:pt x="2503" y="65973"/>
                  <a:pt x="366" y="34681"/>
                </a:cubicBezTo>
                <a:cubicBezTo>
                  <a:pt x="-214" y="26102"/>
                  <a:pt x="6777" y="19508"/>
                  <a:pt x="14745" y="19508"/>
                </a:cubicBezTo>
                <a:lnTo>
                  <a:pt x="29888" y="19508"/>
                </a:lnTo>
                <a:cubicBezTo>
                  <a:pt x="29796" y="17920"/>
                  <a:pt x="29735" y="16333"/>
                  <a:pt x="29674" y="14684"/>
                </a:cubicBezTo>
                <a:cubicBezTo>
                  <a:pt x="29369" y="6594"/>
                  <a:pt x="35963" y="-31"/>
                  <a:pt x="44053" y="-31"/>
                </a:cubicBezTo>
                <a:close/>
                <a:moveTo>
                  <a:pt x="30987" y="34192"/>
                </a:moveTo>
                <a:lnTo>
                  <a:pt x="14990" y="34192"/>
                </a:lnTo>
                <a:cubicBezTo>
                  <a:pt x="16882" y="60050"/>
                  <a:pt x="28758" y="72994"/>
                  <a:pt x="41000" y="79863"/>
                </a:cubicBezTo>
                <a:cubicBezTo>
                  <a:pt x="36604" y="68476"/>
                  <a:pt x="32971" y="53609"/>
                  <a:pt x="30987" y="34192"/>
                </a:cubicBezTo>
                <a:close/>
                <a:moveTo>
                  <a:pt x="116010" y="78398"/>
                </a:moveTo>
                <a:cubicBezTo>
                  <a:pt x="128374" y="71132"/>
                  <a:pt x="139547" y="58219"/>
                  <a:pt x="141440" y="34192"/>
                </a:cubicBezTo>
                <a:lnTo>
                  <a:pt x="125474" y="34192"/>
                </a:lnTo>
                <a:cubicBezTo>
                  <a:pt x="123581" y="52784"/>
                  <a:pt x="120162" y="67225"/>
                  <a:pt x="116010" y="7839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6657948" y="2014526"/>
            <a:ext cx="402926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30000"/>
              </a:lnSpc>
            </a:pPr>
            <a:r>
              <a:rPr lang="en-US" sz="109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group of customers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contributes a large share of total profit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80068" y="2361877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146569" y="58615"/>
                </a:moveTo>
                <a:lnTo>
                  <a:pt x="148981" y="58615"/>
                </a:lnTo>
                <a:cubicBezTo>
                  <a:pt x="153041" y="58615"/>
                  <a:pt x="156308" y="55349"/>
                  <a:pt x="156308" y="51288"/>
                </a:cubicBezTo>
                <a:lnTo>
                  <a:pt x="156308" y="7327"/>
                </a:lnTo>
                <a:cubicBezTo>
                  <a:pt x="156308" y="4366"/>
                  <a:pt x="154537" y="1679"/>
                  <a:pt x="151789" y="550"/>
                </a:cubicBezTo>
                <a:cubicBezTo>
                  <a:pt x="149042" y="-580"/>
                  <a:pt x="145897" y="61"/>
                  <a:pt x="143791" y="2137"/>
                </a:cubicBezTo>
                <a:lnTo>
                  <a:pt x="128007" y="17951"/>
                </a:lnTo>
                <a:cubicBezTo>
                  <a:pt x="114483" y="6747"/>
                  <a:pt x="97082" y="0"/>
                  <a:pt x="78154" y="0"/>
                </a:cubicBezTo>
                <a:cubicBezTo>
                  <a:pt x="38772" y="0"/>
                  <a:pt x="6197" y="29125"/>
                  <a:pt x="794" y="67011"/>
                </a:cubicBezTo>
                <a:cubicBezTo>
                  <a:pt x="31" y="72353"/>
                  <a:pt x="3725" y="77299"/>
                  <a:pt x="9067" y="78062"/>
                </a:cubicBezTo>
                <a:cubicBezTo>
                  <a:pt x="14410" y="78825"/>
                  <a:pt x="19355" y="75101"/>
                  <a:pt x="20119" y="69789"/>
                </a:cubicBezTo>
                <a:cubicBezTo>
                  <a:pt x="24179" y="41367"/>
                  <a:pt x="48632" y="19538"/>
                  <a:pt x="78154" y="19538"/>
                </a:cubicBezTo>
                <a:cubicBezTo>
                  <a:pt x="91709" y="19538"/>
                  <a:pt x="104164" y="24118"/>
                  <a:pt x="114086" y="31842"/>
                </a:cubicBezTo>
                <a:lnTo>
                  <a:pt x="99829" y="46099"/>
                </a:lnTo>
                <a:cubicBezTo>
                  <a:pt x="97723" y="48205"/>
                  <a:pt x="97112" y="51350"/>
                  <a:pt x="98242" y="54097"/>
                </a:cubicBezTo>
                <a:cubicBezTo>
                  <a:pt x="99371" y="56845"/>
                  <a:pt x="102058" y="58615"/>
                  <a:pt x="105019" y="58615"/>
                </a:cubicBezTo>
                <a:lnTo>
                  <a:pt x="146569" y="58615"/>
                </a:lnTo>
                <a:close/>
                <a:moveTo>
                  <a:pt x="155544" y="89297"/>
                </a:moveTo>
                <a:cubicBezTo>
                  <a:pt x="156308" y="83954"/>
                  <a:pt x="152583" y="79009"/>
                  <a:pt x="147271" y="78245"/>
                </a:cubicBezTo>
                <a:cubicBezTo>
                  <a:pt x="141959" y="77482"/>
                  <a:pt x="136983" y="81207"/>
                  <a:pt x="136220" y="86519"/>
                </a:cubicBezTo>
                <a:cubicBezTo>
                  <a:pt x="132159" y="114911"/>
                  <a:pt x="107706" y="136739"/>
                  <a:pt x="78184" y="136739"/>
                </a:cubicBezTo>
                <a:cubicBezTo>
                  <a:pt x="64630" y="136739"/>
                  <a:pt x="52174" y="132159"/>
                  <a:pt x="42252" y="124436"/>
                </a:cubicBezTo>
                <a:lnTo>
                  <a:pt x="56478" y="110209"/>
                </a:lnTo>
                <a:cubicBezTo>
                  <a:pt x="58585" y="108103"/>
                  <a:pt x="59195" y="104958"/>
                  <a:pt x="58066" y="102211"/>
                </a:cubicBezTo>
                <a:cubicBezTo>
                  <a:pt x="56936" y="99463"/>
                  <a:pt x="54250" y="97692"/>
                  <a:pt x="51288" y="97692"/>
                </a:cubicBezTo>
                <a:lnTo>
                  <a:pt x="7327" y="97692"/>
                </a:lnTo>
                <a:cubicBezTo>
                  <a:pt x="3267" y="97692"/>
                  <a:pt x="0" y="100959"/>
                  <a:pt x="0" y="105019"/>
                </a:cubicBezTo>
                <a:lnTo>
                  <a:pt x="0" y="148981"/>
                </a:lnTo>
                <a:cubicBezTo>
                  <a:pt x="0" y="151942"/>
                  <a:pt x="1771" y="154629"/>
                  <a:pt x="4518" y="155758"/>
                </a:cubicBezTo>
                <a:cubicBezTo>
                  <a:pt x="7266" y="156888"/>
                  <a:pt x="10410" y="156247"/>
                  <a:pt x="12517" y="154171"/>
                </a:cubicBezTo>
                <a:lnTo>
                  <a:pt x="28331" y="138357"/>
                </a:lnTo>
                <a:cubicBezTo>
                  <a:pt x="41825" y="149561"/>
                  <a:pt x="59226" y="156308"/>
                  <a:pt x="78154" y="156308"/>
                </a:cubicBezTo>
                <a:cubicBezTo>
                  <a:pt x="117536" y="156308"/>
                  <a:pt x="150110" y="127183"/>
                  <a:pt x="155514" y="8929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6657948" y="2327142"/>
            <a:ext cx="4871590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customers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repeat purchase behavior and higher sales volumes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7350" y="2882903"/>
            <a:ext cx="11497299" cy="2431453"/>
          </a:xfrm>
          <a:custGeom>
            <a:avLst/>
            <a:gdLst/>
            <a:ahLst/>
            <a:cxnLst/>
            <a:rect l="l" t="t" r="r" b="b"/>
            <a:pathLst>
              <a:path w="11497299" h="2431453">
                <a:moveTo>
                  <a:pt x="69467" y="0"/>
                </a:moveTo>
                <a:lnTo>
                  <a:pt x="11427833" y="0"/>
                </a:lnTo>
                <a:cubicBezTo>
                  <a:pt x="11466198" y="0"/>
                  <a:pt x="11497299" y="31101"/>
                  <a:pt x="11497299" y="69467"/>
                </a:cubicBezTo>
                <a:lnTo>
                  <a:pt x="11497299" y="2361986"/>
                </a:lnTo>
                <a:cubicBezTo>
                  <a:pt x="11497299" y="2400352"/>
                  <a:pt x="11466198" y="2431453"/>
                  <a:pt x="11427833" y="2431453"/>
                </a:cubicBezTo>
                <a:lnTo>
                  <a:pt x="69467" y="2431453"/>
                </a:lnTo>
                <a:cubicBezTo>
                  <a:pt x="31101" y="2431453"/>
                  <a:pt x="0" y="2400352"/>
                  <a:pt x="0" y="2361986"/>
                </a:cubicBezTo>
                <a:lnTo>
                  <a:pt x="0" y="69467"/>
                </a:lnTo>
                <a:cubicBezTo>
                  <a:pt x="0" y="31101"/>
                  <a:pt x="31101" y="0"/>
                  <a:pt x="69467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2" name="Text 20"/>
          <p:cNvSpPr/>
          <p:nvPr/>
        </p:nvSpPr>
        <p:spPr>
          <a:xfrm>
            <a:off x="521026" y="3056578"/>
            <a:ext cx="11236786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Distribution by Order Frequency</a:t>
            </a:r>
            <a:endParaRPr lang="en-US" sz="1600" dirty="0"/>
          </a:p>
        </p:txBody>
      </p:sp>
      <p:pic>
        <p:nvPicPr>
          <p:cNvPr id="23" name="Image 0" descr="https://kimi-img.moonshot.cn/pub/slides/26-01-27-00:54:54-d5rponlkjflofp6hvj7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026" y="3403928"/>
            <a:ext cx="10073162" cy="1736752"/>
          </a:xfrm>
          <a:prstGeom prst="roundRect">
            <a:avLst>
              <a:gd name="adj" fmla="val 0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364718" y="5488031"/>
            <a:ext cx="5661812" cy="816274"/>
          </a:xfrm>
          <a:custGeom>
            <a:avLst/>
            <a:gdLst/>
            <a:ahLst/>
            <a:cxnLst/>
            <a:rect l="l" t="t" r="r" b="b"/>
            <a:pathLst>
              <a:path w="5661812" h="816274">
                <a:moveTo>
                  <a:pt x="34735" y="0"/>
                </a:moveTo>
                <a:lnTo>
                  <a:pt x="5592339" y="0"/>
                </a:lnTo>
                <a:cubicBezTo>
                  <a:pt x="5630708" y="0"/>
                  <a:pt x="5661812" y="31104"/>
                  <a:pt x="5661812" y="69473"/>
                </a:cubicBezTo>
                <a:lnTo>
                  <a:pt x="5661812" y="746800"/>
                </a:lnTo>
                <a:cubicBezTo>
                  <a:pt x="5661812" y="785169"/>
                  <a:pt x="5630708" y="816274"/>
                  <a:pt x="5592339" y="816274"/>
                </a:cubicBezTo>
                <a:lnTo>
                  <a:pt x="34735" y="816274"/>
                </a:lnTo>
                <a:cubicBezTo>
                  <a:pt x="15551" y="816274"/>
                  <a:pt x="0" y="800722"/>
                  <a:pt x="0" y="78153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64718" y="5488031"/>
            <a:ext cx="34735" cy="816274"/>
          </a:xfrm>
          <a:custGeom>
            <a:avLst/>
            <a:gdLst/>
            <a:ahLst/>
            <a:cxnLst/>
            <a:rect l="l" t="t" r="r" b="b"/>
            <a:pathLst>
              <a:path w="34735" h="816274">
                <a:moveTo>
                  <a:pt x="34735" y="0"/>
                </a:moveTo>
                <a:lnTo>
                  <a:pt x="34735" y="0"/>
                </a:lnTo>
                <a:lnTo>
                  <a:pt x="34735" y="816274"/>
                </a:lnTo>
                <a:lnTo>
                  <a:pt x="34735" y="816274"/>
                </a:lnTo>
                <a:cubicBezTo>
                  <a:pt x="15551" y="816274"/>
                  <a:pt x="0" y="800722"/>
                  <a:pt x="0" y="78153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3"/>
          <p:cNvSpPr/>
          <p:nvPr/>
        </p:nvSpPr>
        <p:spPr>
          <a:xfrm>
            <a:off x="547077" y="5661706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98099" y="35454"/>
                </a:moveTo>
                <a:lnTo>
                  <a:pt x="104205" y="43880"/>
                </a:lnTo>
                <a:lnTo>
                  <a:pt x="110311" y="35454"/>
                </a:lnTo>
                <a:cubicBezTo>
                  <a:pt x="120487" y="21370"/>
                  <a:pt x="136851" y="13026"/>
                  <a:pt x="154232" y="13026"/>
                </a:cubicBezTo>
                <a:cubicBezTo>
                  <a:pt x="184150" y="13026"/>
                  <a:pt x="208410" y="37286"/>
                  <a:pt x="208410" y="67204"/>
                </a:cubicBezTo>
                <a:lnTo>
                  <a:pt x="208410" y="68262"/>
                </a:lnTo>
                <a:cubicBezTo>
                  <a:pt x="208410" y="113934"/>
                  <a:pt x="151464" y="166972"/>
                  <a:pt x="121749" y="189645"/>
                </a:cubicBezTo>
                <a:cubicBezTo>
                  <a:pt x="116702" y="193471"/>
                  <a:pt x="110514" y="195385"/>
                  <a:pt x="104205" y="195385"/>
                </a:cubicBezTo>
                <a:cubicBezTo>
                  <a:pt x="97896" y="195385"/>
                  <a:pt x="91668" y="193512"/>
                  <a:pt x="86661" y="189645"/>
                </a:cubicBezTo>
                <a:cubicBezTo>
                  <a:pt x="56946" y="166972"/>
                  <a:pt x="0" y="113934"/>
                  <a:pt x="0" y="68262"/>
                </a:cubicBezTo>
                <a:lnTo>
                  <a:pt x="0" y="67204"/>
                </a:lnTo>
                <a:cubicBezTo>
                  <a:pt x="0" y="37286"/>
                  <a:pt x="24260" y="13026"/>
                  <a:pt x="54179" y="13026"/>
                </a:cubicBezTo>
                <a:cubicBezTo>
                  <a:pt x="71560" y="13026"/>
                  <a:pt x="87923" y="21370"/>
                  <a:pt x="98099" y="3545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4"/>
          <p:cNvSpPr/>
          <p:nvPr/>
        </p:nvSpPr>
        <p:spPr>
          <a:xfrm>
            <a:off x="885744" y="5626971"/>
            <a:ext cx="453292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 Strategy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85744" y="5939586"/>
            <a:ext cx="452423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</a:t>
            </a:r>
            <a:pPr>
              <a:lnSpc>
                <a:spcPct val="140000"/>
              </a:lnSpc>
            </a:pPr>
            <a:r>
              <a:rPr lang="en-US" sz="109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customers</a:t>
            </a:r>
            <a:pPr>
              <a:lnSpc>
                <a:spcPct val="14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loyalty programs and exclusive offers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84683" y="5488031"/>
            <a:ext cx="5661812" cy="816274"/>
          </a:xfrm>
          <a:custGeom>
            <a:avLst/>
            <a:gdLst/>
            <a:ahLst/>
            <a:cxnLst/>
            <a:rect l="l" t="t" r="r" b="b"/>
            <a:pathLst>
              <a:path w="5661812" h="816274">
                <a:moveTo>
                  <a:pt x="34735" y="0"/>
                </a:moveTo>
                <a:lnTo>
                  <a:pt x="5592339" y="0"/>
                </a:lnTo>
                <a:cubicBezTo>
                  <a:pt x="5630708" y="0"/>
                  <a:pt x="5661812" y="31104"/>
                  <a:pt x="5661812" y="69473"/>
                </a:cubicBezTo>
                <a:lnTo>
                  <a:pt x="5661812" y="746800"/>
                </a:lnTo>
                <a:cubicBezTo>
                  <a:pt x="5661812" y="785169"/>
                  <a:pt x="5630708" y="816274"/>
                  <a:pt x="5592339" y="816274"/>
                </a:cubicBezTo>
                <a:lnTo>
                  <a:pt x="34735" y="816274"/>
                </a:lnTo>
                <a:cubicBezTo>
                  <a:pt x="15551" y="816274"/>
                  <a:pt x="0" y="800722"/>
                  <a:pt x="0" y="78153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184683" y="5488031"/>
            <a:ext cx="34735" cy="816274"/>
          </a:xfrm>
          <a:custGeom>
            <a:avLst/>
            <a:gdLst/>
            <a:ahLst/>
            <a:cxnLst/>
            <a:rect l="l" t="t" r="r" b="b"/>
            <a:pathLst>
              <a:path w="34735" h="816274">
                <a:moveTo>
                  <a:pt x="34735" y="0"/>
                </a:moveTo>
                <a:lnTo>
                  <a:pt x="34735" y="0"/>
                </a:lnTo>
                <a:lnTo>
                  <a:pt x="34735" y="816274"/>
                </a:lnTo>
                <a:lnTo>
                  <a:pt x="34735" y="816274"/>
                </a:lnTo>
                <a:cubicBezTo>
                  <a:pt x="15551" y="816274"/>
                  <a:pt x="0" y="800722"/>
                  <a:pt x="0" y="781538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Shape 28"/>
          <p:cNvSpPr/>
          <p:nvPr/>
        </p:nvSpPr>
        <p:spPr>
          <a:xfrm>
            <a:off x="6367042" y="5661706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87732" y="7693"/>
                </a:moveTo>
                <a:cubicBezTo>
                  <a:pt x="192413" y="9769"/>
                  <a:pt x="195385" y="14410"/>
                  <a:pt x="195385" y="19538"/>
                </a:cubicBezTo>
                <a:lnTo>
                  <a:pt x="195385" y="188872"/>
                </a:lnTo>
                <a:cubicBezTo>
                  <a:pt x="195385" y="194001"/>
                  <a:pt x="192413" y="198641"/>
                  <a:pt x="187732" y="200717"/>
                </a:cubicBezTo>
                <a:cubicBezTo>
                  <a:pt x="183051" y="202793"/>
                  <a:pt x="177637" y="202020"/>
                  <a:pt x="173770" y="198641"/>
                </a:cubicBezTo>
                <a:lnTo>
                  <a:pt x="154802" y="182074"/>
                </a:lnTo>
                <a:cubicBezTo>
                  <a:pt x="137054" y="166565"/>
                  <a:pt x="114626" y="157529"/>
                  <a:pt x="91139" y="156430"/>
                </a:cubicBezTo>
                <a:lnTo>
                  <a:pt x="91139" y="195385"/>
                </a:lnTo>
                <a:cubicBezTo>
                  <a:pt x="91139" y="202589"/>
                  <a:pt x="85318" y="208410"/>
                  <a:pt x="78113" y="208410"/>
                </a:cubicBezTo>
                <a:lnTo>
                  <a:pt x="65087" y="208410"/>
                </a:lnTo>
                <a:cubicBezTo>
                  <a:pt x="57883" y="208410"/>
                  <a:pt x="52062" y="202589"/>
                  <a:pt x="52062" y="195385"/>
                </a:cubicBezTo>
                <a:lnTo>
                  <a:pt x="52062" y="156308"/>
                </a:lnTo>
                <a:cubicBezTo>
                  <a:pt x="23324" y="156308"/>
                  <a:pt x="0" y="132984"/>
                  <a:pt x="0" y="104205"/>
                </a:cubicBezTo>
                <a:cubicBezTo>
                  <a:pt x="0" y="75427"/>
                  <a:pt x="23324" y="52103"/>
                  <a:pt x="52103" y="52103"/>
                </a:cubicBezTo>
                <a:lnTo>
                  <a:pt x="86498" y="52103"/>
                </a:lnTo>
                <a:cubicBezTo>
                  <a:pt x="111654" y="52021"/>
                  <a:pt x="135914" y="42862"/>
                  <a:pt x="154842" y="26336"/>
                </a:cubicBezTo>
                <a:lnTo>
                  <a:pt x="173811" y="9769"/>
                </a:lnTo>
                <a:cubicBezTo>
                  <a:pt x="177637" y="6391"/>
                  <a:pt x="183132" y="5617"/>
                  <a:pt x="187773" y="7693"/>
                </a:cubicBezTo>
                <a:close/>
                <a:moveTo>
                  <a:pt x="91179" y="130256"/>
                </a:moveTo>
                <a:lnTo>
                  <a:pt x="91179" y="130338"/>
                </a:lnTo>
                <a:cubicBezTo>
                  <a:pt x="119795" y="131437"/>
                  <a:pt x="147271" y="141939"/>
                  <a:pt x="169333" y="160215"/>
                </a:cubicBezTo>
                <a:lnTo>
                  <a:pt x="169333" y="48154"/>
                </a:lnTo>
                <a:cubicBezTo>
                  <a:pt x="147271" y="66431"/>
                  <a:pt x="119795" y="76933"/>
                  <a:pt x="91179" y="78032"/>
                </a:cubicBezTo>
                <a:lnTo>
                  <a:pt x="91179" y="13025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29"/>
          <p:cNvSpPr/>
          <p:nvPr/>
        </p:nvSpPr>
        <p:spPr>
          <a:xfrm>
            <a:off x="6705709" y="5626971"/>
            <a:ext cx="4454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Acquisition Campaigns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05709" y="5939586"/>
            <a:ext cx="444608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</a:t>
            </a:r>
            <a:pPr>
              <a:lnSpc>
                <a:spcPct val="140000"/>
              </a:lnSpc>
            </a:pPr>
            <a:r>
              <a:rPr lang="en-US" sz="109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low-frequency customers</a:t>
            </a:r>
            <a:pPr>
              <a:lnSpc>
                <a:spcPct val="140000"/>
              </a:lnSpc>
            </a:pPr>
            <a:r>
              <a:rPr lang="en-US" sz="1094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personalized marketing campaigns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spc="148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46409"/>
            <a:ext cx="11689237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Business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116" y="1185084"/>
            <a:ext cx="1155456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critical findings driving strategic decisions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116" y="1580112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377072" y="1795582"/>
            <a:ext cx="5629149" cy="2262433"/>
          </a:xfrm>
          <a:custGeom>
            <a:avLst/>
            <a:gdLst/>
            <a:ahLst/>
            <a:cxnLst/>
            <a:rect l="l" t="t" r="r" b="b"/>
            <a:pathLst>
              <a:path w="5629149" h="2262433">
                <a:moveTo>
                  <a:pt x="35912" y="0"/>
                </a:moveTo>
                <a:lnTo>
                  <a:pt x="5557317" y="0"/>
                </a:lnTo>
                <a:cubicBezTo>
                  <a:pt x="5596988" y="0"/>
                  <a:pt x="5629149" y="32160"/>
                  <a:pt x="5629149" y="71832"/>
                </a:cubicBezTo>
                <a:lnTo>
                  <a:pt x="5629149" y="2190601"/>
                </a:lnTo>
                <a:cubicBezTo>
                  <a:pt x="5629149" y="2230273"/>
                  <a:pt x="5596988" y="2262433"/>
                  <a:pt x="5557317" y="2262433"/>
                </a:cubicBez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377072" y="1795582"/>
            <a:ext cx="35912" cy="2262433"/>
          </a:xfrm>
          <a:custGeom>
            <a:avLst/>
            <a:gdLst/>
            <a:ahLst/>
            <a:cxnLst/>
            <a:rect l="l" t="t" r="r" b="b"/>
            <a:pathLst>
              <a:path w="35912" h="2262433">
                <a:moveTo>
                  <a:pt x="35912" y="0"/>
                </a:moveTo>
                <a:lnTo>
                  <a:pt x="35912" y="0"/>
                </a:lnTo>
                <a:lnTo>
                  <a:pt x="35912" y="2262433"/>
                </a:ln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Shape 6"/>
          <p:cNvSpPr/>
          <p:nvPr/>
        </p:nvSpPr>
        <p:spPr>
          <a:xfrm>
            <a:off x="574586" y="1975140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35912" y="0"/>
                </a:moveTo>
                <a:lnTo>
                  <a:pt x="466851" y="0"/>
                </a:lnTo>
                <a:cubicBezTo>
                  <a:pt x="486684" y="0"/>
                  <a:pt x="502763" y="16079"/>
                  <a:pt x="502763" y="35912"/>
                </a:cubicBezTo>
                <a:lnTo>
                  <a:pt x="502763" y="466851"/>
                </a:lnTo>
                <a:cubicBezTo>
                  <a:pt x="502763" y="486684"/>
                  <a:pt x="486684" y="502763"/>
                  <a:pt x="466851" y="502763"/>
                </a:cubicBezTo>
                <a:lnTo>
                  <a:pt x="35912" y="502763"/>
                </a:lnTo>
                <a:cubicBezTo>
                  <a:pt x="16079" y="502763"/>
                  <a:pt x="0" y="486684"/>
                  <a:pt x="0" y="466851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520719" y="1975140"/>
            <a:ext cx="610498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20996" y="2091853"/>
            <a:ext cx="269337" cy="269337"/>
          </a:xfrm>
          <a:custGeom>
            <a:avLst/>
            <a:gdLst/>
            <a:ahLst/>
            <a:cxnLst/>
            <a:rect l="l" t="t" r="r" b="b"/>
            <a:pathLst>
              <a:path w="269337" h="269337">
                <a:moveTo>
                  <a:pt x="33667" y="33667"/>
                </a:moveTo>
                <a:cubicBezTo>
                  <a:pt x="33667" y="24356"/>
                  <a:pt x="26145" y="16834"/>
                  <a:pt x="16834" y="16834"/>
                </a:cubicBezTo>
                <a:cubicBezTo>
                  <a:pt x="7523" y="16834"/>
                  <a:pt x="0" y="24356"/>
                  <a:pt x="0" y="33667"/>
                </a:cubicBezTo>
                <a:lnTo>
                  <a:pt x="0" y="210420"/>
                </a:lnTo>
                <a:cubicBezTo>
                  <a:pt x="0" y="233671"/>
                  <a:pt x="18833" y="252504"/>
                  <a:pt x="42084" y="252504"/>
                </a:cubicBezTo>
                <a:lnTo>
                  <a:pt x="252504" y="252504"/>
                </a:lnTo>
                <a:cubicBezTo>
                  <a:pt x="261815" y="252504"/>
                  <a:pt x="269337" y="244981"/>
                  <a:pt x="269337" y="235670"/>
                </a:cubicBezTo>
                <a:cubicBezTo>
                  <a:pt x="269337" y="226359"/>
                  <a:pt x="261815" y="218837"/>
                  <a:pt x="252504" y="218837"/>
                </a:cubicBezTo>
                <a:lnTo>
                  <a:pt x="42084" y="218837"/>
                </a:lnTo>
                <a:cubicBezTo>
                  <a:pt x="37455" y="218837"/>
                  <a:pt x="33667" y="215049"/>
                  <a:pt x="33667" y="210420"/>
                </a:cubicBezTo>
                <a:lnTo>
                  <a:pt x="33667" y="33667"/>
                </a:lnTo>
                <a:close/>
                <a:moveTo>
                  <a:pt x="247559" y="79223"/>
                </a:moveTo>
                <a:cubicBezTo>
                  <a:pt x="254134" y="72647"/>
                  <a:pt x="254134" y="61969"/>
                  <a:pt x="247559" y="55393"/>
                </a:cubicBezTo>
                <a:cubicBezTo>
                  <a:pt x="240983" y="48817"/>
                  <a:pt x="230304" y="48817"/>
                  <a:pt x="223729" y="55393"/>
                </a:cubicBezTo>
                <a:lnTo>
                  <a:pt x="168336" y="110839"/>
                </a:lnTo>
                <a:lnTo>
                  <a:pt x="138141" y="80696"/>
                </a:lnTo>
                <a:cubicBezTo>
                  <a:pt x="131565" y="74120"/>
                  <a:pt x="120886" y="74120"/>
                  <a:pt x="114311" y="80696"/>
                </a:cubicBezTo>
                <a:lnTo>
                  <a:pt x="63810" y="131197"/>
                </a:lnTo>
                <a:cubicBezTo>
                  <a:pt x="57234" y="137772"/>
                  <a:pt x="57234" y="148451"/>
                  <a:pt x="63810" y="155027"/>
                </a:cubicBezTo>
                <a:cubicBezTo>
                  <a:pt x="70385" y="161602"/>
                  <a:pt x="81064" y="161602"/>
                  <a:pt x="87640" y="155027"/>
                </a:cubicBezTo>
                <a:lnTo>
                  <a:pt x="126252" y="116415"/>
                </a:lnTo>
                <a:lnTo>
                  <a:pt x="156447" y="146610"/>
                </a:lnTo>
                <a:cubicBezTo>
                  <a:pt x="163023" y="153186"/>
                  <a:pt x="173701" y="153186"/>
                  <a:pt x="180277" y="146610"/>
                </a:cubicBezTo>
                <a:lnTo>
                  <a:pt x="247611" y="7927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574586" y="2585638"/>
            <a:ext cx="534185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Growth Driver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4586" y="2944754"/>
            <a:ext cx="5323900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growth is driven mainly by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order volume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customer acquisition alone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4586" y="3519340"/>
            <a:ext cx="5252077" cy="359116"/>
          </a:xfrm>
          <a:custGeom>
            <a:avLst/>
            <a:gdLst/>
            <a:ahLst/>
            <a:cxnLst/>
            <a:rect l="l" t="t" r="r" b="b"/>
            <a:pathLst>
              <a:path w="5252077" h="359116">
                <a:moveTo>
                  <a:pt x="35912" y="0"/>
                </a:moveTo>
                <a:lnTo>
                  <a:pt x="5216165" y="0"/>
                </a:lnTo>
                <a:cubicBezTo>
                  <a:pt x="5235998" y="0"/>
                  <a:pt x="5252077" y="16078"/>
                  <a:pt x="5252077" y="35912"/>
                </a:cubicBezTo>
                <a:lnTo>
                  <a:pt x="5252077" y="323205"/>
                </a:lnTo>
                <a:cubicBezTo>
                  <a:pt x="5252077" y="343038"/>
                  <a:pt x="5235998" y="359116"/>
                  <a:pt x="5216165" y="359116"/>
                </a:cubicBezTo>
                <a:lnTo>
                  <a:pt x="35912" y="359116"/>
                </a:lnTo>
                <a:cubicBezTo>
                  <a:pt x="16078" y="359116"/>
                  <a:pt x="0" y="343038"/>
                  <a:pt x="0" y="32320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0577" y="3618097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121202" y="50501"/>
                </a:moveTo>
                <a:cubicBezTo>
                  <a:pt x="115615" y="50501"/>
                  <a:pt x="111102" y="45987"/>
                  <a:pt x="111102" y="40401"/>
                </a:cubicBezTo>
                <a:cubicBezTo>
                  <a:pt x="111102" y="34814"/>
                  <a:pt x="115615" y="30300"/>
                  <a:pt x="121202" y="30300"/>
                </a:cubicBezTo>
                <a:lnTo>
                  <a:pt x="171703" y="30300"/>
                </a:lnTo>
                <a:cubicBezTo>
                  <a:pt x="177289" y="30300"/>
                  <a:pt x="181803" y="34814"/>
                  <a:pt x="181803" y="40401"/>
                </a:cubicBezTo>
                <a:lnTo>
                  <a:pt x="181803" y="90901"/>
                </a:lnTo>
                <a:cubicBezTo>
                  <a:pt x="181803" y="96488"/>
                  <a:pt x="177289" y="101001"/>
                  <a:pt x="171703" y="101001"/>
                </a:cubicBezTo>
                <a:cubicBezTo>
                  <a:pt x="166116" y="101001"/>
                  <a:pt x="161602" y="96488"/>
                  <a:pt x="161602" y="90901"/>
                </a:cubicBezTo>
                <a:lnTo>
                  <a:pt x="161602" y="64799"/>
                </a:lnTo>
                <a:lnTo>
                  <a:pt x="108135" y="118266"/>
                </a:lnTo>
                <a:cubicBezTo>
                  <a:pt x="104189" y="122212"/>
                  <a:pt x="97782" y="122212"/>
                  <a:pt x="93837" y="118266"/>
                </a:cubicBezTo>
                <a:lnTo>
                  <a:pt x="60601" y="84999"/>
                </a:lnTo>
                <a:lnTo>
                  <a:pt x="17233" y="128335"/>
                </a:lnTo>
                <a:cubicBezTo>
                  <a:pt x="13288" y="132280"/>
                  <a:pt x="6881" y="132280"/>
                  <a:pt x="2935" y="128335"/>
                </a:cubicBezTo>
                <a:cubicBezTo>
                  <a:pt x="-1010" y="124390"/>
                  <a:pt x="-1010" y="117982"/>
                  <a:pt x="2935" y="114037"/>
                </a:cubicBezTo>
                <a:lnTo>
                  <a:pt x="53436" y="63536"/>
                </a:lnTo>
                <a:cubicBezTo>
                  <a:pt x="57381" y="59591"/>
                  <a:pt x="63789" y="59591"/>
                  <a:pt x="67734" y="63536"/>
                </a:cubicBezTo>
                <a:lnTo>
                  <a:pt x="101001" y="96804"/>
                </a:lnTo>
                <a:lnTo>
                  <a:pt x="147304" y="50501"/>
                </a:lnTo>
                <a:lnTo>
                  <a:pt x="121202" y="5050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1027971" y="3591163"/>
            <a:ext cx="32500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+26.8% quantity growth vs +8.6% customer growth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04633" y="1795582"/>
            <a:ext cx="5629149" cy="2262433"/>
          </a:xfrm>
          <a:custGeom>
            <a:avLst/>
            <a:gdLst/>
            <a:ahLst/>
            <a:cxnLst/>
            <a:rect l="l" t="t" r="r" b="b"/>
            <a:pathLst>
              <a:path w="5629149" h="2262433">
                <a:moveTo>
                  <a:pt x="35912" y="0"/>
                </a:moveTo>
                <a:lnTo>
                  <a:pt x="5557317" y="0"/>
                </a:lnTo>
                <a:cubicBezTo>
                  <a:pt x="5596988" y="0"/>
                  <a:pt x="5629149" y="32160"/>
                  <a:pt x="5629149" y="71832"/>
                </a:cubicBezTo>
                <a:lnTo>
                  <a:pt x="5629149" y="2190601"/>
                </a:lnTo>
                <a:cubicBezTo>
                  <a:pt x="5629149" y="2230273"/>
                  <a:pt x="5596988" y="2262433"/>
                  <a:pt x="5557317" y="2262433"/>
                </a:cubicBez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4633" y="1795582"/>
            <a:ext cx="35912" cy="2262433"/>
          </a:xfrm>
          <a:custGeom>
            <a:avLst/>
            <a:gdLst/>
            <a:ahLst/>
            <a:cxnLst/>
            <a:rect l="l" t="t" r="r" b="b"/>
            <a:pathLst>
              <a:path w="35912" h="2262433">
                <a:moveTo>
                  <a:pt x="35912" y="0"/>
                </a:moveTo>
                <a:lnTo>
                  <a:pt x="35912" y="0"/>
                </a:lnTo>
                <a:lnTo>
                  <a:pt x="35912" y="2262433"/>
                </a:ln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2147" y="1975140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35912" y="0"/>
                </a:moveTo>
                <a:lnTo>
                  <a:pt x="466851" y="0"/>
                </a:lnTo>
                <a:cubicBezTo>
                  <a:pt x="486684" y="0"/>
                  <a:pt x="502763" y="16079"/>
                  <a:pt x="502763" y="35912"/>
                </a:cubicBezTo>
                <a:lnTo>
                  <a:pt x="502763" y="466851"/>
                </a:lnTo>
                <a:cubicBezTo>
                  <a:pt x="502763" y="486684"/>
                  <a:pt x="486684" y="502763"/>
                  <a:pt x="466851" y="502763"/>
                </a:cubicBezTo>
                <a:lnTo>
                  <a:pt x="35912" y="502763"/>
                </a:lnTo>
                <a:cubicBezTo>
                  <a:pt x="16079" y="502763"/>
                  <a:pt x="0" y="486684"/>
                  <a:pt x="0" y="466851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8280" y="1975140"/>
            <a:ext cx="610498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48556" y="2091853"/>
            <a:ext cx="269337" cy="269337"/>
          </a:xfrm>
          <a:custGeom>
            <a:avLst/>
            <a:gdLst/>
            <a:ahLst/>
            <a:cxnLst/>
            <a:rect l="l" t="t" r="r" b="b"/>
            <a:pathLst>
              <a:path w="269337" h="269337">
                <a:moveTo>
                  <a:pt x="117835" y="0"/>
                </a:moveTo>
                <a:lnTo>
                  <a:pt x="117835" y="33667"/>
                </a:lnTo>
                <a:cubicBezTo>
                  <a:pt x="117835" y="38296"/>
                  <a:pt x="121623" y="42084"/>
                  <a:pt x="126252" y="42084"/>
                </a:cubicBezTo>
                <a:lnTo>
                  <a:pt x="143085" y="42084"/>
                </a:lnTo>
                <a:cubicBezTo>
                  <a:pt x="147715" y="42084"/>
                  <a:pt x="151502" y="38296"/>
                  <a:pt x="151502" y="33667"/>
                </a:cubicBezTo>
                <a:lnTo>
                  <a:pt x="151502" y="0"/>
                </a:lnTo>
                <a:lnTo>
                  <a:pt x="168336" y="0"/>
                </a:lnTo>
                <a:cubicBezTo>
                  <a:pt x="186905" y="0"/>
                  <a:pt x="202003" y="15098"/>
                  <a:pt x="202003" y="33667"/>
                </a:cubicBezTo>
                <a:lnTo>
                  <a:pt x="202003" y="101001"/>
                </a:lnTo>
                <a:cubicBezTo>
                  <a:pt x="202003" y="103895"/>
                  <a:pt x="201635" y="106735"/>
                  <a:pt x="200951" y="109418"/>
                </a:cubicBezTo>
                <a:lnTo>
                  <a:pt x="68386" y="109418"/>
                </a:lnTo>
                <a:cubicBezTo>
                  <a:pt x="67703" y="106735"/>
                  <a:pt x="67334" y="103895"/>
                  <a:pt x="67334" y="101001"/>
                </a:cubicBezTo>
                <a:lnTo>
                  <a:pt x="67334" y="33667"/>
                </a:lnTo>
                <a:cubicBezTo>
                  <a:pt x="67334" y="15098"/>
                  <a:pt x="82432" y="0"/>
                  <a:pt x="101001" y="0"/>
                </a:cubicBezTo>
                <a:lnTo>
                  <a:pt x="117835" y="0"/>
                </a:lnTo>
                <a:close/>
                <a:moveTo>
                  <a:pt x="168336" y="269337"/>
                </a:moveTo>
                <a:cubicBezTo>
                  <a:pt x="162444" y="269337"/>
                  <a:pt x="156868" y="267812"/>
                  <a:pt x="152028" y="265129"/>
                </a:cubicBezTo>
                <a:cubicBezTo>
                  <a:pt x="157026" y="256449"/>
                  <a:pt x="159919" y="246402"/>
                  <a:pt x="159919" y="235670"/>
                </a:cubicBezTo>
                <a:lnTo>
                  <a:pt x="159919" y="168336"/>
                </a:lnTo>
                <a:cubicBezTo>
                  <a:pt x="159919" y="157604"/>
                  <a:pt x="157026" y="147557"/>
                  <a:pt x="152028" y="138877"/>
                </a:cubicBezTo>
                <a:cubicBezTo>
                  <a:pt x="156868" y="136194"/>
                  <a:pt x="162391" y="134669"/>
                  <a:pt x="168336" y="134669"/>
                </a:cubicBezTo>
                <a:lnTo>
                  <a:pt x="185169" y="134669"/>
                </a:lnTo>
                <a:lnTo>
                  <a:pt x="185169" y="168336"/>
                </a:lnTo>
                <a:cubicBezTo>
                  <a:pt x="185169" y="172965"/>
                  <a:pt x="188957" y="176753"/>
                  <a:pt x="193586" y="176753"/>
                </a:cubicBezTo>
                <a:lnTo>
                  <a:pt x="210420" y="176753"/>
                </a:lnTo>
                <a:cubicBezTo>
                  <a:pt x="215049" y="176753"/>
                  <a:pt x="218837" y="172965"/>
                  <a:pt x="218837" y="168336"/>
                </a:cubicBezTo>
                <a:lnTo>
                  <a:pt x="218837" y="134669"/>
                </a:lnTo>
                <a:lnTo>
                  <a:pt x="235670" y="134669"/>
                </a:lnTo>
                <a:cubicBezTo>
                  <a:pt x="254240" y="134669"/>
                  <a:pt x="269337" y="149766"/>
                  <a:pt x="269337" y="168336"/>
                </a:cubicBezTo>
                <a:lnTo>
                  <a:pt x="269337" y="235670"/>
                </a:lnTo>
                <a:cubicBezTo>
                  <a:pt x="269337" y="254240"/>
                  <a:pt x="254240" y="269337"/>
                  <a:pt x="235670" y="269337"/>
                </a:cubicBezTo>
                <a:lnTo>
                  <a:pt x="168336" y="269337"/>
                </a:lnTo>
                <a:close/>
                <a:moveTo>
                  <a:pt x="0" y="168336"/>
                </a:moveTo>
                <a:cubicBezTo>
                  <a:pt x="0" y="149766"/>
                  <a:pt x="15098" y="134669"/>
                  <a:pt x="33667" y="134669"/>
                </a:cubicBezTo>
                <a:lnTo>
                  <a:pt x="50501" y="134669"/>
                </a:lnTo>
                <a:lnTo>
                  <a:pt x="50501" y="168336"/>
                </a:lnTo>
                <a:cubicBezTo>
                  <a:pt x="50501" y="172965"/>
                  <a:pt x="54288" y="176753"/>
                  <a:pt x="58918" y="176753"/>
                </a:cubicBezTo>
                <a:lnTo>
                  <a:pt x="75751" y="176753"/>
                </a:lnTo>
                <a:cubicBezTo>
                  <a:pt x="80380" y="176753"/>
                  <a:pt x="84168" y="172965"/>
                  <a:pt x="84168" y="168336"/>
                </a:cubicBezTo>
                <a:lnTo>
                  <a:pt x="84168" y="134669"/>
                </a:lnTo>
                <a:lnTo>
                  <a:pt x="101001" y="134669"/>
                </a:lnTo>
                <a:cubicBezTo>
                  <a:pt x="119571" y="134669"/>
                  <a:pt x="134669" y="149766"/>
                  <a:pt x="134669" y="168336"/>
                </a:cubicBezTo>
                <a:lnTo>
                  <a:pt x="134669" y="235670"/>
                </a:lnTo>
                <a:cubicBezTo>
                  <a:pt x="134669" y="254240"/>
                  <a:pt x="119571" y="269337"/>
                  <a:pt x="101001" y="269337"/>
                </a:cubicBezTo>
                <a:lnTo>
                  <a:pt x="33667" y="269337"/>
                </a:lnTo>
                <a:cubicBezTo>
                  <a:pt x="15098" y="269337"/>
                  <a:pt x="0" y="254240"/>
                  <a:pt x="0" y="235670"/>
                </a:cubicBezTo>
                <a:lnTo>
                  <a:pt x="0" y="16833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2147" y="2585638"/>
            <a:ext cx="534185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Variance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2147" y="2944754"/>
            <a:ext cx="5323900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Profitability varies significantly across product subcategories, highlighting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optimization opportunities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2147" y="3519340"/>
            <a:ext cx="5252077" cy="359116"/>
          </a:xfrm>
          <a:custGeom>
            <a:avLst/>
            <a:gdLst/>
            <a:ahLst/>
            <a:cxnLst/>
            <a:rect l="l" t="t" r="r" b="b"/>
            <a:pathLst>
              <a:path w="5252077" h="359116">
                <a:moveTo>
                  <a:pt x="35912" y="0"/>
                </a:moveTo>
                <a:lnTo>
                  <a:pt x="5216165" y="0"/>
                </a:lnTo>
                <a:cubicBezTo>
                  <a:pt x="5235998" y="0"/>
                  <a:pt x="5252077" y="16078"/>
                  <a:pt x="5252077" y="35912"/>
                </a:cubicBezTo>
                <a:lnTo>
                  <a:pt x="5252077" y="323205"/>
                </a:lnTo>
                <a:cubicBezTo>
                  <a:pt x="5252077" y="343038"/>
                  <a:pt x="5235998" y="359116"/>
                  <a:pt x="5216165" y="359116"/>
                </a:cubicBezTo>
                <a:lnTo>
                  <a:pt x="35912" y="359116"/>
                </a:lnTo>
                <a:cubicBezTo>
                  <a:pt x="16078" y="359116"/>
                  <a:pt x="0" y="343038"/>
                  <a:pt x="0" y="32320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68238" y="3618097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0"/>
                </a:moveTo>
                <a:cubicBezTo>
                  <a:pt x="85441" y="0"/>
                  <a:pt x="89702" y="2557"/>
                  <a:pt x="91911" y="6628"/>
                </a:cubicBezTo>
                <a:lnTo>
                  <a:pt x="160087" y="132880"/>
                </a:lnTo>
                <a:cubicBezTo>
                  <a:pt x="162202" y="136794"/>
                  <a:pt x="162107" y="141528"/>
                  <a:pt x="159835" y="145347"/>
                </a:cubicBezTo>
                <a:cubicBezTo>
                  <a:pt x="157562" y="149167"/>
                  <a:pt x="153428" y="151502"/>
                  <a:pt x="148977" y="151502"/>
                </a:cubicBezTo>
                <a:lnTo>
                  <a:pt x="12625" y="151502"/>
                </a:lnTo>
                <a:cubicBezTo>
                  <a:pt x="8175" y="151502"/>
                  <a:pt x="4072" y="149167"/>
                  <a:pt x="1768" y="145347"/>
                </a:cubicBezTo>
                <a:cubicBezTo>
                  <a:pt x="-537" y="141528"/>
                  <a:pt x="-600" y="136794"/>
                  <a:pt x="1515" y="132880"/>
                </a:cubicBezTo>
                <a:lnTo>
                  <a:pt x="69691" y="6628"/>
                </a:lnTo>
                <a:cubicBezTo>
                  <a:pt x="71900" y="2557"/>
                  <a:pt x="76161" y="0"/>
                  <a:pt x="80801" y="0"/>
                </a:cubicBezTo>
                <a:close/>
                <a:moveTo>
                  <a:pt x="80801" y="53026"/>
                </a:moveTo>
                <a:cubicBezTo>
                  <a:pt x="76603" y="53026"/>
                  <a:pt x="73226" y="56403"/>
                  <a:pt x="73226" y="60601"/>
                </a:cubicBezTo>
                <a:lnTo>
                  <a:pt x="73226" y="95951"/>
                </a:lnTo>
                <a:cubicBezTo>
                  <a:pt x="73226" y="100149"/>
                  <a:pt x="76603" y="103527"/>
                  <a:pt x="80801" y="103527"/>
                </a:cubicBezTo>
                <a:cubicBezTo>
                  <a:pt x="84999" y="103527"/>
                  <a:pt x="88376" y="100149"/>
                  <a:pt x="88376" y="95951"/>
                </a:cubicBezTo>
                <a:lnTo>
                  <a:pt x="88376" y="60601"/>
                </a:lnTo>
                <a:cubicBezTo>
                  <a:pt x="88376" y="56403"/>
                  <a:pt x="84999" y="53026"/>
                  <a:pt x="80801" y="53026"/>
                </a:cubicBezTo>
                <a:close/>
                <a:moveTo>
                  <a:pt x="89228" y="121202"/>
                </a:moveTo>
                <a:cubicBezTo>
                  <a:pt x="89420" y="118074"/>
                  <a:pt x="87860" y="115098"/>
                  <a:pt x="85179" y="113475"/>
                </a:cubicBezTo>
                <a:cubicBezTo>
                  <a:pt x="82497" y="111853"/>
                  <a:pt x="79137" y="111853"/>
                  <a:pt x="76455" y="113475"/>
                </a:cubicBezTo>
                <a:cubicBezTo>
                  <a:pt x="73774" y="115098"/>
                  <a:pt x="72214" y="118074"/>
                  <a:pt x="72405" y="121202"/>
                </a:cubicBezTo>
                <a:cubicBezTo>
                  <a:pt x="72214" y="124330"/>
                  <a:pt x="73774" y="127306"/>
                  <a:pt x="76455" y="128928"/>
                </a:cubicBezTo>
                <a:cubicBezTo>
                  <a:pt x="79137" y="130550"/>
                  <a:pt x="82497" y="130550"/>
                  <a:pt x="85179" y="128928"/>
                </a:cubicBezTo>
                <a:cubicBezTo>
                  <a:pt x="87860" y="127306"/>
                  <a:pt x="89420" y="124330"/>
                  <a:pt x="89228" y="12120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5531" y="3591163"/>
            <a:ext cx="316022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subcategories show negative profit margins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7072" y="4237573"/>
            <a:ext cx="5629149" cy="2262433"/>
          </a:xfrm>
          <a:custGeom>
            <a:avLst/>
            <a:gdLst/>
            <a:ahLst/>
            <a:cxnLst/>
            <a:rect l="l" t="t" r="r" b="b"/>
            <a:pathLst>
              <a:path w="5629149" h="2262433">
                <a:moveTo>
                  <a:pt x="35912" y="0"/>
                </a:moveTo>
                <a:lnTo>
                  <a:pt x="5557317" y="0"/>
                </a:lnTo>
                <a:cubicBezTo>
                  <a:pt x="5596988" y="0"/>
                  <a:pt x="5629149" y="32160"/>
                  <a:pt x="5629149" y="71832"/>
                </a:cubicBezTo>
                <a:lnTo>
                  <a:pt x="5629149" y="2190601"/>
                </a:lnTo>
                <a:cubicBezTo>
                  <a:pt x="5629149" y="2230273"/>
                  <a:pt x="5596988" y="2262433"/>
                  <a:pt x="5557317" y="2262433"/>
                </a:cubicBez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77072" y="4237573"/>
            <a:ext cx="35912" cy="2262433"/>
          </a:xfrm>
          <a:custGeom>
            <a:avLst/>
            <a:gdLst/>
            <a:ahLst/>
            <a:cxnLst/>
            <a:rect l="l" t="t" r="r" b="b"/>
            <a:pathLst>
              <a:path w="35912" h="2262433">
                <a:moveTo>
                  <a:pt x="35912" y="0"/>
                </a:moveTo>
                <a:lnTo>
                  <a:pt x="35912" y="0"/>
                </a:lnTo>
                <a:lnTo>
                  <a:pt x="35912" y="2262433"/>
                </a:ln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Shape 26"/>
          <p:cNvSpPr/>
          <p:nvPr/>
        </p:nvSpPr>
        <p:spPr>
          <a:xfrm>
            <a:off x="574586" y="441713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35912" y="0"/>
                </a:moveTo>
                <a:lnTo>
                  <a:pt x="466851" y="0"/>
                </a:lnTo>
                <a:cubicBezTo>
                  <a:pt x="486684" y="0"/>
                  <a:pt x="502763" y="16079"/>
                  <a:pt x="502763" y="35912"/>
                </a:cubicBezTo>
                <a:lnTo>
                  <a:pt x="502763" y="466851"/>
                </a:lnTo>
                <a:cubicBezTo>
                  <a:pt x="502763" y="486684"/>
                  <a:pt x="486684" y="502763"/>
                  <a:pt x="466851" y="502763"/>
                </a:cubicBezTo>
                <a:lnTo>
                  <a:pt x="35912" y="502763"/>
                </a:lnTo>
                <a:cubicBezTo>
                  <a:pt x="16079" y="502763"/>
                  <a:pt x="0" y="486684"/>
                  <a:pt x="0" y="466851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Text 27"/>
          <p:cNvSpPr/>
          <p:nvPr/>
        </p:nvSpPr>
        <p:spPr>
          <a:xfrm>
            <a:off x="520719" y="4417131"/>
            <a:ext cx="610498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87328" y="4533844"/>
            <a:ext cx="336672" cy="269337"/>
          </a:xfrm>
          <a:custGeom>
            <a:avLst/>
            <a:gdLst/>
            <a:ahLst/>
            <a:cxnLst/>
            <a:rect l="l" t="t" r="r" b="b"/>
            <a:pathLst>
              <a:path w="336672" h="269337">
                <a:moveTo>
                  <a:pt x="168336" y="117835"/>
                </a:moveTo>
                <a:cubicBezTo>
                  <a:pt x="198531" y="117835"/>
                  <a:pt x="223045" y="93321"/>
                  <a:pt x="223045" y="63126"/>
                </a:cubicBezTo>
                <a:cubicBezTo>
                  <a:pt x="223045" y="32931"/>
                  <a:pt x="198531" y="8417"/>
                  <a:pt x="168336" y="8417"/>
                </a:cubicBezTo>
                <a:cubicBezTo>
                  <a:pt x="138141" y="8417"/>
                  <a:pt x="113627" y="32931"/>
                  <a:pt x="113627" y="63126"/>
                </a:cubicBezTo>
                <a:cubicBezTo>
                  <a:pt x="113627" y="93321"/>
                  <a:pt x="138141" y="117835"/>
                  <a:pt x="168336" y="117835"/>
                </a:cubicBezTo>
                <a:close/>
                <a:moveTo>
                  <a:pt x="50501" y="122043"/>
                </a:moveTo>
                <a:cubicBezTo>
                  <a:pt x="71405" y="122043"/>
                  <a:pt x="88376" y="105072"/>
                  <a:pt x="88376" y="84168"/>
                </a:cubicBezTo>
                <a:cubicBezTo>
                  <a:pt x="88376" y="63264"/>
                  <a:pt x="71405" y="46292"/>
                  <a:pt x="50501" y="46292"/>
                </a:cubicBezTo>
                <a:cubicBezTo>
                  <a:pt x="29597" y="46292"/>
                  <a:pt x="12625" y="63264"/>
                  <a:pt x="12625" y="84168"/>
                </a:cubicBezTo>
                <a:cubicBezTo>
                  <a:pt x="12625" y="105072"/>
                  <a:pt x="29597" y="122043"/>
                  <a:pt x="50501" y="122043"/>
                </a:cubicBezTo>
                <a:close/>
                <a:moveTo>
                  <a:pt x="0" y="218837"/>
                </a:moveTo>
                <a:lnTo>
                  <a:pt x="0" y="235670"/>
                </a:lnTo>
                <a:cubicBezTo>
                  <a:pt x="0" y="244981"/>
                  <a:pt x="7523" y="252504"/>
                  <a:pt x="16834" y="252504"/>
                </a:cubicBezTo>
                <a:lnTo>
                  <a:pt x="62442" y="252504"/>
                </a:lnTo>
                <a:cubicBezTo>
                  <a:pt x="60180" y="247348"/>
                  <a:pt x="58918" y="241667"/>
                  <a:pt x="58918" y="235670"/>
                </a:cubicBezTo>
                <a:lnTo>
                  <a:pt x="58918" y="227253"/>
                </a:lnTo>
                <a:cubicBezTo>
                  <a:pt x="58918" y="199267"/>
                  <a:pt x="69439" y="173701"/>
                  <a:pt x="86746" y="154343"/>
                </a:cubicBezTo>
                <a:cubicBezTo>
                  <a:pt x="80591" y="152502"/>
                  <a:pt x="74068" y="151502"/>
                  <a:pt x="67334" y="151502"/>
                </a:cubicBezTo>
                <a:cubicBezTo>
                  <a:pt x="30143" y="151502"/>
                  <a:pt x="0" y="181645"/>
                  <a:pt x="0" y="218837"/>
                </a:cubicBezTo>
                <a:close/>
                <a:moveTo>
                  <a:pt x="324046" y="84168"/>
                </a:moveTo>
                <a:cubicBezTo>
                  <a:pt x="324046" y="63264"/>
                  <a:pt x="307075" y="46292"/>
                  <a:pt x="286171" y="46292"/>
                </a:cubicBezTo>
                <a:cubicBezTo>
                  <a:pt x="265267" y="46292"/>
                  <a:pt x="248295" y="63264"/>
                  <a:pt x="248295" y="84168"/>
                </a:cubicBezTo>
                <a:cubicBezTo>
                  <a:pt x="248295" y="105072"/>
                  <a:pt x="265267" y="122043"/>
                  <a:pt x="286171" y="122043"/>
                </a:cubicBezTo>
                <a:cubicBezTo>
                  <a:pt x="307075" y="122043"/>
                  <a:pt x="324046" y="105072"/>
                  <a:pt x="324046" y="84168"/>
                </a:cubicBezTo>
                <a:close/>
                <a:moveTo>
                  <a:pt x="84168" y="227253"/>
                </a:moveTo>
                <a:lnTo>
                  <a:pt x="84168" y="235670"/>
                </a:lnTo>
                <a:cubicBezTo>
                  <a:pt x="84168" y="244981"/>
                  <a:pt x="91690" y="252504"/>
                  <a:pt x="101001" y="252504"/>
                </a:cubicBezTo>
                <a:lnTo>
                  <a:pt x="183486" y="252504"/>
                </a:lnTo>
                <a:cubicBezTo>
                  <a:pt x="179751" y="241141"/>
                  <a:pt x="180172" y="229147"/>
                  <a:pt x="189115" y="218837"/>
                </a:cubicBezTo>
                <a:cubicBezTo>
                  <a:pt x="181750" y="210315"/>
                  <a:pt x="178331" y="197952"/>
                  <a:pt x="183118" y="185538"/>
                </a:cubicBezTo>
                <a:cubicBezTo>
                  <a:pt x="186590" y="176542"/>
                  <a:pt x="191482" y="168125"/>
                  <a:pt x="197532" y="160655"/>
                </a:cubicBezTo>
                <a:cubicBezTo>
                  <a:pt x="200372" y="157184"/>
                  <a:pt x="203634" y="154501"/>
                  <a:pt x="207158" y="152554"/>
                </a:cubicBezTo>
                <a:cubicBezTo>
                  <a:pt x="195533" y="146505"/>
                  <a:pt x="182329" y="143085"/>
                  <a:pt x="168336" y="143085"/>
                </a:cubicBezTo>
                <a:cubicBezTo>
                  <a:pt x="121833" y="143085"/>
                  <a:pt x="84168" y="180751"/>
                  <a:pt x="84168" y="227253"/>
                </a:cubicBezTo>
                <a:close/>
                <a:moveTo>
                  <a:pt x="328570" y="204055"/>
                </a:moveTo>
                <a:cubicBezTo>
                  <a:pt x="331885" y="202161"/>
                  <a:pt x="333568" y="198215"/>
                  <a:pt x="332148" y="194586"/>
                </a:cubicBezTo>
                <a:cubicBezTo>
                  <a:pt x="329623" y="188063"/>
                  <a:pt x="326098" y="181908"/>
                  <a:pt x="321679" y="176490"/>
                </a:cubicBezTo>
                <a:cubicBezTo>
                  <a:pt x="319259" y="173491"/>
                  <a:pt x="314998" y="172965"/>
                  <a:pt x="311684" y="174911"/>
                </a:cubicBezTo>
                <a:cubicBezTo>
                  <a:pt x="300216" y="181540"/>
                  <a:pt x="286118" y="173438"/>
                  <a:pt x="286118" y="160129"/>
                </a:cubicBezTo>
                <a:cubicBezTo>
                  <a:pt x="286118" y="156289"/>
                  <a:pt x="283541" y="152870"/>
                  <a:pt x="279753" y="152291"/>
                </a:cubicBezTo>
                <a:cubicBezTo>
                  <a:pt x="272967" y="151239"/>
                  <a:pt x="265655" y="151239"/>
                  <a:pt x="258869" y="152291"/>
                </a:cubicBezTo>
                <a:cubicBezTo>
                  <a:pt x="255081" y="152870"/>
                  <a:pt x="252504" y="156289"/>
                  <a:pt x="252504" y="160129"/>
                </a:cubicBezTo>
                <a:cubicBezTo>
                  <a:pt x="252504" y="173386"/>
                  <a:pt x="238406" y="181540"/>
                  <a:pt x="226938" y="174911"/>
                </a:cubicBezTo>
                <a:cubicBezTo>
                  <a:pt x="223624" y="173018"/>
                  <a:pt x="219363" y="173544"/>
                  <a:pt x="216943" y="176490"/>
                </a:cubicBezTo>
                <a:cubicBezTo>
                  <a:pt x="212524" y="181908"/>
                  <a:pt x="208999" y="188063"/>
                  <a:pt x="206474" y="194586"/>
                </a:cubicBezTo>
                <a:cubicBezTo>
                  <a:pt x="205107" y="198163"/>
                  <a:pt x="206737" y="202108"/>
                  <a:pt x="210052" y="204002"/>
                </a:cubicBezTo>
                <a:cubicBezTo>
                  <a:pt x="221572" y="210630"/>
                  <a:pt x="221572" y="226885"/>
                  <a:pt x="210052" y="233566"/>
                </a:cubicBezTo>
                <a:cubicBezTo>
                  <a:pt x="206737" y="235460"/>
                  <a:pt x="205054" y="239405"/>
                  <a:pt x="206474" y="242982"/>
                </a:cubicBezTo>
                <a:cubicBezTo>
                  <a:pt x="208999" y="249505"/>
                  <a:pt x="212524" y="255660"/>
                  <a:pt x="216943" y="261078"/>
                </a:cubicBezTo>
                <a:cubicBezTo>
                  <a:pt x="219363" y="264077"/>
                  <a:pt x="223624" y="264603"/>
                  <a:pt x="226938" y="262656"/>
                </a:cubicBezTo>
                <a:cubicBezTo>
                  <a:pt x="238406" y="256028"/>
                  <a:pt x="252504" y="264182"/>
                  <a:pt x="252504" y="277438"/>
                </a:cubicBezTo>
                <a:cubicBezTo>
                  <a:pt x="252504" y="281279"/>
                  <a:pt x="255081" y="284698"/>
                  <a:pt x="258869" y="285277"/>
                </a:cubicBezTo>
                <a:cubicBezTo>
                  <a:pt x="265655" y="286329"/>
                  <a:pt x="272967" y="286329"/>
                  <a:pt x="279753" y="285277"/>
                </a:cubicBezTo>
                <a:cubicBezTo>
                  <a:pt x="283541" y="284698"/>
                  <a:pt x="286118" y="281279"/>
                  <a:pt x="286118" y="277438"/>
                </a:cubicBezTo>
                <a:cubicBezTo>
                  <a:pt x="286118" y="264182"/>
                  <a:pt x="300216" y="256028"/>
                  <a:pt x="311684" y="262656"/>
                </a:cubicBezTo>
                <a:cubicBezTo>
                  <a:pt x="314998" y="264550"/>
                  <a:pt x="319259" y="264024"/>
                  <a:pt x="321679" y="261078"/>
                </a:cubicBezTo>
                <a:cubicBezTo>
                  <a:pt x="326098" y="255660"/>
                  <a:pt x="329623" y="249505"/>
                  <a:pt x="332148" y="242982"/>
                </a:cubicBezTo>
                <a:cubicBezTo>
                  <a:pt x="333515" y="239405"/>
                  <a:pt x="331885" y="235460"/>
                  <a:pt x="328570" y="233566"/>
                </a:cubicBezTo>
                <a:cubicBezTo>
                  <a:pt x="317050" y="226938"/>
                  <a:pt x="317050" y="210683"/>
                  <a:pt x="328570" y="204002"/>
                </a:cubicBezTo>
                <a:close/>
                <a:moveTo>
                  <a:pt x="248295" y="218837"/>
                </a:moveTo>
                <a:cubicBezTo>
                  <a:pt x="248295" y="207223"/>
                  <a:pt x="257724" y="197795"/>
                  <a:pt x="269337" y="197795"/>
                </a:cubicBezTo>
                <a:cubicBezTo>
                  <a:pt x="280951" y="197795"/>
                  <a:pt x="290379" y="207223"/>
                  <a:pt x="290379" y="218837"/>
                </a:cubicBezTo>
                <a:cubicBezTo>
                  <a:pt x="290379" y="230450"/>
                  <a:pt x="280951" y="239878"/>
                  <a:pt x="269337" y="239878"/>
                </a:cubicBezTo>
                <a:cubicBezTo>
                  <a:pt x="257724" y="239878"/>
                  <a:pt x="248295" y="230450"/>
                  <a:pt x="248295" y="21883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574586" y="5027629"/>
            <a:ext cx="534185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Pareto Pattern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4586" y="5386745"/>
            <a:ext cx="5323900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revenue follows a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Pareto distribution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a small segment contributes a large share of profit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4586" y="5961331"/>
            <a:ext cx="5252077" cy="359116"/>
          </a:xfrm>
          <a:custGeom>
            <a:avLst/>
            <a:gdLst/>
            <a:ahLst/>
            <a:cxnLst/>
            <a:rect l="l" t="t" r="r" b="b"/>
            <a:pathLst>
              <a:path w="5252077" h="359116">
                <a:moveTo>
                  <a:pt x="35912" y="0"/>
                </a:moveTo>
                <a:lnTo>
                  <a:pt x="5216165" y="0"/>
                </a:lnTo>
                <a:cubicBezTo>
                  <a:pt x="5235998" y="0"/>
                  <a:pt x="5252077" y="16078"/>
                  <a:pt x="5252077" y="35912"/>
                </a:cubicBezTo>
                <a:lnTo>
                  <a:pt x="5252077" y="323205"/>
                </a:lnTo>
                <a:cubicBezTo>
                  <a:pt x="5252077" y="343038"/>
                  <a:pt x="5235998" y="359116"/>
                  <a:pt x="5216165" y="359116"/>
                </a:cubicBezTo>
                <a:lnTo>
                  <a:pt x="35912" y="359116"/>
                </a:lnTo>
                <a:cubicBezTo>
                  <a:pt x="16078" y="359116"/>
                  <a:pt x="0" y="343038"/>
                  <a:pt x="0" y="32320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4" name="Shape 32"/>
          <p:cNvSpPr/>
          <p:nvPr/>
        </p:nvSpPr>
        <p:spPr>
          <a:xfrm>
            <a:off x="730577" y="6060088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97687" y="-5965"/>
                </a:moveTo>
                <a:cubicBezTo>
                  <a:pt x="96393" y="-8490"/>
                  <a:pt x="93774" y="-10100"/>
                  <a:pt x="90933" y="-10100"/>
                </a:cubicBezTo>
                <a:cubicBezTo>
                  <a:pt x="88092" y="-10100"/>
                  <a:pt x="85472" y="-8490"/>
                  <a:pt x="84178" y="-5965"/>
                </a:cubicBezTo>
                <a:lnTo>
                  <a:pt x="60948" y="39548"/>
                </a:lnTo>
                <a:lnTo>
                  <a:pt x="10479" y="47565"/>
                </a:lnTo>
                <a:cubicBezTo>
                  <a:pt x="7670" y="48007"/>
                  <a:pt x="5334" y="49996"/>
                  <a:pt x="4450" y="52710"/>
                </a:cubicBezTo>
                <a:cubicBezTo>
                  <a:pt x="3567" y="55425"/>
                  <a:pt x="4293" y="58391"/>
                  <a:pt x="6281" y="60412"/>
                </a:cubicBezTo>
                <a:lnTo>
                  <a:pt x="42389" y="96551"/>
                </a:lnTo>
                <a:lnTo>
                  <a:pt x="34435" y="147020"/>
                </a:lnTo>
                <a:cubicBezTo>
                  <a:pt x="33993" y="149829"/>
                  <a:pt x="35161" y="152670"/>
                  <a:pt x="37465" y="154343"/>
                </a:cubicBezTo>
                <a:cubicBezTo>
                  <a:pt x="39769" y="156016"/>
                  <a:pt x="42799" y="156268"/>
                  <a:pt x="45356" y="154974"/>
                </a:cubicBezTo>
                <a:lnTo>
                  <a:pt x="90933" y="131807"/>
                </a:lnTo>
                <a:lnTo>
                  <a:pt x="136478" y="154974"/>
                </a:lnTo>
                <a:cubicBezTo>
                  <a:pt x="139003" y="156268"/>
                  <a:pt x="142065" y="156016"/>
                  <a:pt x="144369" y="154343"/>
                </a:cubicBezTo>
                <a:cubicBezTo>
                  <a:pt x="146673" y="152670"/>
                  <a:pt x="147841" y="149861"/>
                  <a:pt x="147399" y="147020"/>
                </a:cubicBezTo>
                <a:lnTo>
                  <a:pt x="139414" y="96551"/>
                </a:lnTo>
                <a:lnTo>
                  <a:pt x="175522" y="60412"/>
                </a:lnTo>
                <a:cubicBezTo>
                  <a:pt x="177542" y="58391"/>
                  <a:pt x="178236" y="55425"/>
                  <a:pt x="177352" y="52710"/>
                </a:cubicBezTo>
                <a:cubicBezTo>
                  <a:pt x="176469" y="49996"/>
                  <a:pt x="174164" y="48007"/>
                  <a:pt x="171324" y="47565"/>
                </a:cubicBezTo>
                <a:lnTo>
                  <a:pt x="120886" y="39548"/>
                </a:lnTo>
                <a:lnTo>
                  <a:pt x="97687" y="-596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5" name="Text 33"/>
          <p:cNvSpPr/>
          <p:nvPr/>
        </p:nvSpPr>
        <p:spPr>
          <a:xfrm>
            <a:off x="1027971" y="6033155"/>
            <a:ext cx="299862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customers show repeat purchase behavior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04633" y="4237573"/>
            <a:ext cx="5629149" cy="2262433"/>
          </a:xfrm>
          <a:custGeom>
            <a:avLst/>
            <a:gdLst/>
            <a:ahLst/>
            <a:cxnLst/>
            <a:rect l="l" t="t" r="r" b="b"/>
            <a:pathLst>
              <a:path w="5629149" h="2262433">
                <a:moveTo>
                  <a:pt x="35912" y="0"/>
                </a:moveTo>
                <a:lnTo>
                  <a:pt x="5557317" y="0"/>
                </a:lnTo>
                <a:cubicBezTo>
                  <a:pt x="5596988" y="0"/>
                  <a:pt x="5629149" y="32160"/>
                  <a:pt x="5629149" y="71832"/>
                </a:cubicBezTo>
                <a:lnTo>
                  <a:pt x="5629149" y="2190601"/>
                </a:lnTo>
                <a:cubicBezTo>
                  <a:pt x="5629149" y="2230273"/>
                  <a:pt x="5596988" y="2262433"/>
                  <a:pt x="5557317" y="2262433"/>
                </a:cubicBez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37" name="Shape 35"/>
          <p:cNvSpPr/>
          <p:nvPr/>
        </p:nvSpPr>
        <p:spPr>
          <a:xfrm>
            <a:off x="6204633" y="4237573"/>
            <a:ext cx="35912" cy="2262433"/>
          </a:xfrm>
          <a:custGeom>
            <a:avLst/>
            <a:gdLst/>
            <a:ahLst/>
            <a:cxnLst/>
            <a:rect l="l" t="t" r="r" b="b"/>
            <a:pathLst>
              <a:path w="35912" h="2262433">
                <a:moveTo>
                  <a:pt x="35912" y="0"/>
                </a:moveTo>
                <a:lnTo>
                  <a:pt x="35912" y="0"/>
                </a:lnTo>
                <a:lnTo>
                  <a:pt x="35912" y="2262433"/>
                </a:lnTo>
                <a:lnTo>
                  <a:pt x="35912" y="2262433"/>
                </a:lnTo>
                <a:cubicBezTo>
                  <a:pt x="16078" y="2262433"/>
                  <a:pt x="0" y="2246355"/>
                  <a:pt x="0" y="222652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2147" y="441713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35912" y="0"/>
                </a:moveTo>
                <a:lnTo>
                  <a:pt x="466851" y="0"/>
                </a:lnTo>
                <a:cubicBezTo>
                  <a:pt x="486684" y="0"/>
                  <a:pt x="502763" y="16079"/>
                  <a:pt x="502763" y="35912"/>
                </a:cubicBezTo>
                <a:lnTo>
                  <a:pt x="502763" y="466851"/>
                </a:lnTo>
                <a:cubicBezTo>
                  <a:pt x="502763" y="486684"/>
                  <a:pt x="486684" y="502763"/>
                  <a:pt x="466851" y="502763"/>
                </a:cubicBezTo>
                <a:lnTo>
                  <a:pt x="35912" y="502763"/>
                </a:lnTo>
                <a:cubicBezTo>
                  <a:pt x="16079" y="502763"/>
                  <a:pt x="0" y="486684"/>
                  <a:pt x="0" y="466851"/>
                </a:cubicBezTo>
                <a:lnTo>
                  <a:pt x="0" y="35912"/>
                </a:lnTo>
                <a:cubicBezTo>
                  <a:pt x="0" y="16092"/>
                  <a:pt x="16092" y="0"/>
                  <a:pt x="35912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6348280" y="4417131"/>
            <a:ext cx="610498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65390" y="4533844"/>
            <a:ext cx="235670" cy="269337"/>
          </a:xfrm>
          <a:custGeom>
            <a:avLst/>
            <a:gdLst/>
            <a:ahLst/>
            <a:cxnLst/>
            <a:rect l="l" t="t" r="r" b="b"/>
            <a:pathLst>
              <a:path w="235670" h="269337">
                <a:moveTo>
                  <a:pt x="67334" y="0"/>
                </a:moveTo>
                <a:cubicBezTo>
                  <a:pt x="76645" y="0"/>
                  <a:pt x="84168" y="7523"/>
                  <a:pt x="84168" y="16834"/>
                </a:cubicBezTo>
                <a:lnTo>
                  <a:pt x="84168" y="33667"/>
                </a:lnTo>
                <a:lnTo>
                  <a:pt x="151502" y="33667"/>
                </a:lnTo>
                <a:lnTo>
                  <a:pt x="151502" y="16834"/>
                </a:lnTo>
                <a:cubicBezTo>
                  <a:pt x="151502" y="7523"/>
                  <a:pt x="159025" y="0"/>
                  <a:pt x="168336" y="0"/>
                </a:cubicBezTo>
                <a:cubicBezTo>
                  <a:pt x="177647" y="0"/>
                  <a:pt x="185169" y="7523"/>
                  <a:pt x="185169" y="16834"/>
                </a:cubicBezTo>
                <a:lnTo>
                  <a:pt x="185169" y="33667"/>
                </a:lnTo>
                <a:lnTo>
                  <a:pt x="202003" y="33667"/>
                </a:lnTo>
                <a:cubicBezTo>
                  <a:pt x="220572" y="33667"/>
                  <a:pt x="235670" y="48765"/>
                  <a:pt x="235670" y="67334"/>
                </a:cubicBezTo>
                <a:lnTo>
                  <a:pt x="235670" y="218837"/>
                </a:lnTo>
                <a:cubicBezTo>
                  <a:pt x="235670" y="237406"/>
                  <a:pt x="220572" y="252504"/>
                  <a:pt x="202003" y="252504"/>
                </a:cubicBezTo>
                <a:lnTo>
                  <a:pt x="33667" y="252504"/>
                </a:lnTo>
                <a:cubicBezTo>
                  <a:pt x="15098" y="252504"/>
                  <a:pt x="0" y="237406"/>
                  <a:pt x="0" y="218837"/>
                </a:cubicBezTo>
                <a:lnTo>
                  <a:pt x="0" y="67334"/>
                </a:lnTo>
                <a:cubicBezTo>
                  <a:pt x="0" y="48765"/>
                  <a:pt x="15098" y="33667"/>
                  <a:pt x="33667" y="33667"/>
                </a:cubicBezTo>
                <a:lnTo>
                  <a:pt x="50501" y="33667"/>
                </a:lnTo>
                <a:lnTo>
                  <a:pt x="50501" y="16834"/>
                </a:lnTo>
                <a:cubicBezTo>
                  <a:pt x="50501" y="7523"/>
                  <a:pt x="58023" y="0"/>
                  <a:pt x="67334" y="0"/>
                </a:cubicBezTo>
                <a:close/>
                <a:moveTo>
                  <a:pt x="67334" y="134669"/>
                </a:moveTo>
                <a:cubicBezTo>
                  <a:pt x="58023" y="134669"/>
                  <a:pt x="50501" y="142191"/>
                  <a:pt x="50501" y="151502"/>
                </a:cubicBezTo>
                <a:lnTo>
                  <a:pt x="50501" y="185169"/>
                </a:lnTo>
                <a:cubicBezTo>
                  <a:pt x="50501" y="194480"/>
                  <a:pt x="58023" y="202003"/>
                  <a:pt x="67334" y="202003"/>
                </a:cubicBezTo>
                <a:lnTo>
                  <a:pt x="168336" y="202003"/>
                </a:lnTo>
                <a:cubicBezTo>
                  <a:pt x="177647" y="202003"/>
                  <a:pt x="185169" y="194480"/>
                  <a:pt x="185169" y="185169"/>
                </a:cubicBezTo>
                <a:lnTo>
                  <a:pt x="185169" y="151502"/>
                </a:lnTo>
                <a:cubicBezTo>
                  <a:pt x="185169" y="142191"/>
                  <a:pt x="177647" y="134669"/>
                  <a:pt x="168336" y="134669"/>
                </a:cubicBezTo>
                <a:lnTo>
                  <a:pt x="67334" y="13466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6402147" y="5027629"/>
            <a:ext cx="534185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 Demand Patterns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2147" y="5386745"/>
            <a:ext cx="5323900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demand patterns impact weekly sales and profit fluctuations, requiring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planning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2147" y="5961331"/>
            <a:ext cx="5252077" cy="359116"/>
          </a:xfrm>
          <a:custGeom>
            <a:avLst/>
            <a:gdLst/>
            <a:ahLst/>
            <a:cxnLst/>
            <a:rect l="l" t="t" r="r" b="b"/>
            <a:pathLst>
              <a:path w="5252077" h="359116">
                <a:moveTo>
                  <a:pt x="35912" y="0"/>
                </a:moveTo>
                <a:lnTo>
                  <a:pt x="5216165" y="0"/>
                </a:lnTo>
                <a:cubicBezTo>
                  <a:pt x="5235998" y="0"/>
                  <a:pt x="5252077" y="16078"/>
                  <a:pt x="5252077" y="35912"/>
                </a:cubicBezTo>
                <a:lnTo>
                  <a:pt x="5252077" y="323205"/>
                </a:lnTo>
                <a:cubicBezTo>
                  <a:pt x="5252077" y="343038"/>
                  <a:pt x="5235998" y="359116"/>
                  <a:pt x="5216165" y="359116"/>
                </a:cubicBezTo>
                <a:lnTo>
                  <a:pt x="35912" y="359116"/>
                </a:lnTo>
                <a:cubicBezTo>
                  <a:pt x="16078" y="359116"/>
                  <a:pt x="0" y="343038"/>
                  <a:pt x="0" y="32320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4" name="Shape 42"/>
          <p:cNvSpPr/>
          <p:nvPr/>
        </p:nvSpPr>
        <p:spPr>
          <a:xfrm>
            <a:off x="6578338" y="6060088"/>
            <a:ext cx="141402" cy="161602"/>
          </a:xfrm>
          <a:custGeom>
            <a:avLst/>
            <a:gdLst/>
            <a:ahLst/>
            <a:cxnLst/>
            <a:rect l="l" t="t" r="r" b="b"/>
            <a:pathLst>
              <a:path w="141402" h="161602">
                <a:moveTo>
                  <a:pt x="40401" y="0"/>
                </a:moveTo>
                <a:cubicBezTo>
                  <a:pt x="45987" y="0"/>
                  <a:pt x="50501" y="4514"/>
                  <a:pt x="50501" y="10100"/>
                </a:cubicBezTo>
                <a:lnTo>
                  <a:pt x="50501" y="20200"/>
                </a:lnTo>
                <a:lnTo>
                  <a:pt x="90901" y="20200"/>
                </a:lnTo>
                <a:lnTo>
                  <a:pt x="90901" y="10100"/>
                </a:lnTo>
                <a:cubicBezTo>
                  <a:pt x="90901" y="4514"/>
                  <a:pt x="95415" y="0"/>
                  <a:pt x="101001" y="0"/>
                </a:cubicBezTo>
                <a:cubicBezTo>
                  <a:pt x="106588" y="0"/>
                  <a:pt x="111102" y="4514"/>
                  <a:pt x="111102" y="10100"/>
                </a:cubicBezTo>
                <a:lnTo>
                  <a:pt x="111102" y="20200"/>
                </a:lnTo>
                <a:lnTo>
                  <a:pt x="121202" y="20200"/>
                </a:lnTo>
                <a:cubicBezTo>
                  <a:pt x="132343" y="20200"/>
                  <a:pt x="141402" y="29259"/>
                  <a:pt x="141402" y="40401"/>
                </a:cubicBezTo>
                <a:lnTo>
                  <a:pt x="141402" y="131302"/>
                </a:lnTo>
                <a:cubicBezTo>
                  <a:pt x="141402" y="142444"/>
                  <a:pt x="132343" y="151502"/>
                  <a:pt x="121202" y="151502"/>
                </a:cubicBezTo>
                <a:lnTo>
                  <a:pt x="20200" y="151502"/>
                </a:lnTo>
                <a:cubicBezTo>
                  <a:pt x="9059" y="151502"/>
                  <a:pt x="0" y="142444"/>
                  <a:pt x="0" y="131302"/>
                </a:cubicBezTo>
                <a:lnTo>
                  <a:pt x="0" y="40401"/>
                </a:lnTo>
                <a:cubicBezTo>
                  <a:pt x="0" y="29259"/>
                  <a:pt x="9059" y="20200"/>
                  <a:pt x="20200" y="20200"/>
                </a:cubicBezTo>
                <a:lnTo>
                  <a:pt x="30300" y="20200"/>
                </a:lnTo>
                <a:lnTo>
                  <a:pt x="30300" y="10100"/>
                </a:lnTo>
                <a:cubicBezTo>
                  <a:pt x="30300" y="4514"/>
                  <a:pt x="34814" y="0"/>
                  <a:pt x="40401" y="0"/>
                </a:cubicBezTo>
                <a:close/>
                <a:moveTo>
                  <a:pt x="97340" y="72184"/>
                </a:moveTo>
                <a:cubicBezTo>
                  <a:pt x="99550" y="68649"/>
                  <a:pt x="98476" y="63978"/>
                  <a:pt x="94941" y="61737"/>
                </a:cubicBezTo>
                <a:cubicBezTo>
                  <a:pt x="91406" y="59496"/>
                  <a:pt x="86735" y="60601"/>
                  <a:pt x="84494" y="64136"/>
                </a:cubicBezTo>
                <a:lnTo>
                  <a:pt x="65114" y="95162"/>
                </a:lnTo>
                <a:lnTo>
                  <a:pt x="56592" y="83800"/>
                </a:lnTo>
                <a:cubicBezTo>
                  <a:pt x="54067" y="80454"/>
                  <a:pt x="49333" y="79760"/>
                  <a:pt x="45987" y="82285"/>
                </a:cubicBezTo>
                <a:cubicBezTo>
                  <a:pt x="42642" y="84810"/>
                  <a:pt x="41947" y="89544"/>
                  <a:pt x="44472" y="92890"/>
                </a:cubicBezTo>
                <a:lnTo>
                  <a:pt x="59622" y="113090"/>
                </a:lnTo>
                <a:cubicBezTo>
                  <a:pt x="61106" y="115079"/>
                  <a:pt x="63505" y="116215"/>
                  <a:pt x="65998" y="116120"/>
                </a:cubicBezTo>
                <a:cubicBezTo>
                  <a:pt x="68492" y="116025"/>
                  <a:pt x="70764" y="114700"/>
                  <a:pt x="72090" y="112554"/>
                </a:cubicBezTo>
                <a:lnTo>
                  <a:pt x="97340" y="7215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6855531" y="6033155"/>
            <a:ext cx="236119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campaigns with seasonal peaks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157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82070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1250462"/>
            <a:ext cx="1151940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strategic pillars for business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1667282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378928" y="1913585"/>
            <a:ext cx="5627077" cy="2178834"/>
          </a:xfrm>
          <a:custGeom>
            <a:avLst/>
            <a:gdLst/>
            <a:ahLst/>
            <a:cxnLst/>
            <a:rect l="l" t="t" r="r" b="b"/>
            <a:pathLst>
              <a:path w="5627077" h="2178834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2103055"/>
                </a:lnTo>
                <a:cubicBezTo>
                  <a:pt x="5627077" y="2144907"/>
                  <a:pt x="5593149" y="2178834"/>
                  <a:pt x="5551297" y="2178834"/>
                </a:cubicBezTo>
                <a:lnTo>
                  <a:pt x="75780" y="2178834"/>
                </a:lnTo>
                <a:cubicBezTo>
                  <a:pt x="33928" y="2178834"/>
                  <a:pt x="0" y="2144907"/>
                  <a:pt x="0" y="2103055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378928" y="1913585"/>
            <a:ext cx="5627077" cy="37893"/>
          </a:xfrm>
          <a:custGeom>
            <a:avLst/>
            <a:gdLst/>
            <a:ahLst/>
            <a:cxnLst/>
            <a:rect l="l" t="t" r="r" b="b"/>
            <a:pathLst>
              <a:path w="5627077" h="37893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Shape 6"/>
          <p:cNvSpPr/>
          <p:nvPr/>
        </p:nvSpPr>
        <p:spPr>
          <a:xfrm>
            <a:off x="596811" y="2159768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07017" y="38677"/>
                </a:moveTo>
                <a:lnTo>
                  <a:pt x="113678" y="47869"/>
                </a:lnTo>
                <a:lnTo>
                  <a:pt x="120339" y="38677"/>
                </a:lnTo>
                <a:cubicBezTo>
                  <a:pt x="131441" y="23313"/>
                  <a:pt x="149292" y="14210"/>
                  <a:pt x="168253" y="14210"/>
                </a:cubicBezTo>
                <a:cubicBezTo>
                  <a:pt x="200891" y="14210"/>
                  <a:pt x="227357" y="40676"/>
                  <a:pt x="227357" y="73314"/>
                </a:cubicBezTo>
                <a:lnTo>
                  <a:pt x="227357" y="74468"/>
                </a:lnTo>
                <a:cubicBezTo>
                  <a:pt x="227357" y="124291"/>
                  <a:pt x="165233" y="182152"/>
                  <a:pt x="132817" y="206886"/>
                </a:cubicBezTo>
                <a:cubicBezTo>
                  <a:pt x="127311" y="211060"/>
                  <a:pt x="120561" y="213147"/>
                  <a:pt x="113678" y="213147"/>
                </a:cubicBezTo>
                <a:cubicBezTo>
                  <a:pt x="106795" y="213147"/>
                  <a:pt x="100001" y="211104"/>
                  <a:pt x="94540" y="206886"/>
                </a:cubicBezTo>
                <a:cubicBezTo>
                  <a:pt x="62123" y="182152"/>
                  <a:pt x="0" y="124291"/>
                  <a:pt x="0" y="74468"/>
                </a:cubicBezTo>
                <a:lnTo>
                  <a:pt x="0" y="73314"/>
                </a:lnTo>
                <a:cubicBezTo>
                  <a:pt x="0" y="40676"/>
                  <a:pt x="26466" y="14210"/>
                  <a:pt x="59104" y="14210"/>
                </a:cubicBezTo>
                <a:cubicBezTo>
                  <a:pt x="78065" y="14210"/>
                  <a:pt x="95916" y="23313"/>
                  <a:pt x="107017" y="3867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966266" y="2121995"/>
            <a:ext cx="2008317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Strategy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2732" y="2614481"/>
            <a:ext cx="149203" cy="170517"/>
          </a:xfrm>
          <a:custGeom>
            <a:avLst/>
            <a:gdLst/>
            <a:ahLst/>
            <a:cxnLst/>
            <a:rect l="l" t="t" r="r" b="b"/>
            <a:pathLst>
              <a:path w="149203" h="170517">
                <a:moveTo>
                  <a:pt x="81895" y="-8626"/>
                </a:moveTo>
                <a:cubicBezTo>
                  <a:pt x="77432" y="-11357"/>
                  <a:pt x="71804" y="-11357"/>
                  <a:pt x="67341" y="-8626"/>
                </a:cubicBezTo>
                <a:cubicBezTo>
                  <a:pt x="59215" y="-3663"/>
                  <a:pt x="54186" y="-2331"/>
                  <a:pt x="44661" y="-2531"/>
                </a:cubicBezTo>
                <a:cubicBezTo>
                  <a:pt x="39432" y="-2664"/>
                  <a:pt x="34570" y="167"/>
                  <a:pt x="32039" y="4763"/>
                </a:cubicBezTo>
                <a:cubicBezTo>
                  <a:pt x="27476" y="13122"/>
                  <a:pt x="23779" y="16819"/>
                  <a:pt x="15420" y="21381"/>
                </a:cubicBezTo>
                <a:cubicBezTo>
                  <a:pt x="10824" y="23879"/>
                  <a:pt x="8026" y="28775"/>
                  <a:pt x="8126" y="34004"/>
                </a:cubicBezTo>
                <a:cubicBezTo>
                  <a:pt x="8359" y="43529"/>
                  <a:pt x="6994" y="48558"/>
                  <a:pt x="2032" y="56684"/>
                </a:cubicBezTo>
                <a:cubicBezTo>
                  <a:pt x="-699" y="61147"/>
                  <a:pt x="-699" y="66775"/>
                  <a:pt x="2032" y="71238"/>
                </a:cubicBezTo>
                <a:cubicBezTo>
                  <a:pt x="6994" y="79364"/>
                  <a:pt x="8326" y="84393"/>
                  <a:pt x="8126" y="93918"/>
                </a:cubicBezTo>
                <a:cubicBezTo>
                  <a:pt x="7993" y="99147"/>
                  <a:pt x="10824" y="104009"/>
                  <a:pt x="15420" y="106540"/>
                </a:cubicBezTo>
                <a:cubicBezTo>
                  <a:pt x="22780" y="110570"/>
                  <a:pt x="26510" y="113900"/>
                  <a:pt x="30440" y="120361"/>
                </a:cubicBezTo>
                <a:lnTo>
                  <a:pt x="14221" y="152700"/>
                </a:lnTo>
                <a:cubicBezTo>
                  <a:pt x="12256" y="156663"/>
                  <a:pt x="13855" y="161459"/>
                  <a:pt x="17784" y="163424"/>
                </a:cubicBezTo>
                <a:lnTo>
                  <a:pt x="46426" y="177744"/>
                </a:lnTo>
                <a:cubicBezTo>
                  <a:pt x="50256" y="179643"/>
                  <a:pt x="54919" y="178211"/>
                  <a:pt x="56983" y="174481"/>
                </a:cubicBezTo>
                <a:lnTo>
                  <a:pt x="74568" y="142808"/>
                </a:lnTo>
                <a:lnTo>
                  <a:pt x="92153" y="174481"/>
                </a:lnTo>
                <a:cubicBezTo>
                  <a:pt x="94218" y="178211"/>
                  <a:pt x="98880" y="179676"/>
                  <a:pt x="102710" y="177744"/>
                </a:cubicBezTo>
                <a:lnTo>
                  <a:pt x="131352" y="163424"/>
                </a:lnTo>
                <a:cubicBezTo>
                  <a:pt x="135315" y="161459"/>
                  <a:pt x="136914" y="156663"/>
                  <a:pt x="134915" y="152700"/>
                </a:cubicBezTo>
                <a:lnTo>
                  <a:pt x="118729" y="120328"/>
                </a:lnTo>
                <a:cubicBezTo>
                  <a:pt x="122626" y="113867"/>
                  <a:pt x="126389" y="110537"/>
                  <a:pt x="133750" y="106507"/>
                </a:cubicBezTo>
                <a:cubicBezTo>
                  <a:pt x="138346" y="104009"/>
                  <a:pt x="141143" y="99113"/>
                  <a:pt x="141043" y="93885"/>
                </a:cubicBezTo>
                <a:cubicBezTo>
                  <a:pt x="140810" y="84360"/>
                  <a:pt x="142176" y="79331"/>
                  <a:pt x="147138" y="71204"/>
                </a:cubicBezTo>
                <a:cubicBezTo>
                  <a:pt x="149869" y="66742"/>
                  <a:pt x="149869" y="61113"/>
                  <a:pt x="147138" y="56650"/>
                </a:cubicBezTo>
                <a:cubicBezTo>
                  <a:pt x="142176" y="48524"/>
                  <a:pt x="140843" y="43495"/>
                  <a:pt x="141043" y="33970"/>
                </a:cubicBezTo>
                <a:cubicBezTo>
                  <a:pt x="141176" y="28742"/>
                  <a:pt x="138346" y="23879"/>
                  <a:pt x="133750" y="21348"/>
                </a:cubicBezTo>
                <a:cubicBezTo>
                  <a:pt x="125390" y="16785"/>
                  <a:pt x="121694" y="13089"/>
                  <a:pt x="117131" y="4729"/>
                </a:cubicBezTo>
                <a:cubicBezTo>
                  <a:pt x="114633" y="133"/>
                  <a:pt x="109737" y="-2664"/>
                  <a:pt x="104509" y="-2564"/>
                </a:cubicBezTo>
                <a:cubicBezTo>
                  <a:pt x="94984" y="-2331"/>
                  <a:pt x="89955" y="-3697"/>
                  <a:pt x="81828" y="-8659"/>
                </a:cubicBezTo>
                <a:close/>
                <a:moveTo>
                  <a:pt x="74601" y="31972"/>
                </a:moveTo>
                <a:cubicBezTo>
                  <a:pt x="92247" y="31972"/>
                  <a:pt x="106573" y="46298"/>
                  <a:pt x="106573" y="63944"/>
                </a:cubicBezTo>
                <a:cubicBezTo>
                  <a:pt x="106573" y="81590"/>
                  <a:pt x="92247" y="95916"/>
                  <a:pt x="74601" y="95916"/>
                </a:cubicBezTo>
                <a:cubicBezTo>
                  <a:pt x="56956" y="95916"/>
                  <a:pt x="42629" y="81590"/>
                  <a:pt x="42629" y="63944"/>
                </a:cubicBezTo>
                <a:cubicBezTo>
                  <a:pt x="42629" y="46298"/>
                  <a:pt x="56956" y="31972"/>
                  <a:pt x="74601" y="3197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895217" y="2576588"/>
            <a:ext cx="360928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Loyalty Programs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5217" y="2841838"/>
            <a:ext cx="360928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loyalty programs for high-value customers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3128" y="3220766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153599" y="6294"/>
                </a:moveTo>
                <a:cubicBezTo>
                  <a:pt x="157429" y="7993"/>
                  <a:pt x="159860" y="11790"/>
                  <a:pt x="159860" y="15986"/>
                </a:cubicBezTo>
                <a:lnTo>
                  <a:pt x="159860" y="154531"/>
                </a:lnTo>
                <a:cubicBezTo>
                  <a:pt x="159860" y="158728"/>
                  <a:pt x="157429" y="162524"/>
                  <a:pt x="153599" y="164223"/>
                </a:cubicBezTo>
                <a:cubicBezTo>
                  <a:pt x="149769" y="165922"/>
                  <a:pt x="145340" y="165289"/>
                  <a:pt x="142176" y="162524"/>
                </a:cubicBezTo>
                <a:lnTo>
                  <a:pt x="126656" y="148970"/>
                </a:lnTo>
                <a:cubicBezTo>
                  <a:pt x="112135" y="136281"/>
                  <a:pt x="93785" y="128887"/>
                  <a:pt x="74568" y="127988"/>
                </a:cubicBezTo>
                <a:lnTo>
                  <a:pt x="74568" y="159860"/>
                </a:lnTo>
                <a:cubicBezTo>
                  <a:pt x="74568" y="165755"/>
                  <a:pt x="69806" y="170517"/>
                  <a:pt x="63911" y="170517"/>
                </a:cubicBezTo>
                <a:lnTo>
                  <a:pt x="53253" y="170517"/>
                </a:lnTo>
                <a:cubicBezTo>
                  <a:pt x="47359" y="170517"/>
                  <a:pt x="42596" y="165755"/>
                  <a:pt x="42596" y="159860"/>
                </a:cubicBezTo>
                <a:lnTo>
                  <a:pt x="42596" y="127888"/>
                </a:lnTo>
                <a:cubicBezTo>
                  <a:pt x="19083" y="127888"/>
                  <a:pt x="0" y="108805"/>
                  <a:pt x="0" y="85259"/>
                </a:cubicBezTo>
                <a:cubicBezTo>
                  <a:pt x="0" y="61713"/>
                  <a:pt x="19083" y="42629"/>
                  <a:pt x="42629" y="42629"/>
                </a:cubicBezTo>
                <a:lnTo>
                  <a:pt x="70771" y="42629"/>
                </a:lnTo>
                <a:cubicBezTo>
                  <a:pt x="91353" y="42563"/>
                  <a:pt x="111203" y="35069"/>
                  <a:pt x="126689" y="21548"/>
                </a:cubicBezTo>
                <a:lnTo>
                  <a:pt x="142209" y="7993"/>
                </a:lnTo>
                <a:cubicBezTo>
                  <a:pt x="145340" y="5229"/>
                  <a:pt x="149836" y="4596"/>
                  <a:pt x="153632" y="6294"/>
                </a:cubicBezTo>
                <a:close/>
                <a:moveTo>
                  <a:pt x="74601" y="106573"/>
                </a:moveTo>
                <a:lnTo>
                  <a:pt x="74601" y="106640"/>
                </a:lnTo>
                <a:cubicBezTo>
                  <a:pt x="98014" y="107539"/>
                  <a:pt x="120495" y="116132"/>
                  <a:pt x="138545" y="131085"/>
                </a:cubicBezTo>
                <a:lnTo>
                  <a:pt x="138545" y="39399"/>
                </a:lnTo>
                <a:cubicBezTo>
                  <a:pt x="120495" y="54352"/>
                  <a:pt x="98014" y="62945"/>
                  <a:pt x="74601" y="63844"/>
                </a:cubicBezTo>
                <a:lnTo>
                  <a:pt x="74601" y="10657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4" name="Text 12"/>
          <p:cNvSpPr/>
          <p:nvPr/>
        </p:nvSpPr>
        <p:spPr>
          <a:xfrm>
            <a:off x="864666" y="3182873"/>
            <a:ext cx="502079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Targeted Promotions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4666" y="3448122"/>
            <a:ext cx="5020793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targeted promotions to increase repeat purchases among low-frequency customers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05" y="1913585"/>
            <a:ext cx="5627077" cy="2178834"/>
          </a:xfrm>
          <a:custGeom>
            <a:avLst/>
            <a:gdLst/>
            <a:ahLst/>
            <a:cxnLst/>
            <a:rect l="l" t="t" r="r" b="b"/>
            <a:pathLst>
              <a:path w="5627077" h="2178834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2103055"/>
                </a:lnTo>
                <a:cubicBezTo>
                  <a:pt x="5627077" y="2144907"/>
                  <a:pt x="5593149" y="2178834"/>
                  <a:pt x="5551297" y="2178834"/>
                </a:cubicBezTo>
                <a:lnTo>
                  <a:pt x="75780" y="2178834"/>
                </a:lnTo>
                <a:cubicBezTo>
                  <a:pt x="33928" y="2178834"/>
                  <a:pt x="0" y="2144907"/>
                  <a:pt x="0" y="2103055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1205" y="1913585"/>
            <a:ext cx="5627077" cy="37893"/>
          </a:xfrm>
          <a:custGeom>
            <a:avLst/>
            <a:gdLst/>
            <a:ahLst/>
            <a:cxnLst/>
            <a:rect l="l" t="t" r="r" b="b"/>
            <a:pathLst>
              <a:path w="5627077" h="37893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9089" y="2159768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99469" y="0"/>
                </a:moveTo>
                <a:lnTo>
                  <a:pt x="99469" y="28420"/>
                </a:lnTo>
                <a:cubicBezTo>
                  <a:pt x="99469" y="32327"/>
                  <a:pt x="102666" y="35524"/>
                  <a:pt x="106573" y="35524"/>
                </a:cubicBezTo>
                <a:lnTo>
                  <a:pt x="120783" y="35524"/>
                </a:lnTo>
                <a:cubicBezTo>
                  <a:pt x="124691" y="35524"/>
                  <a:pt x="127888" y="32327"/>
                  <a:pt x="127888" y="28420"/>
                </a:cubicBezTo>
                <a:lnTo>
                  <a:pt x="127888" y="0"/>
                </a:lnTo>
                <a:lnTo>
                  <a:pt x="142098" y="0"/>
                </a:lnTo>
                <a:cubicBezTo>
                  <a:pt x="157773" y="0"/>
                  <a:pt x="170517" y="12744"/>
                  <a:pt x="170517" y="28420"/>
                </a:cubicBezTo>
                <a:lnTo>
                  <a:pt x="170517" y="85259"/>
                </a:lnTo>
                <a:cubicBezTo>
                  <a:pt x="170517" y="87701"/>
                  <a:pt x="170207" y="90099"/>
                  <a:pt x="169629" y="92364"/>
                </a:cubicBezTo>
                <a:lnTo>
                  <a:pt x="57727" y="92364"/>
                </a:lnTo>
                <a:cubicBezTo>
                  <a:pt x="57150" y="90099"/>
                  <a:pt x="56839" y="87701"/>
                  <a:pt x="56839" y="85259"/>
                </a:cubicBezTo>
                <a:lnTo>
                  <a:pt x="56839" y="28420"/>
                </a:lnTo>
                <a:cubicBezTo>
                  <a:pt x="56839" y="12744"/>
                  <a:pt x="69584" y="0"/>
                  <a:pt x="85259" y="0"/>
                </a:cubicBezTo>
                <a:lnTo>
                  <a:pt x="99469" y="0"/>
                </a:lnTo>
                <a:close/>
                <a:moveTo>
                  <a:pt x="142098" y="227357"/>
                </a:moveTo>
                <a:cubicBezTo>
                  <a:pt x="137124" y="227357"/>
                  <a:pt x="132417" y="226069"/>
                  <a:pt x="128332" y="223804"/>
                </a:cubicBezTo>
                <a:cubicBezTo>
                  <a:pt x="132551" y="216477"/>
                  <a:pt x="134993" y="207996"/>
                  <a:pt x="134993" y="198937"/>
                </a:cubicBezTo>
                <a:lnTo>
                  <a:pt x="134993" y="142098"/>
                </a:lnTo>
                <a:cubicBezTo>
                  <a:pt x="134993" y="133039"/>
                  <a:pt x="132551" y="124558"/>
                  <a:pt x="128332" y="117231"/>
                </a:cubicBezTo>
                <a:cubicBezTo>
                  <a:pt x="132417" y="114966"/>
                  <a:pt x="137080" y="113678"/>
                  <a:pt x="142098" y="113678"/>
                </a:cubicBezTo>
                <a:lnTo>
                  <a:pt x="156308" y="113678"/>
                </a:lnTo>
                <a:lnTo>
                  <a:pt x="156308" y="142098"/>
                </a:lnTo>
                <a:cubicBezTo>
                  <a:pt x="156308" y="146006"/>
                  <a:pt x="159505" y="149203"/>
                  <a:pt x="163413" y="149203"/>
                </a:cubicBezTo>
                <a:lnTo>
                  <a:pt x="177622" y="149203"/>
                </a:lnTo>
                <a:cubicBezTo>
                  <a:pt x="181530" y="149203"/>
                  <a:pt x="184727" y="146006"/>
                  <a:pt x="184727" y="142098"/>
                </a:cubicBezTo>
                <a:lnTo>
                  <a:pt x="184727" y="113678"/>
                </a:lnTo>
                <a:lnTo>
                  <a:pt x="198937" y="113678"/>
                </a:lnTo>
                <a:cubicBezTo>
                  <a:pt x="214612" y="113678"/>
                  <a:pt x="227357" y="126423"/>
                  <a:pt x="227357" y="142098"/>
                </a:cubicBezTo>
                <a:lnTo>
                  <a:pt x="227357" y="198937"/>
                </a:lnTo>
                <a:cubicBezTo>
                  <a:pt x="227357" y="214612"/>
                  <a:pt x="214612" y="227357"/>
                  <a:pt x="198937" y="227357"/>
                </a:cubicBezTo>
                <a:lnTo>
                  <a:pt x="142098" y="227357"/>
                </a:lnTo>
                <a:close/>
                <a:moveTo>
                  <a:pt x="0" y="142098"/>
                </a:moveTo>
                <a:cubicBezTo>
                  <a:pt x="0" y="126423"/>
                  <a:pt x="12744" y="113678"/>
                  <a:pt x="28420" y="113678"/>
                </a:cubicBezTo>
                <a:lnTo>
                  <a:pt x="42629" y="113678"/>
                </a:lnTo>
                <a:lnTo>
                  <a:pt x="42629" y="142098"/>
                </a:lnTo>
                <a:cubicBezTo>
                  <a:pt x="42629" y="146006"/>
                  <a:pt x="45827" y="149203"/>
                  <a:pt x="49734" y="149203"/>
                </a:cubicBezTo>
                <a:lnTo>
                  <a:pt x="63944" y="149203"/>
                </a:lnTo>
                <a:cubicBezTo>
                  <a:pt x="67852" y="149203"/>
                  <a:pt x="71049" y="146006"/>
                  <a:pt x="71049" y="142098"/>
                </a:cubicBezTo>
                <a:lnTo>
                  <a:pt x="71049" y="113678"/>
                </a:lnTo>
                <a:lnTo>
                  <a:pt x="85259" y="113678"/>
                </a:lnTo>
                <a:cubicBezTo>
                  <a:pt x="100934" y="113678"/>
                  <a:pt x="113678" y="126423"/>
                  <a:pt x="113678" y="142098"/>
                </a:cubicBezTo>
                <a:lnTo>
                  <a:pt x="113678" y="198937"/>
                </a:lnTo>
                <a:cubicBezTo>
                  <a:pt x="113678" y="214612"/>
                  <a:pt x="100934" y="227357"/>
                  <a:pt x="85259" y="227357"/>
                </a:cubicBezTo>
                <a:lnTo>
                  <a:pt x="28420" y="227357"/>
                </a:lnTo>
                <a:cubicBezTo>
                  <a:pt x="12744" y="227357"/>
                  <a:pt x="0" y="214612"/>
                  <a:pt x="0" y="198937"/>
                </a:cubicBezTo>
                <a:lnTo>
                  <a:pt x="0" y="14209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6778543" y="2121995"/>
            <a:ext cx="181885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Strategy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4352" y="2614481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21315" y="21315"/>
                </a:moveTo>
                <a:cubicBezTo>
                  <a:pt x="21315" y="15420"/>
                  <a:pt x="16552" y="10657"/>
                  <a:pt x="10657" y="10657"/>
                </a:cubicBezTo>
                <a:cubicBezTo>
                  <a:pt x="4762" y="10657"/>
                  <a:pt x="0" y="15420"/>
                  <a:pt x="0" y="21315"/>
                </a:cubicBezTo>
                <a:lnTo>
                  <a:pt x="0" y="133217"/>
                </a:lnTo>
                <a:cubicBezTo>
                  <a:pt x="0" y="147937"/>
                  <a:pt x="11923" y="159860"/>
                  <a:pt x="26643" y="159860"/>
                </a:cubicBezTo>
                <a:lnTo>
                  <a:pt x="159860" y="159860"/>
                </a:lnTo>
                <a:cubicBezTo>
                  <a:pt x="165755" y="159860"/>
                  <a:pt x="170517" y="155098"/>
                  <a:pt x="170517" y="149203"/>
                </a:cubicBezTo>
                <a:cubicBezTo>
                  <a:pt x="170517" y="143308"/>
                  <a:pt x="165755" y="138545"/>
                  <a:pt x="159860" y="138545"/>
                </a:cubicBezTo>
                <a:lnTo>
                  <a:pt x="26643" y="138545"/>
                </a:lnTo>
                <a:cubicBezTo>
                  <a:pt x="23713" y="138545"/>
                  <a:pt x="21315" y="136148"/>
                  <a:pt x="21315" y="133217"/>
                </a:cubicBezTo>
                <a:lnTo>
                  <a:pt x="21315" y="21315"/>
                </a:lnTo>
                <a:close/>
                <a:moveTo>
                  <a:pt x="156730" y="50156"/>
                </a:moveTo>
                <a:cubicBezTo>
                  <a:pt x="160893" y="45993"/>
                  <a:pt x="160893" y="39232"/>
                  <a:pt x="156730" y="35069"/>
                </a:cubicBezTo>
                <a:cubicBezTo>
                  <a:pt x="152567" y="30906"/>
                  <a:pt x="145806" y="30906"/>
                  <a:pt x="141643" y="35069"/>
                </a:cubicBezTo>
                <a:lnTo>
                  <a:pt x="106573" y="70172"/>
                </a:lnTo>
                <a:lnTo>
                  <a:pt x="87457" y="51089"/>
                </a:lnTo>
                <a:cubicBezTo>
                  <a:pt x="83294" y="46926"/>
                  <a:pt x="76533" y="46926"/>
                  <a:pt x="72370" y="51089"/>
                </a:cubicBezTo>
                <a:lnTo>
                  <a:pt x="40398" y="83061"/>
                </a:lnTo>
                <a:cubicBezTo>
                  <a:pt x="36235" y="87224"/>
                  <a:pt x="36235" y="93984"/>
                  <a:pt x="40398" y="98147"/>
                </a:cubicBezTo>
                <a:cubicBezTo>
                  <a:pt x="44561" y="102310"/>
                  <a:pt x="51322" y="102310"/>
                  <a:pt x="55485" y="98147"/>
                </a:cubicBezTo>
                <a:lnTo>
                  <a:pt x="79930" y="73702"/>
                </a:lnTo>
                <a:lnTo>
                  <a:pt x="99047" y="92819"/>
                </a:lnTo>
                <a:cubicBezTo>
                  <a:pt x="103210" y="96982"/>
                  <a:pt x="109970" y="96982"/>
                  <a:pt x="114133" y="92819"/>
                </a:cubicBezTo>
                <a:lnTo>
                  <a:pt x="156763" y="5018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6707495" y="2576588"/>
            <a:ext cx="439556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Optimization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07495" y="2841838"/>
            <a:ext cx="439556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pricing or discontinue consistently loss-making products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3695" y="3220766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103076" y="-6294"/>
                </a:moveTo>
                <a:cubicBezTo>
                  <a:pt x="101711" y="-8959"/>
                  <a:pt x="98947" y="-10657"/>
                  <a:pt x="95949" y="-10657"/>
                </a:cubicBezTo>
                <a:cubicBezTo>
                  <a:pt x="92952" y="-10657"/>
                  <a:pt x="90188" y="-8959"/>
                  <a:pt x="88822" y="-6294"/>
                </a:cubicBezTo>
                <a:lnTo>
                  <a:pt x="64310" y="41730"/>
                </a:lnTo>
                <a:lnTo>
                  <a:pt x="11057" y="50189"/>
                </a:lnTo>
                <a:cubicBezTo>
                  <a:pt x="8093" y="50656"/>
                  <a:pt x="5628" y="52754"/>
                  <a:pt x="4696" y="55618"/>
                </a:cubicBezTo>
                <a:cubicBezTo>
                  <a:pt x="3763" y="58482"/>
                  <a:pt x="4529" y="61613"/>
                  <a:pt x="6628" y="63744"/>
                </a:cubicBezTo>
                <a:lnTo>
                  <a:pt x="44728" y="101878"/>
                </a:lnTo>
                <a:lnTo>
                  <a:pt x="36335" y="155131"/>
                </a:lnTo>
                <a:cubicBezTo>
                  <a:pt x="35869" y="158095"/>
                  <a:pt x="37101" y="161092"/>
                  <a:pt x="39532" y="162858"/>
                </a:cubicBezTo>
                <a:cubicBezTo>
                  <a:pt x="41963" y="164623"/>
                  <a:pt x="45160" y="164889"/>
                  <a:pt x="47858" y="163524"/>
                </a:cubicBezTo>
                <a:lnTo>
                  <a:pt x="95949" y="139078"/>
                </a:lnTo>
                <a:lnTo>
                  <a:pt x="144007" y="163524"/>
                </a:lnTo>
                <a:cubicBezTo>
                  <a:pt x="146672" y="164889"/>
                  <a:pt x="149902" y="164623"/>
                  <a:pt x="152333" y="162858"/>
                </a:cubicBezTo>
                <a:cubicBezTo>
                  <a:pt x="154765" y="161092"/>
                  <a:pt x="155997" y="158128"/>
                  <a:pt x="155531" y="155131"/>
                </a:cubicBezTo>
                <a:lnTo>
                  <a:pt x="147105" y="101878"/>
                </a:lnTo>
                <a:lnTo>
                  <a:pt x="185205" y="63744"/>
                </a:lnTo>
                <a:cubicBezTo>
                  <a:pt x="187336" y="61613"/>
                  <a:pt x="188069" y="58482"/>
                  <a:pt x="187136" y="55618"/>
                </a:cubicBezTo>
                <a:cubicBezTo>
                  <a:pt x="186204" y="52754"/>
                  <a:pt x="183773" y="50656"/>
                  <a:pt x="180775" y="50189"/>
                </a:cubicBezTo>
                <a:lnTo>
                  <a:pt x="127555" y="41730"/>
                </a:lnTo>
                <a:lnTo>
                  <a:pt x="103076" y="-629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6707495" y="3182873"/>
            <a:ext cx="408294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High-Margin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07495" y="3448122"/>
            <a:ext cx="408294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marketing and inventory on high-margin subcategories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8928" y="4300710"/>
            <a:ext cx="5627077" cy="2178834"/>
          </a:xfrm>
          <a:custGeom>
            <a:avLst/>
            <a:gdLst/>
            <a:ahLst/>
            <a:cxnLst/>
            <a:rect l="l" t="t" r="r" b="b"/>
            <a:pathLst>
              <a:path w="5627077" h="2178834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2103055"/>
                </a:lnTo>
                <a:cubicBezTo>
                  <a:pt x="5627077" y="2144907"/>
                  <a:pt x="5593149" y="2178834"/>
                  <a:pt x="5551297" y="2178834"/>
                </a:cubicBezTo>
                <a:lnTo>
                  <a:pt x="75780" y="2178834"/>
                </a:lnTo>
                <a:cubicBezTo>
                  <a:pt x="33928" y="2178834"/>
                  <a:pt x="0" y="2144907"/>
                  <a:pt x="0" y="2103055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78928" y="4300710"/>
            <a:ext cx="5627077" cy="37893"/>
          </a:xfrm>
          <a:custGeom>
            <a:avLst/>
            <a:gdLst/>
            <a:ahLst/>
            <a:cxnLst/>
            <a:rect l="l" t="t" r="r" b="b"/>
            <a:pathLst>
              <a:path w="5627077" h="37893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Shape 26"/>
          <p:cNvSpPr/>
          <p:nvPr/>
        </p:nvSpPr>
        <p:spPr>
          <a:xfrm>
            <a:off x="596811" y="4546892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4210" y="14210"/>
                </a:moveTo>
                <a:cubicBezTo>
                  <a:pt x="22070" y="14210"/>
                  <a:pt x="28420" y="20560"/>
                  <a:pt x="28420" y="28420"/>
                </a:cubicBezTo>
                <a:lnTo>
                  <a:pt x="28420" y="177622"/>
                </a:lnTo>
                <a:cubicBezTo>
                  <a:pt x="28420" y="181530"/>
                  <a:pt x="31617" y="184727"/>
                  <a:pt x="35524" y="184727"/>
                </a:cubicBezTo>
                <a:lnTo>
                  <a:pt x="213147" y="184727"/>
                </a:lnTo>
                <a:cubicBezTo>
                  <a:pt x="221007" y="184727"/>
                  <a:pt x="227357" y="191077"/>
                  <a:pt x="227357" y="198937"/>
                </a:cubicBezTo>
                <a:cubicBezTo>
                  <a:pt x="227357" y="206797"/>
                  <a:pt x="221007" y="213147"/>
                  <a:pt x="213147" y="213147"/>
                </a:cubicBezTo>
                <a:lnTo>
                  <a:pt x="35524" y="213147"/>
                </a:lnTo>
                <a:cubicBezTo>
                  <a:pt x="15897" y="213147"/>
                  <a:pt x="0" y="197250"/>
                  <a:pt x="0" y="177622"/>
                </a:cubicBezTo>
                <a:lnTo>
                  <a:pt x="0" y="28420"/>
                </a:lnTo>
                <a:cubicBezTo>
                  <a:pt x="0" y="20560"/>
                  <a:pt x="6350" y="14210"/>
                  <a:pt x="14210" y="14210"/>
                </a:cubicBezTo>
                <a:close/>
                <a:moveTo>
                  <a:pt x="56839" y="42629"/>
                </a:moveTo>
                <a:cubicBezTo>
                  <a:pt x="56839" y="34770"/>
                  <a:pt x="63189" y="28420"/>
                  <a:pt x="71049" y="28420"/>
                </a:cubicBezTo>
                <a:lnTo>
                  <a:pt x="156308" y="28420"/>
                </a:lnTo>
                <a:cubicBezTo>
                  <a:pt x="164167" y="28420"/>
                  <a:pt x="170517" y="34770"/>
                  <a:pt x="170517" y="42629"/>
                </a:cubicBezTo>
                <a:cubicBezTo>
                  <a:pt x="170517" y="50489"/>
                  <a:pt x="164167" y="56839"/>
                  <a:pt x="156308" y="56839"/>
                </a:cubicBezTo>
                <a:lnTo>
                  <a:pt x="71049" y="56839"/>
                </a:lnTo>
                <a:cubicBezTo>
                  <a:pt x="63189" y="56839"/>
                  <a:pt x="56839" y="50489"/>
                  <a:pt x="56839" y="42629"/>
                </a:cubicBezTo>
                <a:close/>
                <a:moveTo>
                  <a:pt x="71049" y="78154"/>
                </a:moveTo>
                <a:lnTo>
                  <a:pt x="127888" y="78154"/>
                </a:lnTo>
                <a:cubicBezTo>
                  <a:pt x="135748" y="78154"/>
                  <a:pt x="142098" y="84504"/>
                  <a:pt x="142098" y="92364"/>
                </a:cubicBezTo>
                <a:cubicBezTo>
                  <a:pt x="142098" y="100223"/>
                  <a:pt x="135748" y="106573"/>
                  <a:pt x="127888" y="106573"/>
                </a:cubicBezTo>
                <a:lnTo>
                  <a:pt x="71049" y="106573"/>
                </a:lnTo>
                <a:cubicBezTo>
                  <a:pt x="63189" y="106573"/>
                  <a:pt x="56839" y="100223"/>
                  <a:pt x="56839" y="92364"/>
                </a:cubicBezTo>
                <a:cubicBezTo>
                  <a:pt x="56839" y="84504"/>
                  <a:pt x="63189" y="78154"/>
                  <a:pt x="71049" y="78154"/>
                </a:cubicBezTo>
                <a:close/>
                <a:moveTo>
                  <a:pt x="71049" y="127888"/>
                </a:moveTo>
                <a:lnTo>
                  <a:pt x="184727" y="127888"/>
                </a:lnTo>
                <a:cubicBezTo>
                  <a:pt x="192587" y="127888"/>
                  <a:pt x="198937" y="134238"/>
                  <a:pt x="198937" y="142098"/>
                </a:cubicBezTo>
                <a:cubicBezTo>
                  <a:pt x="198937" y="149958"/>
                  <a:pt x="192587" y="156308"/>
                  <a:pt x="184727" y="156308"/>
                </a:cubicBezTo>
                <a:lnTo>
                  <a:pt x="71049" y="156308"/>
                </a:lnTo>
                <a:cubicBezTo>
                  <a:pt x="63189" y="156308"/>
                  <a:pt x="56839" y="149958"/>
                  <a:pt x="56839" y="142098"/>
                </a:cubicBezTo>
                <a:cubicBezTo>
                  <a:pt x="56839" y="134238"/>
                  <a:pt x="63189" y="127888"/>
                  <a:pt x="71049" y="12788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Text 27"/>
          <p:cNvSpPr/>
          <p:nvPr/>
        </p:nvSpPr>
        <p:spPr>
          <a:xfrm>
            <a:off x="966266" y="4509120"/>
            <a:ext cx="19325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&amp; Marketing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2732" y="5001606"/>
            <a:ext cx="149203" cy="170517"/>
          </a:xfrm>
          <a:custGeom>
            <a:avLst/>
            <a:gdLst/>
            <a:ahLst/>
            <a:cxnLst/>
            <a:rect l="l" t="t" r="r" b="b"/>
            <a:pathLst>
              <a:path w="149203" h="170517">
                <a:moveTo>
                  <a:pt x="42629" y="0"/>
                </a:moveTo>
                <a:cubicBezTo>
                  <a:pt x="48524" y="0"/>
                  <a:pt x="53287" y="4763"/>
                  <a:pt x="53287" y="10657"/>
                </a:cubicBezTo>
                <a:lnTo>
                  <a:pt x="53287" y="21315"/>
                </a:lnTo>
                <a:lnTo>
                  <a:pt x="95916" y="21315"/>
                </a:lnTo>
                <a:lnTo>
                  <a:pt x="95916" y="10657"/>
                </a:lnTo>
                <a:cubicBezTo>
                  <a:pt x="95916" y="4763"/>
                  <a:pt x="100679" y="0"/>
                  <a:pt x="106573" y="0"/>
                </a:cubicBezTo>
                <a:cubicBezTo>
                  <a:pt x="112468" y="0"/>
                  <a:pt x="117231" y="4763"/>
                  <a:pt x="117231" y="10657"/>
                </a:cubicBezTo>
                <a:lnTo>
                  <a:pt x="117231" y="21315"/>
                </a:lnTo>
                <a:lnTo>
                  <a:pt x="127888" y="21315"/>
                </a:lnTo>
                <a:cubicBezTo>
                  <a:pt x="139644" y="21315"/>
                  <a:pt x="149203" y="30873"/>
                  <a:pt x="149203" y="42629"/>
                </a:cubicBezTo>
                <a:lnTo>
                  <a:pt x="149203" y="138545"/>
                </a:lnTo>
                <a:cubicBezTo>
                  <a:pt x="149203" y="150302"/>
                  <a:pt x="139644" y="159860"/>
                  <a:pt x="127888" y="159860"/>
                </a:cubicBezTo>
                <a:lnTo>
                  <a:pt x="21315" y="159860"/>
                </a:lnTo>
                <a:cubicBezTo>
                  <a:pt x="9558" y="159860"/>
                  <a:pt x="0" y="150302"/>
                  <a:pt x="0" y="138545"/>
                </a:cubicBezTo>
                <a:lnTo>
                  <a:pt x="0" y="42629"/>
                </a:lnTo>
                <a:cubicBezTo>
                  <a:pt x="0" y="30873"/>
                  <a:pt x="9558" y="21315"/>
                  <a:pt x="21315" y="21315"/>
                </a:cubicBezTo>
                <a:lnTo>
                  <a:pt x="31972" y="21315"/>
                </a:lnTo>
                <a:lnTo>
                  <a:pt x="31972" y="10657"/>
                </a:lnTo>
                <a:cubicBezTo>
                  <a:pt x="31972" y="4763"/>
                  <a:pt x="36735" y="0"/>
                  <a:pt x="42629" y="0"/>
                </a:cubicBezTo>
                <a:close/>
                <a:moveTo>
                  <a:pt x="102710" y="76167"/>
                </a:moveTo>
                <a:cubicBezTo>
                  <a:pt x="105041" y="72437"/>
                  <a:pt x="103909" y="67508"/>
                  <a:pt x="100179" y="65143"/>
                </a:cubicBezTo>
                <a:cubicBezTo>
                  <a:pt x="96449" y="62778"/>
                  <a:pt x="91520" y="63944"/>
                  <a:pt x="89155" y="67674"/>
                </a:cubicBezTo>
                <a:lnTo>
                  <a:pt x="68707" y="100412"/>
                </a:lnTo>
                <a:lnTo>
                  <a:pt x="59714" y="88423"/>
                </a:lnTo>
                <a:cubicBezTo>
                  <a:pt x="57050" y="84892"/>
                  <a:pt x="52054" y="84160"/>
                  <a:pt x="48524" y="86824"/>
                </a:cubicBezTo>
                <a:cubicBezTo>
                  <a:pt x="44994" y="89488"/>
                  <a:pt x="44261" y="94484"/>
                  <a:pt x="46926" y="98014"/>
                </a:cubicBezTo>
                <a:lnTo>
                  <a:pt x="62912" y="119329"/>
                </a:lnTo>
                <a:cubicBezTo>
                  <a:pt x="64477" y="121427"/>
                  <a:pt x="67008" y="122626"/>
                  <a:pt x="69639" y="122526"/>
                </a:cubicBezTo>
                <a:cubicBezTo>
                  <a:pt x="72270" y="122426"/>
                  <a:pt x="74668" y="121027"/>
                  <a:pt x="76067" y="118763"/>
                </a:cubicBezTo>
                <a:lnTo>
                  <a:pt x="102710" y="7613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895217" y="4963713"/>
            <a:ext cx="306931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 Alignment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5217" y="5228962"/>
            <a:ext cx="306931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campaigns with seasonal demand peaks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2075" y="5607890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85259" y="0"/>
                </a:moveTo>
                <a:cubicBezTo>
                  <a:pt x="132314" y="0"/>
                  <a:pt x="170517" y="38203"/>
                  <a:pt x="170517" y="85259"/>
                </a:cubicBezTo>
                <a:cubicBezTo>
                  <a:pt x="170517" y="132314"/>
                  <a:pt x="132314" y="170517"/>
                  <a:pt x="85259" y="170517"/>
                </a:cubicBezTo>
                <a:cubicBezTo>
                  <a:pt x="38203" y="170517"/>
                  <a:pt x="0" y="132314"/>
                  <a:pt x="0" y="85259"/>
                </a:cubicBezTo>
                <a:cubicBezTo>
                  <a:pt x="0" y="38203"/>
                  <a:pt x="38203" y="0"/>
                  <a:pt x="85259" y="0"/>
                </a:cubicBezTo>
                <a:close/>
                <a:moveTo>
                  <a:pt x="77266" y="39965"/>
                </a:moveTo>
                <a:lnTo>
                  <a:pt x="77266" y="85259"/>
                </a:lnTo>
                <a:cubicBezTo>
                  <a:pt x="77266" y="87923"/>
                  <a:pt x="78598" y="90421"/>
                  <a:pt x="80829" y="91920"/>
                </a:cubicBezTo>
                <a:lnTo>
                  <a:pt x="112801" y="113234"/>
                </a:lnTo>
                <a:cubicBezTo>
                  <a:pt x="116465" y="115699"/>
                  <a:pt x="121427" y="114700"/>
                  <a:pt x="123892" y="111003"/>
                </a:cubicBezTo>
                <a:cubicBezTo>
                  <a:pt x="126356" y="107306"/>
                  <a:pt x="125357" y="102377"/>
                  <a:pt x="121660" y="99913"/>
                </a:cubicBezTo>
                <a:lnTo>
                  <a:pt x="93252" y="80996"/>
                </a:lnTo>
                <a:lnTo>
                  <a:pt x="93252" y="39965"/>
                </a:lnTo>
                <a:cubicBezTo>
                  <a:pt x="93252" y="35536"/>
                  <a:pt x="89688" y="31972"/>
                  <a:pt x="85259" y="31972"/>
                </a:cubicBezTo>
                <a:cubicBezTo>
                  <a:pt x="80829" y="31972"/>
                  <a:pt x="77266" y="35536"/>
                  <a:pt x="77266" y="3996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4" name="Text 32"/>
          <p:cNvSpPr/>
          <p:nvPr/>
        </p:nvSpPr>
        <p:spPr>
          <a:xfrm>
            <a:off x="895217" y="5569997"/>
            <a:ext cx="4802909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Insights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5217" y="5835247"/>
            <a:ext cx="4802909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weekly trend insights for discount planning and stock replenishment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1205" y="4300710"/>
            <a:ext cx="5627077" cy="2178834"/>
          </a:xfrm>
          <a:custGeom>
            <a:avLst/>
            <a:gdLst/>
            <a:ahLst/>
            <a:cxnLst/>
            <a:rect l="l" t="t" r="r" b="b"/>
            <a:pathLst>
              <a:path w="5627077" h="2178834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2103055"/>
                </a:lnTo>
                <a:cubicBezTo>
                  <a:pt x="5627077" y="2144907"/>
                  <a:pt x="5593149" y="2178834"/>
                  <a:pt x="5551297" y="2178834"/>
                </a:cubicBezTo>
                <a:lnTo>
                  <a:pt x="75780" y="2178834"/>
                </a:lnTo>
                <a:cubicBezTo>
                  <a:pt x="33928" y="2178834"/>
                  <a:pt x="0" y="2144907"/>
                  <a:pt x="0" y="2103055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37" name="Shape 35"/>
          <p:cNvSpPr/>
          <p:nvPr/>
        </p:nvSpPr>
        <p:spPr>
          <a:xfrm>
            <a:off x="6191205" y="4300710"/>
            <a:ext cx="5627077" cy="37893"/>
          </a:xfrm>
          <a:custGeom>
            <a:avLst/>
            <a:gdLst/>
            <a:ahLst/>
            <a:cxnLst/>
            <a:rect l="l" t="t" r="r" b="b"/>
            <a:pathLst>
              <a:path w="5627077" h="37893">
                <a:moveTo>
                  <a:pt x="37893" y="0"/>
                </a:moveTo>
                <a:lnTo>
                  <a:pt x="5589184" y="0"/>
                </a:lnTo>
                <a:cubicBezTo>
                  <a:pt x="5610112" y="0"/>
                  <a:pt x="5627077" y="16965"/>
                  <a:pt x="5627077" y="37893"/>
                </a:cubicBezTo>
                <a:lnTo>
                  <a:pt x="5627077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3299" y="4546892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198937" y="91387"/>
                </a:moveTo>
                <a:cubicBezTo>
                  <a:pt x="192365" y="95738"/>
                  <a:pt x="184816" y="99247"/>
                  <a:pt x="176956" y="102044"/>
                </a:cubicBezTo>
                <a:cubicBezTo>
                  <a:pt x="156086" y="109504"/>
                  <a:pt x="128687" y="113678"/>
                  <a:pt x="99469" y="113678"/>
                </a:cubicBezTo>
                <a:cubicBezTo>
                  <a:pt x="70250" y="113678"/>
                  <a:pt x="42807" y="109460"/>
                  <a:pt x="21981" y="102044"/>
                </a:cubicBezTo>
                <a:cubicBezTo>
                  <a:pt x="14165" y="99247"/>
                  <a:pt x="6572" y="95738"/>
                  <a:pt x="0" y="91387"/>
                </a:cubicBezTo>
                <a:lnTo>
                  <a:pt x="0" y="127888"/>
                </a:lnTo>
                <a:cubicBezTo>
                  <a:pt x="0" y="147515"/>
                  <a:pt x="44539" y="163413"/>
                  <a:pt x="99469" y="163413"/>
                </a:cubicBezTo>
                <a:cubicBezTo>
                  <a:pt x="154398" y="163413"/>
                  <a:pt x="198937" y="147515"/>
                  <a:pt x="198937" y="127888"/>
                </a:cubicBezTo>
                <a:lnTo>
                  <a:pt x="198937" y="91387"/>
                </a:lnTo>
                <a:close/>
                <a:moveTo>
                  <a:pt x="198937" y="56839"/>
                </a:moveTo>
                <a:lnTo>
                  <a:pt x="198937" y="35524"/>
                </a:lnTo>
                <a:cubicBezTo>
                  <a:pt x="198937" y="15897"/>
                  <a:pt x="154398" y="0"/>
                  <a:pt x="99469" y="0"/>
                </a:cubicBezTo>
                <a:cubicBezTo>
                  <a:pt x="44539" y="0"/>
                  <a:pt x="0" y="15897"/>
                  <a:pt x="0" y="35524"/>
                </a:cubicBezTo>
                <a:lnTo>
                  <a:pt x="0" y="56839"/>
                </a:lnTo>
                <a:cubicBezTo>
                  <a:pt x="0" y="76466"/>
                  <a:pt x="44539" y="92364"/>
                  <a:pt x="99469" y="92364"/>
                </a:cubicBezTo>
                <a:cubicBezTo>
                  <a:pt x="154398" y="92364"/>
                  <a:pt x="198937" y="76466"/>
                  <a:pt x="198937" y="56839"/>
                </a:cubicBezTo>
                <a:close/>
                <a:moveTo>
                  <a:pt x="176956" y="173093"/>
                </a:moveTo>
                <a:cubicBezTo>
                  <a:pt x="156130" y="180509"/>
                  <a:pt x="128732" y="184727"/>
                  <a:pt x="99469" y="184727"/>
                </a:cubicBezTo>
                <a:cubicBezTo>
                  <a:pt x="70205" y="184727"/>
                  <a:pt x="42807" y="180509"/>
                  <a:pt x="21981" y="173093"/>
                </a:cubicBezTo>
                <a:cubicBezTo>
                  <a:pt x="14165" y="170295"/>
                  <a:pt x="6572" y="166787"/>
                  <a:pt x="0" y="162436"/>
                </a:cubicBezTo>
                <a:lnTo>
                  <a:pt x="0" y="191832"/>
                </a:lnTo>
                <a:cubicBezTo>
                  <a:pt x="0" y="211459"/>
                  <a:pt x="44539" y="227357"/>
                  <a:pt x="99469" y="227357"/>
                </a:cubicBezTo>
                <a:cubicBezTo>
                  <a:pt x="154398" y="227357"/>
                  <a:pt x="198937" y="211459"/>
                  <a:pt x="198937" y="191832"/>
                </a:cubicBezTo>
                <a:lnTo>
                  <a:pt x="198937" y="162436"/>
                </a:lnTo>
                <a:cubicBezTo>
                  <a:pt x="192365" y="166787"/>
                  <a:pt x="184816" y="170295"/>
                  <a:pt x="176956" y="17309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6778543" y="4509120"/>
            <a:ext cx="150623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 &amp; Analytics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9616" y="5001606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159893" y="63944"/>
                </a:moveTo>
                <a:lnTo>
                  <a:pt x="162524" y="63944"/>
                </a:lnTo>
                <a:cubicBezTo>
                  <a:pt x="166954" y="63944"/>
                  <a:pt x="170517" y="60381"/>
                  <a:pt x="170517" y="55951"/>
                </a:cubicBezTo>
                <a:lnTo>
                  <a:pt x="170517" y="7993"/>
                </a:lnTo>
                <a:cubicBezTo>
                  <a:pt x="170517" y="4763"/>
                  <a:pt x="168586" y="1832"/>
                  <a:pt x="165588" y="599"/>
                </a:cubicBezTo>
                <a:cubicBezTo>
                  <a:pt x="162591" y="-633"/>
                  <a:pt x="159161" y="67"/>
                  <a:pt x="156863" y="2331"/>
                </a:cubicBezTo>
                <a:lnTo>
                  <a:pt x="139644" y="19583"/>
                </a:lnTo>
                <a:cubicBezTo>
                  <a:pt x="124891" y="7360"/>
                  <a:pt x="105907" y="0"/>
                  <a:pt x="85259" y="0"/>
                </a:cubicBezTo>
                <a:cubicBezTo>
                  <a:pt x="42296" y="0"/>
                  <a:pt x="6761" y="31772"/>
                  <a:pt x="866" y="73103"/>
                </a:cubicBezTo>
                <a:cubicBezTo>
                  <a:pt x="33" y="78931"/>
                  <a:pt x="4063" y="84326"/>
                  <a:pt x="9891" y="85159"/>
                </a:cubicBezTo>
                <a:cubicBezTo>
                  <a:pt x="15720" y="85991"/>
                  <a:pt x="21115" y="81928"/>
                  <a:pt x="21947" y="76133"/>
                </a:cubicBezTo>
                <a:cubicBezTo>
                  <a:pt x="26377" y="45127"/>
                  <a:pt x="53054" y="21315"/>
                  <a:pt x="85259" y="21315"/>
                </a:cubicBezTo>
                <a:cubicBezTo>
                  <a:pt x="100046" y="21315"/>
                  <a:pt x="113634" y="26310"/>
                  <a:pt x="124458" y="34736"/>
                </a:cubicBezTo>
                <a:lnTo>
                  <a:pt x="108905" y="50289"/>
                </a:lnTo>
                <a:cubicBezTo>
                  <a:pt x="106607" y="52587"/>
                  <a:pt x="105941" y="56018"/>
                  <a:pt x="107173" y="59015"/>
                </a:cubicBezTo>
                <a:cubicBezTo>
                  <a:pt x="108405" y="62012"/>
                  <a:pt x="111336" y="63944"/>
                  <a:pt x="114566" y="63944"/>
                </a:cubicBezTo>
                <a:lnTo>
                  <a:pt x="159893" y="63944"/>
                </a:lnTo>
                <a:close/>
                <a:moveTo>
                  <a:pt x="169685" y="97415"/>
                </a:moveTo>
                <a:cubicBezTo>
                  <a:pt x="170517" y="91587"/>
                  <a:pt x="166454" y="86191"/>
                  <a:pt x="160659" y="85359"/>
                </a:cubicBezTo>
                <a:cubicBezTo>
                  <a:pt x="154865" y="84526"/>
                  <a:pt x="149436" y="88589"/>
                  <a:pt x="148603" y="94384"/>
                </a:cubicBezTo>
                <a:cubicBezTo>
                  <a:pt x="144174" y="125357"/>
                  <a:pt x="117497" y="149169"/>
                  <a:pt x="85292" y="149169"/>
                </a:cubicBezTo>
                <a:cubicBezTo>
                  <a:pt x="70505" y="149169"/>
                  <a:pt x="56917" y="144174"/>
                  <a:pt x="46093" y="135748"/>
                </a:cubicBezTo>
                <a:lnTo>
                  <a:pt x="61613" y="120228"/>
                </a:lnTo>
                <a:cubicBezTo>
                  <a:pt x="63911" y="117930"/>
                  <a:pt x="64577" y="114500"/>
                  <a:pt x="63345" y="111502"/>
                </a:cubicBezTo>
                <a:cubicBezTo>
                  <a:pt x="62112" y="108505"/>
                  <a:pt x="59182" y="106573"/>
                  <a:pt x="55951" y="106573"/>
                </a:cubicBezTo>
                <a:lnTo>
                  <a:pt x="7993" y="106573"/>
                </a:lnTo>
                <a:cubicBezTo>
                  <a:pt x="3564" y="106573"/>
                  <a:pt x="0" y="110137"/>
                  <a:pt x="0" y="114566"/>
                </a:cubicBezTo>
                <a:lnTo>
                  <a:pt x="0" y="162524"/>
                </a:lnTo>
                <a:cubicBezTo>
                  <a:pt x="0" y="165755"/>
                  <a:pt x="1932" y="168686"/>
                  <a:pt x="4929" y="169918"/>
                </a:cubicBezTo>
                <a:cubicBezTo>
                  <a:pt x="7926" y="171150"/>
                  <a:pt x="11357" y="170451"/>
                  <a:pt x="13655" y="168186"/>
                </a:cubicBezTo>
                <a:lnTo>
                  <a:pt x="30906" y="150935"/>
                </a:lnTo>
                <a:cubicBezTo>
                  <a:pt x="45627" y="163157"/>
                  <a:pt x="64610" y="170517"/>
                  <a:pt x="85259" y="170517"/>
                </a:cubicBezTo>
                <a:cubicBezTo>
                  <a:pt x="128221" y="170517"/>
                  <a:pt x="163757" y="138745"/>
                  <a:pt x="169652" y="9741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6703232" y="4963713"/>
            <a:ext cx="500184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Integration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03232" y="5228962"/>
            <a:ext cx="500184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dashboards with automated data pipelines for real-time monitoring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3038" y="5835247"/>
            <a:ext cx="213147" cy="170517"/>
          </a:xfrm>
          <a:custGeom>
            <a:avLst/>
            <a:gdLst/>
            <a:ahLst/>
            <a:cxnLst/>
            <a:rect l="l" t="t" r="r" b="b"/>
            <a:pathLst>
              <a:path w="213147" h="170517">
                <a:moveTo>
                  <a:pt x="106573" y="74601"/>
                </a:moveTo>
                <a:cubicBezTo>
                  <a:pt x="125690" y="74601"/>
                  <a:pt x="141210" y="59081"/>
                  <a:pt x="141210" y="39965"/>
                </a:cubicBezTo>
                <a:cubicBezTo>
                  <a:pt x="141210" y="20849"/>
                  <a:pt x="125690" y="5329"/>
                  <a:pt x="106573" y="5329"/>
                </a:cubicBezTo>
                <a:cubicBezTo>
                  <a:pt x="87457" y="5329"/>
                  <a:pt x="71937" y="20849"/>
                  <a:pt x="71937" y="39965"/>
                </a:cubicBezTo>
                <a:cubicBezTo>
                  <a:pt x="71937" y="59081"/>
                  <a:pt x="87457" y="74601"/>
                  <a:pt x="106573" y="74601"/>
                </a:cubicBezTo>
                <a:close/>
                <a:moveTo>
                  <a:pt x="31972" y="77266"/>
                </a:moveTo>
                <a:cubicBezTo>
                  <a:pt x="45206" y="77266"/>
                  <a:pt x="55951" y="66521"/>
                  <a:pt x="55951" y="53287"/>
                </a:cubicBezTo>
                <a:cubicBezTo>
                  <a:pt x="55951" y="40052"/>
                  <a:pt x="45206" y="29308"/>
                  <a:pt x="31972" y="29308"/>
                </a:cubicBezTo>
                <a:cubicBezTo>
                  <a:pt x="18738" y="29308"/>
                  <a:pt x="7993" y="40052"/>
                  <a:pt x="7993" y="53287"/>
                </a:cubicBezTo>
                <a:cubicBezTo>
                  <a:pt x="7993" y="66521"/>
                  <a:pt x="18738" y="77266"/>
                  <a:pt x="31972" y="77266"/>
                </a:cubicBezTo>
                <a:close/>
                <a:moveTo>
                  <a:pt x="0" y="138545"/>
                </a:moveTo>
                <a:lnTo>
                  <a:pt x="0" y="149203"/>
                </a:lnTo>
                <a:cubicBezTo>
                  <a:pt x="0" y="155098"/>
                  <a:pt x="4763" y="159860"/>
                  <a:pt x="10657" y="159860"/>
                </a:cubicBezTo>
                <a:lnTo>
                  <a:pt x="39532" y="159860"/>
                </a:lnTo>
                <a:cubicBezTo>
                  <a:pt x="38100" y="156596"/>
                  <a:pt x="37301" y="152999"/>
                  <a:pt x="37301" y="149203"/>
                </a:cubicBezTo>
                <a:lnTo>
                  <a:pt x="37301" y="143874"/>
                </a:lnTo>
                <a:cubicBezTo>
                  <a:pt x="37301" y="126156"/>
                  <a:pt x="43962" y="109970"/>
                  <a:pt x="54919" y="97715"/>
                </a:cubicBezTo>
                <a:cubicBezTo>
                  <a:pt x="51022" y="96549"/>
                  <a:pt x="46892" y="95916"/>
                  <a:pt x="42629" y="95916"/>
                </a:cubicBezTo>
                <a:cubicBezTo>
                  <a:pt x="19083" y="95916"/>
                  <a:pt x="0" y="114999"/>
                  <a:pt x="0" y="138545"/>
                </a:cubicBezTo>
                <a:close/>
                <a:moveTo>
                  <a:pt x="205154" y="53287"/>
                </a:moveTo>
                <a:cubicBezTo>
                  <a:pt x="205154" y="40052"/>
                  <a:pt x="194409" y="29308"/>
                  <a:pt x="181175" y="29308"/>
                </a:cubicBezTo>
                <a:cubicBezTo>
                  <a:pt x="167940" y="29308"/>
                  <a:pt x="157196" y="40052"/>
                  <a:pt x="157196" y="53287"/>
                </a:cubicBezTo>
                <a:cubicBezTo>
                  <a:pt x="157196" y="66521"/>
                  <a:pt x="167940" y="77266"/>
                  <a:pt x="181175" y="77266"/>
                </a:cubicBezTo>
                <a:cubicBezTo>
                  <a:pt x="194409" y="77266"/>
                  <a:pt x="205154" y="66521"/>
                  <a:pt x="205154" y="53287"/>
                </a:cubicBezTo>
                <a:close/>
                <a:moveTo>
                  <a:pt x="53287" y="143874"/>
                </a:moveTo>
                <a:lnTo>
                  <a:pt x="53287" y="149203"/>
                </a:lnTo>
                <a:cubicBezTo>
                  <a:pt x="53287" y="155098"/>
                  <a:pt x="58049" y="159860"/>
                  <a:pt x="63944" y="159860"/>
                </a:cubicBezTo>
                <a:lnTo>
                  <a:pt x="116165" y="159860"/>
                </a:lnTo>
                <a:cubicBezTo>
                  <a:pt x="113800" y="152666"/>
                  <a:pt x="114067" y="145073"/>
                  <a:pt x="119729" y="138545"/>
                </a:cubicBezTo>
                <a:cubicBezTo>
                  <a:pt x="115066" y="133150"/>
                  <a:pt x="112901" y="125324"/>
                  <a:pt x="115932" y="117464"/>
                </a:cubicBezTo>
                <a:cubicBezTo>
                  <a:pt x="118130" y="111769"/>
                  <a:pt x="121227" y="106440"/>
                  <a:pt x="125057" y="101711"/>
                </a:cubicBezTo>
                <a:cubicBezTo>
                  <a:pt x="126856" y="99513"/>
                  <a:pt x="128921" y="97814"/>
                  <a:pt x="131152" y="96582"/>
                </a:cubicBezTo>
                <a:cubicBezTo>
                  <a:pt x="123792" y="92752"/>
                  <a:pt x="115432" y="90587"/>
                  <a:pt x="106573" y="90587"/>
                </a:cubicBezTo>
                <a:cubicBezTo>
                  <a:pt x="77133" y="90587"/>
                  <a:pt x="53287" y="114433"/>
                  <a:pt x="53287" y="143874"/>
                </a:cubicBezTo>
                <a:close/>
                <a:moveTo>
                  <a:pt x="208018" y="129187"/>
                </a:moveTo>
                <a:cubicBezTo>
                  <a:pt x="210116" y="127988"/>
                  <a:pt x="211182" y="125490"/>
                  <a:pt x="210283" y="123192"/>
                </a:cubicBezTo>
                <a:cubicBezTo>
                  <a:pt x="208684" y="119063"/>
                  <a:pt x="206453" y="115166"/>
                  <a:pt x="203655" y="111736"/>
                </a:cubicBezTo>
                <a:cubicBezTo>
                  <a:pt x="202123" y="109837"/>
                  <a:pt x="199426" y="109504"/>
                  <a:pt x="197327" y="110736"/>
                </a:cubicBezTo>
                <a:cubicBezTo>
                  <a:pt x="190067" y="114933"/>
                  <a:pt x="181142" y="109804"/>
                  <a:pt x="181142" y="101378"/>
                </a:cubicBezTo>
                <a:cubicBezTo>
                  <a:pt x="181142" y="98947"/>
                  <a:pt x="179510" y="96782"/>
                  <a:pt x="177112" y="96416"/>
                </a:cubicBezTo>
                <a:cubicBezTo>
                  <a:pt x="172815" y="95750"/>
                  <a:pt x="168186" y="95750"/>
                  <a:pt x="163890" y="96416"/>
                </a:cubicBezTo>
                <a:cubicBezTo>
                  <a:pt x="161492" y="96782"/>
                  <a:pt x="159860" y="98947"/>
                  <a:pt x="159860" y="101378"/>
                </a:cubicBezTo>
                <a:cubicBezTo>
                  <a:pt x="159860" y="109771"/>
                  <a:pt x="150935" y="114933"/>
                  <a:pt x="143674" y="110736"/>
                </a:cubicBezTo>
                <a:cubicBezTo>
                  <a:pt x="141576" y="109538"/>
                  <a:pt x="138878" y="109871"/>
                  <a:pt x="137347" y="111736"/>
                </a:cubicBezTo>
                <a:cubicBezTo>
                  <a:pt x="134549" y="115166"/>
                  <a:pt x="132318" y="119063"/>
                  <a:pt x="130719" y="123192"/>
                </a:cubicBezTo>
                <a:cubicBezTo>
                  <a:pt x="129853" y="125457"/>
                  <a:pt x="130885" y="127955"/>
                  <a:pt x="132984" y="129154"/>
                </a:cubicBezTo>
                <a:cubicBezTo>
                  <a:pt x="140277" y="133350"/>
                  <a:pt x="140277" y="143641"/>
                  <a:pt x="132984" y="147871"/>
                </a:cubicBezTo>
                <a:cubicBezTo>
                  <a:pt x="130885" y="149070"/>
                  <a:pt x="129820" y="151567"/>
                  <a:pt x="130719" y="153832"/>
                </a:cubicBezTo>
                <a:cubicBezTo>
                  <a:pt x="132318" y="157962"/>
                  <a:pt x="134549" y="161858"/>
                  <a:pt x="137347" y="165289"/>
                </a:cubicBezTo>
                <a:cubicBezTo>
                  <a:pt x="138878" y="167187"/>
                  <a:pt x="141576" y="167520"/>
                  <a:pt x="143674" y="166288"/>
                </a:cubicBezTo>
                <a:cubicBezTo>
                  <a:pt x="150935" y="162092"/>
                  <a:pt x="159860" y="167254"/>
                  <a:pt x="159860" y="175646"/>
                </a:cubicBezTo>
                <a:cubicBezTo>
                  <a:pt x="159860" y="178078"/>
                  <a:pt x="161492" y="180242"/>
                  <a:pt x="163890" y="180609"/>
                </a:cubicBezTo>
                <a:cubicBezTo>
                  <a:pt x="168186" y="181275"/>
                  <a:pt x="172815" y="181275"/>
                  <a:pt x="177112" y="180609"/>
                </a:cubicBezTo>
                <a:cubicBezTo>
                  <a:pt x="179510" y="180242"/>
                  <a:pt x="181142" y="178078"/>
                  <a:pt x="181142" y="175646"/>
                </a:cubicBezTo>
                <a:cubicBezTo>
                  <a:pt x="181142" y="167254"/>
                  <a:pt x="190067" y="162092"/>
                  <a:pt x="197327" y="166288"/>
                </a:cubicBezTo>
                <a:cubicBezTo>
                  <a:pt x="199426" y="167487"/>
                  <a:pt x="202123" y="167154"/>
                  <a:pt x="203655" y="165289"/>
                </a:cubicBezTo>
                <a:cubicBezTo>
                  <a:pt x="206453" y="161858"/>
                  <a:pt x="208684" y="157962"/>
                  <a:pt x="210283" y="153832"/>
                </a:cubicBezTo>
                <a:cubicBezTo>
                  <a:pt x="211149" y="151567"/>
                  <a:pt x="210116" y="149070"/>
                  <a:pt x="208018" y="147871"/>
                </a:cubicBezTo>
                <a:cubicBezTo>
                  <a:pt x="200724" y="143674"/>
                  <a:pt x="200724" y="133383"/>
                  <a:pt x="208018" y="129154"/>
                </a:cubicBezTo>
                <a:close/>
                <a:moveTo>
                  <a:pt x="157196" y="138545"/>
                </a:moveTo>
                <a:cubicBezTo>
                  <a:pt x="157196" y="131193"/>
                  <a:pt x="163165" y="125224"/>
                  <a:pt x="170517" y="125224"/>
                </a:cubicBezTo>
                <a:cubicBezTo>
                  <a:pt x="177870" y="125224"/>
                  <a:pt x="183839" y="131193"/>
                  <a:pt x="183839" y="138545"/>
                </a:cubicBezTo>
                <a:cubicBezTo>
                  <a:pt x="183839" y="145898"/>
                  <a:pt x="177870" y="151867"/>
                  <a:pt x="170517" y="151867"/>
                </a:cubicBezTo>
                <a:cubicBezTo>
                  <a:pt x="163165" y="151867"/>
                  <a:pt x="157196" y="145898"/>
                  <a:pt x="157196" y="13854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4" name="Text 42"/>
          <p:cNvSpPr/>
          <p:nvPr/>
        </p:nvSpPr>
        <p:spPr>
          <a:xfrm>
            <a:off x="6707495" y="5797354"/>
            <a:ext cx="429135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Analysis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07495" y="6062603"/>
            <a:ext cx="429135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analysis with customer segmentation and cohort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58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Tools &amp; Skills Demonstrated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38100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3505188"/>
                </a:lnTo>
                <a:cubicBezTo>
                  <a:pt x="5600700" y="3547279"/>
                  <a:pt x="5566579" y="3581400"/>
                  <a:pt x="5524488" y="3581400"/>
                </a:cubicBezTo>
                <a:lnTo>
                  <a:pt x="38100" y="3581400"/>
                </a:lnTo>
                <a:cubicBezTo>
                  <a:pt x="17058" y="3581400"/>
                  <a:pt x="0" y="3564342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3581400"/>
          </a:xfrm>
          <a:custGeom>
            <a:avLst/>
            <a:gdLst/>
            <a:ahLst/>
            <a:cxnLst/>
            <a:rect l="l" t="t" r="r" b="b"/>
            <a:pathLst>
              <a:path w="38100" h="3581400">
                <a:moveTo>
                  <a:pt x="38100" y="0"/>
                </a:moveTo>
                <a:lnTo>
                  <a:pt x="38100" y="0"/>
                </a:lnTo>
                <a:lnTo>
                  <a:pt x="38100" y="3581400"/>
                </a:lnTo>
                <a:lnTo>
                  <a:pt x="38100" y="3581400"/>
                </a:lnTo>
                <a:cubicBezTo>
                  <a:pt x="17072" y="3581400"/>
                  <a:pt x="0" y="3564328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5"/>
          <p:cNvSpPr/>
          <p:nvPr/>
        </p:nvSpPr>
        <p:spPr>
          <a:xfrm>
            <a:off x="623888" y="175247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714500"/>
            <a:ext cx="1666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171579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571498"/>
                </a:lnTo>
                <a:cubicBezTo>
                  <a:pt x="2543175" y="613583"/>
                  <a:pt x="2509058" y="647700"/>
                  <a:pt x="24669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0" name="Shape 8"/>
          <p:cNvSpPr/>
          <p:nvPr/>
        </p:nvSpPr>
        <p:spPr>
          <a:xfrm>
            <a:off x="747713" y="240017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1076325" y="22858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Tableau Dashboard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6325" y="2514479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visualizations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67075" y="2171579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571498"/>
                </a:lnTo>
                <a:cubicBezTo>
                  <a:pt x="2543175" y="613583"/>
                  <a:pt x="2509058" y="647700"/>
                  <a:pt x="24669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240017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3733800" y="2285879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Calculated Fields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33800" y="2514479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indicators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2933579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571498"/>
                </a:lnTo>
                <a:cubicBezTo>
                  <a:pt x="2543175" y="613583"/>
                  <a:pt x="2509058" y="647700"/>
                  <a:pt x="24669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8" name="Shape 16"/>
          <p:cNvSpPr/>
          <p:nvPr/>
        </p:nvSpPr>
        <p:spPr>
          <a:xfrm>
            <a:off x="759619" y="316217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1076325" y="3047879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6325" y="3276479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 &amp; dimension tables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67075" y="2933579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571498"/>
                </a:lnTo>
                <a:cubicBezTo>
                  <a:pt x="2543175" y="613583"/>
                  <a:pt x="2509058" y="647700"/>
                  <a:pt x="24669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5188" y="316217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3733800" y="3047879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Analytics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33800" y="3276479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&amp; customer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3695579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6" name="Shape 24"/>
          <p:cNvSpPr/>
          <p:nvPr/>
        </p:nvSpPr>
        <p:spPr>
          <a:xfrm>
            <a:off x="747713" y="392417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6325" y="3809879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 &amp; Business Storytelling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6325" y="4038479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data into actionable insights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1524000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38100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3505188"/>
                </a:lnTo>
                <a:cubicBezTo>
                  <a:pt x="5600700" y="3547279"/>
                  <a:pt x="5566579" y="3581400"/>
                  <a:pt x="5524488" y="3581400"/>
                </a:cubicBezTo>
                <a:lnTo>
                  <a:pt x="38100" y="3581400"/>
                </a:lnTo>
                <a:cubicBezTo>
                  <a:pt x="17058" y="3581400"/>
                  <a:pt x="0" y="3564342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0300" y="1524000"/>
            <a:ext cx="38100" cy="3581400"/>
          </a:xfrm>
          <a:custGeom>
            <a:avLst/>
            <a:gdLst/>
            <a:ahLst/>
            <a:cxnLst/>
            <a:rect l="l" t="t" r="r" b="b"/>
            <a:pathLst>
              <a:path w="38100" h="3581400">
                <a:moveTo>
                  <a:pt x="38100" y="0"/>
                </a:moveTo>
                <a:lnTo>
                  <a:pt x="38100" y="0"/>
                </a:lnTo>
                <a:lnTo>
                  <a:pt x="38100" y="3581400"/>
                </a:lnTo>
                <a:lnTo>
                  <a:pt x="38100" y="3581400"/>
                </a:lnTo>
                <a:cubicBezTo>
                  <a:pt x="17072" y="3581400"/>
                  <a:pt x="0" y="3564328"/>
                  <a:pt x="0" y="3543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0" y="175247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6819900" y="1714500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Deliverables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9850" y="2171579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57963" y="231445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5" name="Text 33"/>
          <p:cNvSpPr/>
          <p:nvPr/>
        </p:nvSpPr>
        <p:spPr>
          <a:xfrm>
            <a:off x="6862763" y="2285879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interactive Tableau dashboards (Sales &amp; Customer)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9850" y="2743079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7" name="Shape 35"/>
          <p:cNvSpPr/>
          <p:nvPr/>
        </p:nvSpPr>
        <p:spPr>
          <a:xfrm>
            <a:off x="6557963" y="288595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6862763" y="285737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analytical report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9850" y="3314579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0" name="Shape 38"/>
          <p:cNvSpPr/>
          <p:nvPr/>
        </p:nvSpPr>
        <p:spPr>
          <a:xfrm>
            <a:off x="6557963" y="345745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6862763" y="3428879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design mockups and implementation phases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9850" y="3886079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3" name="Shape 41"/>
          <p:cNvSpPr/>
          <p:nvPr/>
        </p:nvSpPr>
        <p:spPr>
          <a:xfrm>
            <a:off x="6557963" y="402895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4" name="Text 42"/>
          <p:cNvSpPr/>
          <p:nvPr/>
        </p:nvSpPr>
        <p:spPr>
          <a:xfrm>
            <a:off x="6862763" y="4000379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Tableau dashboard link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9850" y="4457579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6" name="Shape 44"/>
          <p:cNvSpPr/>
          <p:nvPr/>
        </p:nvSpPr>
        <p:spPr>
          <a:xfrm>
            <a:off x="6557963" y="460045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7" name="Text 45"/>
          <p:cNvSpPr/>
          <p:nvPr/>
        </p:nvSpPr>
        <p:spPr>
          <a:xfrm>
            <a:off x="6862763" y="4571879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repository with datasets and documentation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0050" y="5295779"/>
            <a:ext cx="11410950" cy="971550"/>
          </a:xfrm>
          <a:custGeom>
            <a:avLst/>
            <a:gdLst/>
            <a:ahLst/>
            <a:cxnLst/>
            <a:rect l="l" t="t" r="r" b="b"/>
            <a:pathLst>
              <a:path w="11410950" h="971550">
                <a:moveTo>
                  <a:pt x="3810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895351"/>
                </a:lnTo>
                <a:cubicBezTo>
                  <a:pt x="11410950" y="937435"/>
                  <a:pt x="11376835" y="971550"/>
                  <a:pt x="113347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00050" y="5295779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0" name="Shape 48"/>
          <p:cNvSpPr/>
          <p:nvPr/>
        </p:nvSpPr>
        <p:spPr>
          <a:xfrm>
            <a:off x="647700" y="563867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1" name="Text 49"/>
          <p:cNvSpPr/>
          <p:nvPr/>
        </p:nvSpPr>
        <p:spPr>
          <a:xfrm>
            <a:off x="1119188" y="5486279"/>
            <a:ext cx="802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Dashboard Access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19188" y="5829179"/>
            <a:ext cx="8010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Tableau Public Link: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https://public.tableau.com/views/SalesCustomerDashboards_17692811875880/CustomerDashboard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174978eddc99d8e4b60f405cd8e7c6c04433c472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958" r="958" t="0" b="0"/>
          <a:stretch/>
        </p:blipFill>
        <p:spPr>
          <a:xfrm>
            <a:off x="0" y="0"/>
            <a:ext cx="12192000" cy="698821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988211"/>
          </a:xfrm>
          <a:custGeom>
            <a:avLst/>
            <a:gdLst/>
            <a:ahLst/>
            <a:cxnLst/>
            <a:rect l="l" t="t" r="r" b="b"/>
            <a:pathLst>
              <a:path w="12192000" h="6988211">
                <a:moveTo>
                  <a:pt x="0" y="0"/>
                </a:moveTo>
                <a:lnTo>
                  <a:pt x="12192000" y="0"/>
                </a:lnTo>
                <a:lnTo>
                  <a:pt x="12192000" y="6988211"/>
                </a:lnTo>
                <a:lnTo>
                  <a:pt x="0" y="698821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2D3748">
                  <a:alpha val="90000"/>
                </a:srgbClr>
              </a:gs>
              <a:gs pos="100000">
                <a:srgbClr val="1A202C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7559" y="839445"/>
            <a:ext cx="896883" cy="896883"/>
          </a:xfrm>
          <a:custGeom>
            <a:avLst/>
            <a:gdLst/>
            <a:ahLst/>
            <a:cxnLst/>
            <a:rect l="l" t="t" r="r" b="b"/>
            <a:pathLst>
              <a:path w="896883" h="896883">
                <a:moveTo>
                  <a:pt x="112110" y="112110"/>
                </a:moveTo>
                <a:cubicBezTo>
                  <a:pt x="112110" y="81105"/>
                  <a:pt x="87061" y="56055"/>
                  <a:pt x="56055" y="56055"/>
                </a:cubicBezTo>
                <a:cubicBezTo>
                  <a:pt x="25050" y="56055"/>
                  <a:pt x="0" y="81105"/>
                  <a:pt x="0" y="112110"/>
                </a:cubicBezTo>
                <a:lnTo>
                  <a:pt x="0" y="700690"/>
                </a:lnTo>
                <a:cubicBezTo>
                  <a:pt x="0" y="778116"/>
                  <a:pt x="62712" y="840828"/>
                  <a:pt x="140138" y="840828"/>
                </a:cubicBezTo>
                <a:lnTo>
                  <a:pt x="840828" y="840828"/>
                </a:lnTo>
                <a:cubicBezTo>
                  <a:pt x="871833" y="840828"/>
                  <a:pt x="896883" y="815778"/>
                  <a:pt x="896883" y="784772"/>
                </a:cubicBezTo>
                <a:cubicBezTo>
                  <a:pt x="896883" y="753767"/>
                  <a:pt x="871833" y="728717"/>
                  <a:pt x="840828" y="728717"/>
                </a:cubicBezTo>
                <a:lnTo>
                  <a:pt x="140138" y="728717"/>
                </a:lnTo>
                <a:cubicBezTo>
                  <a:pt x="124723" y="728717"/>
                  <a:pt x="112110" y="716105"/>
                  <a:pt x="112110" y="700690"/>
                </a:cubicBezTo>
                <a:lnTo>
                  <a:pt x="112110" y="112110"/>
                </a:lnTo>
                <a:close/>
                <a:moveTo>
                  <a:pt x="824361" y="263810"/>
                </a:moveTo>
                <a:cubicBezTo>
                  <a:pt x="846258" y="241913"/>
                  <a:pt x="846258" y="206353"/>
                  <a:pt x="824361" y="184457"/>
                </a:cubicBezTo>
                <a:cubicBezTo>
                  <a:pt x="802465" y="162560"/>
                  <a:pt x="766905" y="162560"/>
                  <a:pt x="745008" y="184457"/>
                </a:cubicBezTo>
                <a:lnTo>
                  <a:pt x="560552" y="369088"/>
                </a:lnTo>
                <a:lnTo>
                  <a:pt x="460003" y="268714"/>
                </a:lnTo>
                <a:cubicBezTo>
                  <a:pt x="438106" y="246818"/>
                  <a:pt x="402546" y="246818"/>
                  <a:pt x="380650" y="268714"/>
                </a:cubicBezTo>
                <a:lnTo>
                  <a:pt x="212484" y="436880"/>
                </a:lnTo>
                <a:cubicBezTo>
                  <a:pt x="190588" y="458777"/>
                  <a:pt x="190588" y="494337"/>
                  <a:pt x="212484" y="516233"/>
                </a:cubicBezTo>
                <a:cubicBezTo>
                  <a:pt x="234381" y="538130"/>
                  <a:pt x="269941" y="538130"/>
                  <a:pt x="291837" y="516233"/>
                </a:cubicBezTo>
                <a:lnTo>
                  <a:pt x="420414" y="387657"/>
                </a:lnTo>
                <a:lnTo>
                  <a:pt x="520963" y="488206"/>
                </a:lnTo>
                <a:cubicBezTo>
                  <a:pt x="542859" y="510102"/>
                  <a:pt x="578419" y="510102"/>
                  <a:pt x="600316" y="488206"/>
                </a:cubicBezTo>
                <a:lnTo>
                  <a:pt x="824537" y="2639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" name="Text 2"/>
          <p:cNvSpPr/>
          <p:nvPr/>
        </p:nvSpPr>
        <p:spPr>
          <a:xfrm>
            <a:off x="3732340" y="2054863"/>
            <a:ext cx="4727320" cy="1121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062" b="1" dirty="0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48014" y="2841415"/>
            <a:ext cx="1494805" cy="0"/>
          </a:xfrm>
          <a:custGeom>
            <a:avLst/>
            <a:gdLst/>
            <a:ahLst/>
            <a:cxnLst/>
            <a:rect l="l" t="t" r="r" b="b"/>
            <a:pathLst>
              <a:path w="1494805" h="0">
                <a:moveTo>
                  <a:pt x="0" y="0"/>
                </a:moveTo>
                <a:lnTo>
                  <a:pt x="1494805" y="0"/>
                </a:lnTo>
                <a:lnTo>
                  <a:pt x="149480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4"/>
          <p:cNvSpPr/>
          <p:nvPr/>
        </p:nvSpPr>
        <p:spPr>
          <a:xfrm>
            <a:off x="2016001" y="4194213"/>
            <a:ext cx="8161633" cy="2789679"/>
          </a:xfrm>
          <a:custGeom>
            <a:avLst/>
            <a:gdLst/>
            <a:ahLst/>
            <a:cxnLst/>
            <a:rect l="l" t="t" r="r" b="b"/>
            <a:pathLst>
              <a:path w="8161633" h="2789679">
                <a:moveTo>
                  <a:pt x="74736" y="0"/>
                </a:moveTo>
                <a:lnTo>
                  <a:pt x="8086898" y="0"/>
                </a:lnTo>
                <a:cubicBezTo>
                  <a:pt x="8128173" y="0"/>
                  <a:pt x="8161633" y="33460"/>
                  <a:pt x="8161633" y="74736"/>
                </a:cubicBezTo>
                <a:lnTo>
                  <a:pt x="8161633" y="2714944"/>
                </a:lnTo>
                <a:cubicBezTo>
                  <a:pt x="8161633" y="2756219"/>
                  <a:pt x="8128173" y="2789679"/>
                  <a:pt x="8086898" y="2789679"/>
                </a:cubicBezTo>
                <a:lnTo>
                  <a:pt x="74736" y="2789679"/>
                </a:lnTo>
                <a:cubicBezTo>
                  <a:pt x="33460" y="2789679"/>
                  <a:pt x="0" y="2756219"/>
                  <a:pt x="0" y="2714944"/>
                </a:cubicBezTo>
                <a:lnTo>
                  <a:pt x="0" y="74736"/>
                </a:lnTo>
                <a:cubicBezTo>
                  <a:pt x="0" y="33488"/>
                  <a:pt x="33488" y="0"/>
                  <a:pt x="74736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 w="20320">
            <a:solidFill>
              <a:srgbClr val="38B2AC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66020" y="4575385"/>
            <a:ext cx="336331" cy="336331"/>
          </a:xfrm>
          <a:custGeom>
            <a:avLst/>
            <a:gdLst/>
            <a:ahLst/>
            <a:cxnLst/>
            <a:rect l="l" t="t" r="r" b="b"/>
            <a:pathLst>
              <a:path w="336331" h="336331">
                <a:moveTo>
                  <a:pt x="231162" y="183931"/>
                </a:moveTo>
                <a:lnTo>
                  <a:pt x="105760" y="183931"/>
                </a:lnTo>
                <a:cubicBezTo>
                  <a:pt x="107665" y="226301"/>
                  <a:pt x="117059" y="265321"/>
                  <a:pt x="130394" y="293896"/>
                </a:cubicBezTo>
                <a:cubicBezTo>
                  <a:pt x="137883" y="309989"/>
                  <a:pt x="145962" y="321354"/>
                  <a:pt x="153451" y="328317"/>
                </a:cubicBezTo>
                <a:cubicBezTo>
                  <a:pt x="160808" y="335214"/>
                  <a:pt x="165866" y="336331"/>
                  <a:pt x="168494" y="336331"/>
                </a:cubicBezTo>
                <a:cubicBezTo>
                  <a:pt x="171122" y="336331"/>
                  <a:pt x="176180" y="335214"/>
                  <a:pt x="183537" y="328317"/>
                </a:cubicBezTo>
                <a:cubicBezTo>
                  <a:pt x="191026" y="321354"/>
                  <a:pt x="199105" y="309924"/>
                  <a:pt x="206594" y="293896"/>
                </a:cubicBezTo>
                <a:cubicBezTo>
                  <a:pt x="219929" y="265321"/>
                  <a:pt x="229323" y="226301"/>
                  <a:pt x="231228" y="183931"/>
                </a:cubicBezTo>
                <a:close/>
                <a:moveTo>
                  <a:pt x="105695" y="152400"/>
                </a:moveTo>
                <a:lnTo>
                  <a:pt x="231096" y="152400"/>
                </a:lnTo>
                <a:cubicBezTo>
                  <a:pt x="229257" y="110030"/>
                  <a:pt x="219863" y="71011"/>
                  <a:pt x="206528" y="42436"/>
                </a:cubicBezTo>
                <a:cubicBezTo>
                  <a:pt x="199040" y="26407"/>
                  <a:pt x="190960" y="14977"/>
                  <a:pt x="183471" y="8014"/>
                </a:cubicBezTo>
                <a:cubicBezTo>
                  <a:pt x="176114" y="1117"/>
                  <a:pt x="171056" y="0"/>
                  <a:pt x="168428" y="0"/>
                </a:cubicBezTo>
                <a:cubicBezTo>
                  <a:pt x="165801" y="0"/>
                  <a:pt x="160743" y="1117"/>
                  <a:pt x="153385" y="8014"/>
                </a:cubicBezTo>
                <a:cubicBezTo>
                  <a:pt x="145897" y="14977"/>
                  <a:pt x="137817" y="26407"/>
                  <a:pt x="130328" y="42436"/>
                </a:cubicBezTo>
                <a:cubicBezTo>
                  <a:pt x="116993" y="71011"/>
                  <a:pt x="107600" y="110030"/>
                  <a:pt x="105695" y="152400"/>
                </a:cubicBezTo>
                <a:close/>
                <a:moveTo>
                  <a:pt x="74164" y="152400"/>
                </a:moveTo>
                <a:cubicBezTo>
                  <a:pt x="76463" y="96170"/>
                  <a:pt x="90980" y="43946"/>
                  <a:pt x="112198" y="9656"/>
                </a:cubicBezTo>
                <a:cubicBezTo>
                  <a:pt x="51698" y="31071"/>
                  <a:pt x="7160" y="86185"/>
                  <a:pt x="985" y="152400"/>
                </a:cubicBezTo>
                <a:lnTo>
                  <a:pt x="74164" y="152400"/>
                </a:lnTo>
                <a:close/>
                <a:moveTo>
                  <a:pt x="985" y="183931"/>
                </a:moveTo>
                <a:cubicBezTo>
                  <a:pt x="7160" y="250146"/>
                  <a:pt x="51698" y="305260"/>
                  <a:pt x="112198" y="326675"/>
                </a:cubicBezTo>
                <a:cubicBezTo>
                  <a:pt x="90980" y="292385"/>
                  <a:pt x="76463" y="240161"/>
                  <a:pt x="74164" y="183931"/>
                </a:cubicBezTo>
                <a:lnTo>
                  <a:pt x="985" y="183931"/>
                </a:lnTo>
                <a:close/>
                <a:moveTo>
                  <a:pt x="262693" y="183931"/>
                </a:moveTo>
                <a:cubicBezTo>
                  <a:pt x="260394" y="240161"/>
                  <a:pt x="245876" y="292385"/>
                  <a:pt x="224659" y="326675"/>
                </a:cubicBezTo>
                <a:cubicBezTo>
                  <a:pt x="285159" y="305194"/>
                  <a:pt x="329696" y="250146"/>
                  <a:pt x="335871" y="183931"/>
                </a:cubicBezTo>
                <a:lnTo>
                  <a:pt x="262693" y="183931"/>
                </a:lnTo>
                <a:close/>
                <a:moveTo>
                  <a:pt x="335871" y="152400"/>
                </a:moveTo>
                <a:cubicBezTo>
                  <a:pt x="329696" y="86185"/>
                  <a:pt x="285159" y="31071"/>
                  <a:pt x="224659" y="9656"/>
                </a:cubicBezTo>
                <a:cubicBezTo>
                  <a:pt x="245876" y="43946"/>
                  <a:pt x="260394" y="96170"/>
                  <a:pt x="262693" y="152400"/>
                </a:cubicBezTo>
                <a:lnTo>
                  <a:pt x="335871" y="15240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6"/>
          <p:cNvSpPr/>
          <p:nvPr/>
        </p:nvSpPr>
        <p:spPr>
          <a:xfrm>
            <a:off x="2341121" y="5061196"/>
            <a:ext cx="358753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6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Dashboard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55135" y="5472158"/>
            <a:ext cx="355950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Tableau visualization available online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88481" y="4575385"/>
            <a:ext cx="336331" cy="336331"/>
          </a:xfrm>
          <a:custGeom>
            <a:avLst/>
            <a:gdLst/>
            <a:ahLst/>
            <a:cxnLst/>
            <a:rect l="l" t="t" r="r" b="b"/>
            <a:pathLst>
              <a:path w="336331" h="336331">
                <a:moveTo>
                  <a:pt x="114234" y="261051"/>
                </a:moveTo>
                <a:cubicBezTo>
                  <a:pt x="114234" y="262364"/>
                  <a:pt x="112723" y="263416"/>
                  <a:pt x="110818" y="263416"/>
                </a:cubicBezTo>
                <a:cubicBezTo>
                  <a:pt x="108651" y="263613"/>
                  <a:pt x="107140" y="262562"/>
                  <a:pt x="107140" y="261051"/>
                </a:cubicBezTo>
                <a:cubicBezTo>
                  <a:pt x="107140" y="259737"/>
                  <a:pt x="108651" y="258686"/>
                  <a:pt x="110556" y="258686"/>
                </a:cubicBezTo>
                <a:cubicBezTo>
                  <a:pt x="112526" y="258489"/>
                  <a:pt x="114234" y="259540"/>
                  <a:pt x="114234" y="261051"/>
                </a:cubicBezTo>
                <a:close/>
                <a:moveTo>
                  <a:pt x="93805" y="258095"/>
                </a:moveTo>
                <a:cubicBezTo>
                  <a:pt x="93345" y="259408"/>
                  <a:pt x="94659" y="260919"/>
                  <a:pt x="96629" y="261313"/>
                </a:cubicBezTo>
                <a:cubicBezTo>
                  <a:pt x="98337" y="261970"/>
                  <a:pt x="100308" y="261313"/>
                  <a:pt x="100702" y="260000"/>
                </a:cubicBezTo>
                <a:cubicBezTo>
                  <a:pt x="101096" y="258686"/>
                  <a:pt x="99848" y="257175"/>
                  <a:pt x="97878" y="256584"/>
                </a:cubicBezTo>
                <a:cubicBezTo>
                  <a:pt x="96170" y="256124"/>
                  <a:pt x="94265" y="256781"/>
                  <a:pt x="93805" y="258095"/>
                </a:cubicBezTo>
                <a:close/>
                <a:moveTo>
                  <a:pt x="122840" y="256978"/>
                </a:moveTo>
                <a:cubicBezTo>
                  <a:pt x="120935" y="257438"/>
                  <a:pt x="119621" y="258686"/>
                  <a:pt x="119818" y="260197"/>
                </a:cubicBezTo>
                <a:cubicBezTo>
                  <a:pt x="120015" y="261511"/>
                  <a:pt x="121723" y="262364"/>
                  <a:pt x="123694" y="261905"/>
                </a:cubicBezTo>
                <a:cubicBezTo>
                  <a:pt x="125599" y="261445"/>
                  <a:pt x="126912" y="260197"/>
                  <a:pt x="126715" y="258883"/>
                </a:cubicBezTo>
                <a:cubicBezTo>
                  <a:pt x="126518" y="257635"/>
                  <a:pt x="124745" y="256781"/>
                  <a:pt x="122840" y="256978"/>
                </a:cubicBezTo>
                <a:close/>
                <a:moveTo>
                  <a:pt x="166063" y="5255"/>
                </a:moveTo>
                <a:cubicBezTo>
                  <a:pt x="74952" y="5255"/>
                  <a:pt x="5255" y="74426"/>
                  <a:pt x="5255" y="165538"/>
                </a:cubicBezTo>
                <a:cubicBezTo>
                  <a:pt x="5255" y="238388"/>
                  <a:pt x="51107" y="300727"/>
                  <a:pt x="116599" y="322668"/>
                </a:cubicBezTo>
                <a:cubicBezTo>
                  <a:pt x="125007" y="324178"/>
                  <a:pt x="127963" y="318989"/>
                  <a:pt x="127963" y="314719"/>
                </a:cubicBezTo>
                <a:cubicBezTo>
                  <a:pt x="127963" y="310646"/>
                  <a:pt x="127766" y="288181"/>
                  <a:pt x="127766" y="274386"/>
                </a:cubicBezTo>
                <a:cubicBezTo>
                  <a:pt x="127766" y="274386"/>
                  <a:pt x="81784" y="284239"/>
                  <a:pt x="72127" y="254810"/>
                </a:cubicBezTo>
                <a:cubicBezTo>
                  <a:pt x="72127" y="254810"/>
                  <a:pt x="64639" y="235694"/>
                  <a:pt x="53866" y="230768"/>
                </a:cubicBezTo>
                <a:cubicBezTo>
                  <a:pt x="53866" y="230768"/>
                  <a:pt x="38823" y="220454"/>
                  <a:pt x="54917" y="220652"/>
                </a:cubicBezTo>
                <a:cubicBezTo>
                  <a:pt x="54917" y="220652"/>
                  <a:pt x="71273" y="221965"/>
                  <a:pt x="80273" y="237599"/>
                </a:cubicBezTo>
                <a:cubicBezTo>
                  <a:pt x="94659" y="262956"/>
                  <a:pt x="118767" y="255664"/>
                  <a:pt x="128161" y="251329"/>
                </a:cubicBezTo>
                <a:cubicBezTo>
                  <a:pt x="129671" y="240818"/>
                  <a:pt x="133941" y="233527"/>
                  <a:pt x="138671" y="229191"/>
                </a:cubicBezTo>
                <a:cubicBezTo>
                  <a:pt x="101950" y="225118"/>
                  <a:pt x="64901" y="219798"/>
                  <a:pt x="64901" y="156604"/>
                </a:cubicBezTo>
                <a:cubicBezTo>
                  <a:pt x="64901" y="138539"/>
                  <a:pt x="69894" y="129474"/>
                  <a:pt x="80404" y="117913"/>
                </a:cubicBezTo>
                <a:cubicBezTo>
                  <a:pt x="78696" y="113643"/>
                  <a:pt x="73113" y="96038"/>
                  <a:pt x="82112" y="73310"/>
                </a:cubicBezTo>
                <a:cubicBezTo>
                  <a:pt x="95841" y="69040"/>
                  <a:pt x="127438" y="91046"/>
                  <a:pt x="127438" y="91046"/>
                </a:cubicBezTo>
                <a:cubicBezTo>
                  <a:pt x="140576" y="87367"/>
                  <a:pt x="154699" y="85462"/>
                  <a:pt x="168691" y="85462"/>
                </a:cubicBezTo>
                <a:cubicBezTo>
                  <a:pt x="182683" y="85462"/>
                  <a:pt x="196806" y="87367"/>
                  <a:pt x="209944" y="91046"/>
                </a:cubicBezTo>
                <a:cubicBezTo>
                  <a:pt x="209944" y="91046"/>
                  <a:pt x="241541" y="68974"/>
                  <a:pt x="255270" y="73310"/>
                </a:cubicBezTo>
                <a:cubicBezTo>
                  <a:pt x="264269" y="96104"/>
                  <a:pt x="258686" y="113643"/>
                  <a:pt x="256978" y="117913"/>
                </a:cubicBezTo>
                <a:cubicBezTo>
                  <a:pt x="267488" y="129540"/>
                  <a:pt x="273926" y="138605"/>
                  <a:pt x="273926" y="156604"/>
                </a:cubicBezTo>
                <a:cubicBezTo>
                  <a:pt x="273926" y="219995"/>
                  <a:pt x="235235" y="225053"/>
                  <a:pt x="198514" y="229191"/>
                </a:cubicBezTo>
                <a:cubicBezTo>
                  <a:pt x="204558" y="234381"/>
                  <a:pt x="209681" y="244234"/>
                  <a:pt x="209681" y="259671"/>
                </a:cubicBezTo>
                <a:cubicBezTo>
                  <a:pt x="209681" y="281809"/>
                  <a:pt x="209484" y="309201"/>
                  <a:pt x="209484" y="314588"/>
                </a:cubicBezTo>
                <a:cubicBezTo>
                  <a:pt x="209484" y="318858"/>
                  <a:pt x="212506" y="324047"/>
                  <a:pt x="220849" y="322536"/>
                </a:cubicBezTo>
                <a:cubicBezTo>
                  <a:pt x="286538" y="300727"/>
                  <a:pt x="331076" y="238388"/>
                  <a:pt x="331076" y="165538"/>
                </a:cubicBezTo>
                <a:cubicBezTo>
                  <a:pt x="331076" y="74426"/>
                  <a:pt x="257175" y="5255"/>
                  <a:pt x="166063" y="5255"/>
                </a:cubicBezTo>
                <a:close/>
                <a:moveTo>
                  <a:pt x="69106" y="231819"/>
                </a:moveTo>
                <a:cubicBezTo>
                  <a:pt x="68252" y="232476"/>
                  <a:pt x="68449" y="233987"/>
                  <a:pt x="69565" y="235235"/>
                </a:cubicBezTo>
                <a:cubicBezTo>
                  <a:pt x="70616" y="236286"/>
                  <a:pt x="72127" y="236746"/>
                  <a:pt x="72981" y="235892"/>
                </a:cubicBezTo>
                <a:cubicBezTo>
                  <a:pt x="73835" y="235235"/>
                  <a:pt x="73638" y="233724"/>
                  <a:pt x="72521" y="232476"/>
                </a:cubicBezTo>
                <a:cubicBezTo>
                  <a:pt x="71470" y="231425"/>
                  <a:pt x="69959" y="230965"/>
                  <a:pt x="69106" y="231819"/>
                </a:cubicBezTo>
                <a:close/>
                <a:moveTo>
                  <a:pt x="62011" y="226498"/>
                </a:moveTo>
                <a:cubicBezTo>
                  <a:pt x="61551" y="227352"/>
                  <a:pt x="62208" y="228403"/>
                  <a:pt x="63522" y="229060"/>
                </a:cubicBezTo>
                <a:cubicBezTo>
                  <a:pt x="64573" y="229717"/>
                  <a:pt x="65887" y="229520"/>
                  <a:pt x="66347" y="228600"/>
                </a:cubicBezTo>
                <a:cubicBezTo>
                  <a:pt x="66806" y="227746"/>
                  <a:pt x="66149" y="226695"/>
                  <a:pt x="64836" y="226038"/>
                </a:cubicBezTo>
                <a:cubicBezTo>
                  <a:pt x="63522" y="225644"/>
                  <a:pt x="62471" y="225841"/>
                  <a:pt x="62011" y="226498"/>
                </a:cubicBezTo>
                <a:close/>
                <a:moveTo>
                  <a:pt x="83294" y="249883"/>
                </a:moveTo>
                <a:cubicBezTo>
                  <a:pt x="82243" y="250737"/>
                  <a:pt x="82638" y="252708"/>
                  <a:pt x="84148" y="253956"/>
                </a:cubicBezTo>
                <a:cubicBezTo>
                  <a:pt x="85659" y="255467"/>
                  <a:pt x="87564" y="255664"/>
                  <a:pt x="88418" y="254613"/>
                </a:cubicBezTo>
                <a:cubicBezTo>
                  <a:pt x="89272" y="253759"/>
                  <a:pt x="88878" y="251788"/>
                  <a:pt x="87564" y="250540"/>
                </a:cubicBezTo>
                <a:cubicBezTo>
                  <a:pt x="86119" y="249029"/>
                  <a:pt x="84148" y="248832"/>
                  <a:pt x="83294" y="249883"/>
                </a:cubicBezTo>
                <a:close/>
                <a:moveTo>
                  <a:pt x="75806" y="240227"/>
                </a:moveTo>
                <a:cubicBezTo>
                  <a:pt x="74755" y="240884"/>
                  <a:pt x="74755" y="242592"/>
                  <a:pt x="75806" y="244103"/>
                </a:cubicBezTo>
                <a:cubicBezTo>
                  <a:pt x="76857" y="245614"/>
                  <a:pt x="78631" y="246271"/>
                  <a:pt x="79484" y="245614"/>
                </a:cubicBezTo>
                <a:cubicBezTo>
                  <a:pt x="80536" y="244760"/>
                  <a:pt x="80536" y="243052"/>
                  <a:pt x="79484" y="241541"/>
                </a:cubicBezTo>
                <a:cubicBezTo>
                  <a:pt x="78565" y="240030"/>
                  <a:pt x="76857" y="239373"/>
                  <a:pt x="75806" y="24022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9"/>
          <p:cNvSpPr/>
          <p:nvPr/>
        </p:nvSpPr>
        <p:spPr>
          <a:xfrm>
            <a:off x="6263582" y="5061196"/>
            <a:ext cx="358753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6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77595" y="5472158"/>
            <a:ext cx="355950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4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datasets and documentation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97176" y="6036447"/>
            <a:ext cx="7399283" cy="7474"/>
          </a:xfrm>
          <a:custGeom>
            <a:avLst/>
            <a:gdLst/>
            <a:ahLst/>
            <a:cxnLst/>
            <a:rect l="l" t="t" r="r" b="b"/>
            <a:pathLst>
              <a:path w="7399283" h="7474">
                <a:moveTo>
                  <a:pt x="0" y="0"/>
                </a:moveTo>
                <a:lnTo>
                  <a:pt x="7399283" y="0"/>
                </a:lnTo>
                <a:lnTo>
                  <a:pt x="7399283" y="7474"/>
                </a:lnTo>
                <a:lnTo>
                  <a:pt x="0" y="7474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5" name="Text 12"/>
          <p:cNvSpPr/>
          <p:nvPr/>
        </p:nvSpPr>
        <p:spPr>
          <a:xfrm>
            <a:off x="2355135" y="6339143"/>
            <a:ext cx="748336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 </a:t>
            </a:r>
            <a:pPr algn="ctr">
              <a:lnSpc>
                <a:spcPct val="130000"/>
              </a:lnSpc>
            </a:pPr>
            <a:r>
              <a:rPr lang="en-US" sz="132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Haathim Manaf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&amp; Customer Analytics</dc:title>
  <dc:subject>Retail Sales &amp; Customer Analytics</dc:subject>
  <dc:creator>Kimi</dc:creator>
  <cp:lastModifiedBy>Kimi</cp:lastModifiedBy>
  <cp:revision>1</cp:revision>
  <dcterms:created xsi:type="dcterms:W3CDTF">2026-01-26T16:57:16Z</dcterms:created>
  <dcterms:modified xsi:type="dcterms:W3CDTF">2026-01-26T16:57:16Z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{"Label":"Retail Sales &amp; Customer Analytics","ContentProducer":"001191110108MACG2KBH8F10000","ProduceID":"19bfb389-7792-8f44-8000-00008e864a30","ReservedCode1":"","ContentPropagator":"001191110108MACG2KBH8F20000","PropagateID":"19bfb389-7792-8f44-8000-00008e864a30","ReservedCode2":""}</vt:lpwstr>
  </property>
</Properties>
</file>